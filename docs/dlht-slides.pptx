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5" r:id="rId1"/>
    <p:sldMasterId id="2147483662" r:id="rId2"/>
  </p:sldMasterIdLst>
  <p:notesMasterIdLst>
    <p:notesMasterId r:id="rId30"/>
  </p:notesMasterIdLst>
  <p:sldIdLst>
    <p:sldId id="1742" r:id="rId3"/>
    <p:sldId id="430" r:id="rId4"/>
    <p:sldId id="440" r:id="rId5"/>
    <p:sldId id="445" r:id="rId6"/>
    <p:sldId id="441" r:id="rId7"/>
    <p:sldId id="450" r:id="rId8"/>
    <p:sldId id="462" r:id="rId9"/>
    <p:sldId id="466" r:id="rId10"/>
    <p:sldId id="442" r:id="rId11"/>
    <p:sldId id="451" r:id="rId12"/>
    <p:sldId id="460" r:id="rId13"/>
    <p:sldId id="463" r:id="rId14"/>
    <p:sldId id="469" r:id="rId15"/>
    <p:sldId id="471" r:id="rId16"/>
    <p:sldId id="1745" r:id="rId17"/>
    <p:sldId id="474" r:id="rId18"/>
    <p:sldId id="473" r:id="rId19"/>
    <p:sldId id="456" r:id="rId20"/>
    <p:sldId id="470" r:id="rId21"/>
    <p:sldId id="454" r:id="rId22"/>
    <p:sldId id="472" r:id="rId23"/>
    <p:sldId id="455" r:id="rId24"/>
    <p:sldId id="457" r:id="rId25"/>
    <p:sldId id="458" r:id="rId26"/>
    <p:sldId id="459" r:id="rId27"/>
    <p:sldId id="1741" r:id="rId28"/>
    <p:sldId id="453" r:id="rId2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6228"/>
    <a:srgbClr val="19A002"/>
    <a:srgbClr val="EA4335"/>
    <a:srgbClr val="4285F4"/>
    <a:srgbClr val="F89645"/>
    <a:srgbClr val="E8392B"/>
    <a:srgbClr val="E9392A"/>
    <a:srgbClr val="0066B0"/>
    <a:srgbClr val="EA8D42"/>
    <a:srgbClr val="7C9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32E4C-E4F4-4D61-9729-55727B6CDF18}" v="3" dt="2024-03-26T13:27:02.83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BE4B48"/>
              </a:solidFill>
              <a:prstDash val="solid"/>
              <a:round/>
            </a:ln>
          </a:left>
          <a:right>
            <a:ln w="9525" cap="flat">
              <a:solidFill>
                <a:srgbClr val="BE4B48"/>
              </a:solidFill>
              <a:prstDash val="solid"/>
              <a:round/>
            </a:ln>
          </a:right>
          <a:top>
            <a:ln w="9525" cap="flat">
              <a:solidFill>
                <a:srgbClr val="BE4B48"/>
              </a:solidFill>
              <a:prstDash val="solid"/>
              <a:round/>
            </a:ln>
          </a:top>
          <a:bottom>
            <a:ln w="9525" cap="flat">
              <a:solidFill>
                <a:srgbClr val="BE4B48"/>
              </a:solidFill>
              <a:prstDash val="solid"/>
              <a:round/>
            </a:ln>
          </a:bottom>
          <a:insideH>
            <a:ln w="9525" cap="flat">
              <a:solidFill>
                <a:srgbClr val="BE4B48"/>
              </a:solidFill>
              <a:prstDash val="solid"/>
              <a:round/>
            </a:ln>
          </a:insideH>
          <a:insideV>
            <a:ln w="9525" cap="flat">
              <a:solidFill>
                <a:srgbClr val="BE4B48"/>
              </a:solidFill>
              <a:prstDash val="solid"/>
              <a:round/>
            </a:ln>
          </a:insideV>
        </a:tcBdr>
        <a:fill>
          <a:solidFill>
            <a:schemeClr val="accent2">
              <a:alpha val="4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BE4B48"/>
              </a:solidFill>
              <a:prstDash val="solid"/>
              <a:round/>
            </a:ln>
          </a:left>
          <a:right>
            <a:ln w="25400" cap="flat">
              <a:solidFill>
                <a:schemeClr val="accent2"/>
              </a:solidFill>
              <a:prstDash val="solid"/>
              <a:round/>
            </a:ln>
          </a:right>
          <a:top>
            <a:ln w="9525" cap="flat">
              <a:solidFill>
                <a:srgbClr val="BE4B48"/>
              </a:solidFill>
              <a:prstDash val="solid"/>
              <a:round/>
            </a:ln>
          </a:top>
          <a:bottom>
            <a:ln w="9525" cap="flat">
              <a:solidFill>
                <a:srgbClr val="BE4B48"/>
              </a:solidFill>
              <a:prstDash val="solid"/>
              <a:round/>
            </a:ln>
          </a:bottom>
          <a:insideH>
            <a:ln w="9525" cap="flat">
              <a:solidFill>
                <a:srgbClr val="BE4B48"/>
              </a:solidFill>
              <a:prstDash val="solid"/>
              <a:round/>
            </a:ln>
          </a:insideH>
          <a:insideV>
            <a:ln w="9525" cap="flat">
              <a:solidFill>
                <a:srgbClr val="BE4B48"/>
              </a:solidFill>
              <a:prstDash val="solid"/>
              <a:round/>
            </a:ln>
          </a:insideV>
        </a:tcBdr>
        <a:fill>
          <a:solidFill>
            <a:schemeClr val="accent2">
              <a:alpha val="40000"/>
            </a:scheme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2"/>
              </a:solidFill>
              <a:prstDash val="solid"/>
              <a:round/>
            </a:ln>
          </a:top>
          <a:bottom>
            <a:ln w="254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rgbClr val="BE4B48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4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F4E8E8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3" autoAdjust="0"/>
    <p:restoredTop sz="89559"/>
  </p:normalViewPr>
  <p:slideViewPr>
    <p:cSldViewPr snapToGrid="0" snapToObjects="1">
      <p:cViewPr varScale="1">
        <p:scale>
          <a:sx n="74" d="100"/>
          <a:sy n="74" d="100"/>
        </p:scale>
        <p:origin x="5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6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381621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2578822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3969200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219391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4158303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2128562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2331816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add </a:t>
            </a:r>
            <a:r>
              <a:rPr lang="en-US" dirty="0" err="1"/>
              <a:t>DRAMHiT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062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3003930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44882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3993789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4092521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2924219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732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453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32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0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60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by saying that recent</a:t>
            </a:r>
          </a:p>
          <a:p>
            <a:r>
              <a:rPr lang="en-US" dirty="0"/>
              <a:t>Distributed Datastores keep data in-memory while offering a read/write API.</a:t>
            </a:r>
          </a:p>
          <a:p>
            <a:endParaRPr lang="en-US" dirty="0"/>
          </a:p>
          <a:p>
            <a:r>
              <a:rPr lang="en-US" dirty="0"/>
              <a:t>Such datastores consist the backbone of modern online services,</a:t>
            </a:r>
          </a:p>
          <a:p>
            <a:r>
              <a:rPr lang="en-US" dirty="0"/>
              <a:t>which are latency-sensitive and must serve numerous concurrent requests.</a:t>
            </a:r>
          </a:p>
          <a:p>
            <a:r>
              <a:rPr lang="en-US" dirty="0"/>
              <a:t>As a result, distributed datastores must offer high-performance.</a:t>
            </a:r>
          </a:p>
          <a:p>
            <a:r>
              <a:rPr lang="en-US" dirty="0"/>
              <a:t>Furthermore, because datastores are deployed over commodity </a:t>
            </a:r>
          </a:p>
          <a:p>
            <a:r>
              <a:rPr lang="en-US" dirty="0"/>
              <a:t>failure prone h/w they must also be able to tolerate faults.</a:t>
            </a:r>
          </a:p>
          <a:p>
            <a:r>
              <a:rPr lang="en-US" dirty="0"/>
              <a:t>This mandates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23838506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9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606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972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13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55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  <a:latin typeface="+mn-lt"/>
                <a:ea typeface="+mn-ea"/>
                <a:cs typeface="+mn-cs"/>
                <a:sym typeface="Helvetica"/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  <a:latin typeface="+mn-lt"/>
                <a:ea typeface="+mn-ea"/>
                <a:cs typeface="+mn-cs"/>
                <a:sym typeface="Helvetica"/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  <a:latin typeface="+mn-lt"/>
                <a:ea typeface="+mn-ea"/>
                <a:cs typeface="+mn-cs"/>
                <a:sym typeface="Helvetica"/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  <a:latin typeface="+mn-lt"/>
                <a:ea typeface="+mn-ea"/>
                <a:cs typeface="+mn-cs"/>
                <a:sym typeface="Helvetica"/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" name="Picture 2" descr="Huawei">
            <a:extLst>
              <a:ext uri="{FF2B5EF4-FFF2-40B4-BE49-F238E27FC236}">
                <a16:creationId xmlns:a16="http://schemas.microsoft.com/office/drawing/2014/main" id="{D18C5C85-1F2E-3F29-51FE-9F93497500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756" y="85563"/>
            <a:ext cx="2109423" cy="4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854ADC78-38FC-47E7-9CC1-090DF1CAC5A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73918" y="6529157"/>
            <a:ext cx="263982" cy="26924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7927725"/>
      </p:ext>
    </p:extLst>
  </p:cSld>
  <p:clrMapOvr>
    <a:masterClrMapping/>
  </p:clrMapOvr>
  <p:transition spd="med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0" y="111966"/>
            <a:ext cx="9144000" cy="77725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xfrm>
            <a:off x="437900" y="1663817"/>
            <a:ext cx="8268200" cy="48918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  <a:lvl2pPr>
              <a:defRPr>
                <a:latin typeface="+mn-lt"/>
                <a:ea typeface="+mn-ea"/>
                <a:cs typeface="+mn-cs"/>
                <a:sym typeface="Helvetica"/>
              </a:defRPr>
            </a:lvl2pPr>
            <a:lvl3pPr>
              <a:defRPr>
                <a:latin typeface="+mn-lt"/>
                <a:ea typeface="+mn-ea"/>
                <a:cs typeface="+mn-cs"/>
                <a:sym typeface="Helvetica"/>
              </a:defRPr>
            </a:lvl3pPr>
            <a:lvl4pPr>
              <a:defRPr>
                <a:latin typeface="+mn-lt"/>
                <a:ea typeface="+mn-ea"/>
                <a:cs typeface="+mn-cs"/>
                <a:sym typeface="Helvetica"/>
              </a:defRPr>
            </a:lvl4pPr>
            <a:lvl5pPr>
              <a:defRPr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692" y="6509511"/>
            <a:ext cx="263982" cy="26924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2" descr="Huawei">
            <a:extLst>
              <a:ext uri="{FF2B5EF4-FFF2-40B4-BE49-F238E27FC236}">
                <a16:creationId xmlns:a16="http://schemas.microsoft.com/office/drawing/2014/main" id="{87201754-5278-4995-83D5-51014F2416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882" y="6317746"/>
            <a:ext cx="2109423" cy="4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32730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doub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3918" y="6529157"/>
            <a:ext cx="263982" cy="26924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437900" y="1663817"/>
            <a:ext cx="8268200" cy="48918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  <a:lvl2pPr>
              <a:defRPr>
                <a:latin typeface="+mn-lt"/>
                <a:ea typeface="+mn-ea"/>
                <a:cs typeface="+mn-cs"/>
                <a:sym typeface="Helvetica"/>
              </a:defRPr>
            </a:lvl2pPr>
            <a:lvl3pPr>
              <a:defRPr>
                <a:latin typeface="+mn-lt"/>
                <a:ea typeface="+mn-ea"/>
                <a:cs typeface="+mn-cs"/>
                <a:sym typeface="Helvetica"/>
              </a:defRPr>
            </a:lvl3pPr>
            <a:lvl4pPr>
              <a:defRPr>
                <a:latin typeface="+mn-lt"/>
                <a:ea typeface="+mn-ea"/>
                <a:cs typeface="+mn-cs"/>
                <a:sym typeface="Helvetica"/>
              </a:defRPr>
            </a:lvl4pPr>
            <a:lvl5pPr>
              <a:defRPr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Title Text">
            <a:extLst>
              <a:ext uri="{FF2B5EF4-FFF2-40B4-BE49-F238E27FC236}">
                <a16:creationId xmlns:a16="http://schemas.microsoft.com/office/drawing/2014/main" id="{B605499E-D754-4601-B9ED-31A6837394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1966"/>
            <a:ext cx="9144000" cy="77725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pic>
        <p:nvPicPr>
          <p:cNvPr id="9" name="Picture 2" descr="Huawei">
            <a:extLst>
              <a:ext uri="{FF2B5EF4-FFF2-40B4-BE49-F238E27FC236}">
                <a16:creationId xmlns:a16="http://schemas.microsoft.com/office/drawing/2014/main" id="{3FF4589A-FA26-4D0F-8C8A-C617AE8118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882" y="6317746"/>
            <a:ext cx="2109423" cy="4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86842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Text">
            <a:extLst>
              <a:ext uri="{FF2B5EF4-FFF2-40B4-BE49-F238E27FC236}">
                <a16:creationId xmlns:a16="http://schemas.microsoft.com/office/drawing/2014/main" id="{2C615B41-45DB-4A1A-BB28-A29DFBDD2E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1966"/>
            <a:ext cx="9144000" cy="77725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pic>
        <p:nvPicPr>
          <p:cNvPr id="8" name="Picture 2" descr="Huawei">
            <a:extLst>
              <a:ext uri="{FF2B5EF4-FFF2-40B4-BE49-F238E27FC236}">
                <a16:creationId xmlns:a16="http://schemas.microsoft.com/office/drawing/2014/main" id="{D259BB2D-BE57-4846-B4E5-BFF219F0FE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882" y="6317746"/>
            <a:ext cx="2109423" cy="4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729F06D2-887D-4B8C-BFDD-A065E7FCF2F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73918" y="6529157"/>
            <a:ext cx="263982" cy="26924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58024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uawei">
            <a:extLst>
              <a:ext uri="{FF2B5EF4-FFF2-40B4-BE49-F238E27FC236}">
                <a16:creationId xmlns:a16="http://schemas.microsoft.com/office/drawing/2014/main" id="{6E5458C3-A1D8-4D83-9942-E565DE33A4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882" y="6317746"/>
            <a:ext cx="2109423" cy="4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23034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64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>
                <a:latin typeface="+mn-lt"/>
                <a:ea typeface="+mn-ea"/>
                <a:cs typeface="+mn-cs"/>
                <a:sym typeface="Helvetica"/>
              </a:defRPr>
            </a:lvl1pPr>
            <a:lvl2pPr marL="0" indent="457200">
              <a:spcBef>
                <a:spcPts val="300"/>
              </a:spcBef>
              <a:buSzTx/>
              <a:buFontTx/>
              <a:buNone/>
              <a:defRPr sz="1400">
                <a:latin typeface="+mn-lt"/>
                <a:ea typeface="+mn-ea"/>
                <a:cs typeface="+mn-cs"/>
                <a:sym typeface="Helvetica"/>
              </a:defRPr>
            </a:lvl2pPr>
            <a:lvl3pPr marL="0" indent="914400">
              <a:spcBef>
                <a:spcPts val="300"/>
              </a:spcBef>
              <a:buSzTx/>
              <a:buFontTx/>
              <a:buNone/>
              <a:defRPr sz="1400">
                <a:latin typeface="+mn-lt"/>
                <a:ea typeface="+mn-ea"/>
                <a:cs typeface="+mn-cs"/>
                <a:sym typeface="Helvetica"/>
              </a:defRPr>
            </a:lvl3pPr>
            <a:lvl4pPr marL="0" indent="1371600">
              <a:spcBef>
                <a:spcPts val="300"/>
              </a:spcBef>
              <a:buSzTx/>
              <a:buFontTx/>
              <a:buNone/>
              <a:defRPr sz="1400">
                <a:latin typeface="+mn-lt"/>
                <a:ea typeface="+mn-ea"/>
                <a:cs typeface="+mn-cs"/>
                <a:sym typeface="Helvetica"/>
              </a:defRPr>
            </a:lvl4pPr>
            <a:lvl5pPr marL="0" indent="1828800">
              <a:spcBef>
                <a:spcPts val="300"/>
              </a:spcBef>
              <a:buSzTx/>
              <a:buFontTx/>
              <a:buNone/>
              <a:defRPr sz="14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9" name="Picture 2" descr="Huawei">
            <a:extLst>
              <a:ext uri="{FF2B5EF4-FFF2-40B4-BE49-F238E27FC236}">
                <a16:creationId xmlns:a16="http://schemas.microsoft.com/office/drawing/2014/main" id="{7FB10152-958A-4F07-BA65-C38550DB56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882" y="6317746"/>
            <a:ext cx="2109423" cy="4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">
            <a:extLst>
              <a:ext uri="{FF2B5EF4-FFF2-40B4-BE49-F238E27FC236}">
                <a16:creationId xmlns:a16="http://schemas.microsoft.com/office/drawing/2014/main" id="{6B0920C0-A54A-4FA0-A55A-E82DCE4929A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73918" y="6529157"/>
            <a:ext cx="263982" cy="26924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00425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1" descr="内页元素3-1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0"/>
            <a:ext cx="9142810" cy="649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2"/>
          <p:cNvGrpSpPr>
            <a:grpSpLocks/>
          </p:cNvGrpSpPr>
          <p:nvPr userDrawn="1"/>
        </p:nvGrpSpPr>
        <p:grpSpPr bwMode="auto">
          <a:xfrm>
            <a:off x="5966" y="7939"/>
            <a:ext cx="9142809" cy="6858000"/>
            <a:chOff x="1" y="1"/>
            <a:chExt cx="7681" cy="4320"/>
          </a:xfrm>
        </p:grpSpPr>
        <p:pic>
          <p:nvPicPr>
            <p:cNvPr id="6" name="Picture 73" descr="封面元素2"/>
            <p:cNvPicPr>
              <a:picLocks noChangeAspect="1" noChangeArrowheads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" y="1"/>
              <a:ext cx="7681" cy="4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Rectangle 74"/>
            <p:cNvSpPr>
              <a:spLocks noChangeArrowheads="1"/>
            </p:cNvSpPr>
            <p:nvPr userDrawn="1"/>
          </p:nvSpPr>
          <p:spPr bwMode="auto">
            <a:xfrm>
              <a:off x="6554" y="3482"/>
              <a:ext cx="602" cy="629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sp>
        <p:nvSpPr>
          <p:cNvPr id="8" name="Text Box 76"/>
          <p:cNvSpPr txBox="1">
            <a:spLocks noChangeArrowheads="1"/>
          </p:cNvSpPr>
          <p:nvPr userDrawn="1"/>
        </p:nvSpPr>
        <p:spPr bwMode="auto">
          <a:xfrm>
            <a:off x="608264" y="6199210"/>
            <a:ext cx="1892090" cy="219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33" tIns="34266" rIns="68533" bIns="34266">
            <a:spAutoFit/>
          </a:bodyPr>
          <a:lstStyle/>
          <a:p>
            <a:pPr eaLnBrk="0" hangingPunct="0">
              <a:defRPr/>
            </a:pPr>
            <a:r>
              <a:rPr lang="en-US" altLang="zh-CN" sz="975" b="0" dirty="0">
                <a:latin typeface="FrutigerNext LT Bold" pitchFamily="20" charset="0"/>
                <a:ea typeface="MS PGothic" pitchFamily="34" charset="-128"/>
              </a:rPr>
              <a:t>HUAWEI TECHNOLOGIES CO., LTD.</a:t>
            </a:r>
          </a:p>
        </p:txBody>
      </p:sp>
      <p:pic>
        <p:nvPicPr>
          <p:cNvPr id="9" name="Picture 77" descr="Logo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5259" y="5737227"/>
            <a:ext cx="529691" cy="704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14"/>
          <p:cNvSpPr>
            <a:spLocks noChangeArrowheads="1"/>
          </p:cNvSpPr>
          <p:nvPr userDrawn="1"/>
        </p:nvSpPr>
        <p:spPr bwMode="auto">
          <a:xfrm>
            <a:off x="-1844988" y="528639"/>
            <a:ext cx="1844988" cy="530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5804" tIns="32902" rIns="65804" bIns="32902"/>
          <a:lstStyle/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英文标题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:32-35pt  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内部使用字体 </a:t>
            </a:r>
            <a:r>
              <a:rPr lang="en-US" altLang="zh-CN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: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en-US" altLang="zh-CN" sz="900" b="0" dirty="0" err="1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FrutigerNext</a:t>
            </a:r>
            <a:r>
              <a:rPr lang="en-US" altLang="zh-CN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 LT Medium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外部使用字体 </a:t>
            </a:r>
            <a:r>
              <a:rPr lang="en-US" altLang="zh-CN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: Arial</a:t>
            </a:r>
          </a:p>
          <a:p>
            <a:pPr marL="256989" indent="-256989" algn="r">
              <a:lnSpc>
                <a:spcPct val="75000"/>
              </a:lnSpc>
              <a:spcBef>
                <a:spcPct val="20000"/>
              </a:spcBef>
              <a:buClr>
                <a:srgbClr val="990000"/>
              </a:buClr>
              <a:defRPr/>
            </a:pPr>
            <a:endParaRPr lang="en-US" altLang="zh-CN" sz="900" b="0" dirty="0">
              <a:solidFill>
                <a:srgbClr val="F8F8F8"/>
              </a:solidFill>
              <a:latin typeface="Arial" charset="0"/>
              <a:ea typeface="华文细黑" pitchFamily="2" charset="-122"/>
            </a:endParaRP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中文标题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:30-32pt  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黑体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endParaRPr lang="zh-CN" altLang="en-US" sz="900" b="0" dirty="0">
              <a:solidFill>
                <a:srgbClr val="F8F8F8"/>
              </a:solidFill>
              <a:latin typeface="Arial" charset="0"/>
              <a:ea typeface="华文细黑" pitchFamily="2" charset="-122"/>
            </a:endParaRP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endParaRPr lang="zh-CN" altLang="en-US" sz="900" b="0" dirty="0">
              <a:solidFill>
                <a:srgbClr val="F8F8F8"/>
              </a:solidFill>
              <a:latin typeface="Arial" charset="0"/>
              <a:ea typeface="华文细黑" pitchFamily="2" charset="-122"/>
            </a:endParaRP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endParaRPr lang="zh-CN" altLang="en-US" sz="900" b="0" dirty="0">
              <a:solidFill>
                <a:srgbClr val="F8F8F8"/>
              </a:solidFill>
              <a:latin typeface="Arial" charset="0"/>
              <a:ea typeface="华文细黑" pitchFamily="2" charset="-122"/>
            </a:endParaRP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英文正文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:20-22pt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子目录 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) :18pt  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内部使用字体 </a:t>
            </a:r>
            <a:r>
              <a:rPr lang="en-US" altLang="zh-CN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: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en-US" altLang="zh-CN" sz="900" b="0" dirty="0" err="1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FrutigerNext</a:t>
            </a:r>
            <a:r>
              <a:rPr lang="en-US" altLang="zh-CN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 LT Regular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外部使用字体 </a:t>
            </a:r>
            <a:r>
              <a:rPr lang="en-US" altLang="zh-CN" sz="900" b="0" dirty="0">
                <a:solidFill>
                  <a:srgbClr val="F8F8F8"/>
                </a:solidFill>
                <a:latin typeface="FrutigerNext LT Medium" pitchFamily="34" charset="0"/>
                <a:ea typeface="华文细黑" pitchFamily="2" charset="-122"/>
              </a:rPr>
              <a:t>: Arial</a:t>
            </a:r>
          </a:p>
          <a:p>
            <a:pPr marL="256989" indent="-256989" algn="r">
              <a:lnSpc>
                <a:spcPct val="75000"/>
              </a:lnSpc>
              <a:spcBef>
                <a:spcPct val="20000"/>
              </a:spcBef>
              <a:buClr>
                <a:srgbClr val="990000"/>
              </a:buClr>
              <a:defRPr/>
            </a:pPr>
            <a:endParaRPr lang="en-US" altLang="zh-CN" sz="900" b="0" dirty="0">
              <a:solidFill>
                <a:srgbClr val="F8F8F8"/>
              </a:solidFill>
              <a:latin typeface="Arial" charset="0"/>
              <a:ea typeface="华文细黑" pitchFamily="2" charset="-122"/>
            </a:endParaRP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中文正文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:18-20pt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子目录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):18pt 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marL="256989" indent="-256989" algn="r">
              <a:lnSpc>
                <a:spcPct val="125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900" b="0" dirty="0">
                <a:solidFill>
                  <a:srgbClr val="F8F8F8"/>
                </a:solidFill>
                <a:latin typeface="Arial" charset="0"/>
                <a:ea typeface="华文细黑" pitchFamily="2" charset="-122"/>
              </a:rPr>
              <a:t>细黑体 </a:t>
            </a:r>
            <a:endParaRPr lang="zh-CN" altLang="en-US" sz="900" b="0" dirty="0">
              <a:solidFill>
                <a:srgbClr val="080808"/>
              </a:solidFill>
              <a:latin typeface="Arial" charset="0"/>
              <a:ea typeface="华文细黑" pitchFamily="2" charset="-122"/>
            </a:endParaRPr>
          </a:p>
        </p:txBody>
      </p:sp>
      <p:sp>
        <p:nvSpPr>
          <p:cNvPr id="11" name="Rectangle 15"/>
          <p:cNvSpPr>
            <a:spLocks noChangeArrowheads="1"/>
          </p:cNvSpPr>
          <p:nvPr userDrawn="1"/>
        </p:nvSpPr>
        <p:spPr bwMode="auto">
          <a:xfrm>
            <a:off x="9268996" y="5485124"/>
            <a:ext cx="920114" cy="242313"/>
          </a:xfrm>
          <a:prstGeom prst="rect">
            <a:avLst/>
          </a:prstGeom>
          <a:solidFill>
            <a:srgbClr val="F8F8F8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21" tIns="34260" rIns="68521" bIns="34260" anchor="ctr">
            <a:spAutoFit/>
          </a:bodyPr>
          <a:lstStyle/>
          <a:p>
            <a:pPr algn="ctr" defTabSz="657939" eaLnBrk="0" hangingPunct="0"/>
            <a:endParaRPr lang="zh-CN" altLang="zh-CN" sz="1125" b="0" dirty="0">
              <a:latin typeface="FrutigerNext LT Regular" pitchFamily="34" charset="0"/>
              <a:ea typeface="ＭＳ Ｐゴシック" pitchFamily="34" charset="-128"/>
            </a:endParaRPr>
          </a:p>
        </p:txBody>
      </p:sp>
      <p:grpSp>
        <p:nvGrpSpPr>
          <p:cNvPr id="12" name="Group 16"/>
          <p:cNvGrpSpPr>
            <a:grpSpLocks/>
          </p:cNvGrpSpPr>
          <p:nvPr userDrawn="1"/>
        </p:nvGrpSpPr>
        <p:grpSpPr bwMode="auto">
          <a:xfrm>
            <a:off x="9352305" y="5278443"/>
            <a:ext cx="741566" cy="184151"/>
            <a:chOff x="6657" y="3492"/>
            <a:chExt cx="527" cy="121"/>
          </a:xfrm>
        </p:grpSpPr>
        <p:sp>
          <p:nvSpPr>
            <p:cNvPr id="13" name="Rectangle 17"/>
            <p:cNvSpPr>
              <a:spLocks noChangeArrowheads="1"/>
            </p:cNvSpPr>
            <p:nvPr/>
          </p:nvSpPr>
          <p:spPr bwMode="auto">
            <a:xfrm flipV="1">
              <a:off x="6789" y="3492"/>
              <a:ext cx="132" cy="121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" name="Rectangle 18"/>
            <p:cNvSpPr>
              <a:spLocks noChangeArrowheads="1"/>
            </p:cNvSpPr>
            <p:nvPr/>
          </p:nvSpPr>
          <p:spPr bwMode="auto">
            <a:xfrm flipV="1">
              <a:off x="6921" y="3492"/>
              <a:ext cx="131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 flipV="1">
              <a:off x="7052" y="3492"/>
              <a:ext cx="132" cy="121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 flipV="1">
              <a:off x="6657" y="3492"/>
              <a:ext cx="132" cy="121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7" name="Group 21"/>
          <p:cNvGrpSpPr>
            <a:grpSpLocks/>
          </p:cNvGrpSpPr>
          <p:nvPr userDrawn="1"/>
        </p:nvGrpSpPr>
        <p:grpSpPr bwMode="auto">
          <a:xfrm>
            <a:off x="9352305" y="6203975"/>
            <a:ext cx="741566" cy="182563"/>
            <a:chOff x="6657" y="4103"/>
            <a:chExt cx="527" cy="121"/>
          </a:xfrm>
        </p:grpSpPr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 flipV="1">
              <a:off x="6789" y="4103"/>
              <a:ext cx="132" cy="12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9" name="Rectangle 23"/>
            <p:cNvSpPr>
              <a:spLocks noChangeArrowheads="1"/>
            </p:cNvSpPr>
            <p:nvPr/>
          </p:nvSpPr>
          <p:spPr bwMode="auto">
            <a:xfrm flipV="1">
              <a:off x="6921" y="4103"/>
              <a:ext cx="131" cy="121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20" name="Rectangle 24"/>
            <p:cNvSpPr>
              <a:spLocks noChangeArrowheads="1"/>
            </p:cNvSpPr>
            <p:nvPr/>
          </p:nvSpPr>
          <p:spPr bwMode="auto">
            <a:xfrm flipV="1">
              <a:off x="7052" y="4103"/>
              <a:ext cx="132" cy="121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21" name="Rectangle 25"/>
            <p:cNvSpPr>
              <a:spLocks noChangeArrowheads="1"/>
            </p:cNvSpPr>
            <p:nvPr/>
          </p:nvSpPr>
          <p:spPr bwMode="auto">
            <a:xfrm flipV="1">
              <a:off x="6657" y="4103"/>
              <a:ext cx="132" cy="121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22" name="Group 26"/>
          <p:cNvGrpSpPr>
            <a:grpSpLocks/>
          </p:cNvGrpSpPr>
          <p:nvPr userDrawn="1"/>
        </p:nvGrpSpPr>
        <p:grpSpPr bwMode="auto">
          <a:xfrm>
            <a:off x="9352305" y="6450015"/>
            <a:ext cx="741566" cy="182563"/>
            <a:chOff x="6657" y="4266"/>
            <a:chExt cx="527" cy="121"/>
          </a:xfrm>
        </p:grpSpPr>
        <p:sp>
          <p:nvSpPr>
            <p:cNvPr id="23" name="Rectangle 27"/>
            <p:cNvSpPr>
              <a:spLocks noChangeArrowheads="1"/>
            </p:cNvSpPr>
            <p:nvPr/>
          </p:nvSpPr>
          <p:spPr bwMode="auto">
            <a:xfrm flipV="1">
              <a:off x="6789" y="4266"/>
              <a:ext cx="132" cy="121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24" name="Rectangle 28"/>
            <p:cNvSpPr>
              <a:spLocks noChangeArrowheads="1"/>
            </p:cNvSpPr>
            <p:nvPr/>
          </p:nvSpPr>
          <p:spPr bwMode="auto">
            <a:xfrm flipV="1">
              <a:off x="6921" y="4266"/>
              <a:ext cx="131" cy="121"/>
            </a:xfrm>
            <a:prstGeom prst="rect">
              <a:avLst/>
            </a:prstGeom>
            <a:solidFill>
              <a:srgbClr val="0099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25" name="Rectangle 29"/>
            <p:cNvSpPr>
              <a:spLocks noChangeArrowheads="1"/>
            </p:cNvSpPr>
            <p:nvPr/>
          </p:nvSpPr>
          <p:spPr bwMode="auto">
            <a:xfrm flipV="1">
              <a:off x="7052" y="4266"/>
              <a:ext cx="132" cy="121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26" name="Rectangle 30"/>
            <p:cNvSpPr>
              <a:spLocks noChangeArrowheads="1"/>
            </p:cNvSpPr>
            <p:nvPr/>
          </p:nvSpPr>
          <p:spPr bwMode="auto">
            <a:xfrm flipV="1">
              <a:off x="6657" y="4266"/>
              <a:ext cx="132" cy="12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27" name="Group 31"/>
          <p:cNvGrpSpPr>
            <a:grpSpLocks/>
          </p:cNvGrpSpPr>
          <p:nvPr userDrawn="1"/>
        </p:nvGrpSpPr>
        <p:grpSpPr bwMode="auto">
          <a:xfrm>
            <a:off x="9352305" y="5527699"/>
            <a:ext cx="741566" cy="182563"/>
            <a:chOff x="6657" y="3656"/>
            <a:chExt cx="527" cy="121"/>
          </a:xfrm>
        </p:grpSpPr>
        <p:sp>
          <p:nvSpPr>
            <p:cNvPr id="28" name="Rectangle 32"/>
            <p:cNvSpPr>
              <a:spLocks noChangeArrowheads="1"/>
            </p:cNvSpPr>
            <p:nvPr/>
          </p:nvSpPr>
          <p:spPr bwMode="auto">
            <a:xfrm flipV="1">
              <a:off x="6657" y="3656"/>
              <a:ext cx="132" cy="12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29" name="Rectangle 33"/>
            <p:cNvSpPr>
              <a:spLocks noChangeArrowheads="1"/>
            </p:cNvSpPr>
            <p:nvPr/>
          </p:nvSpPr>
          <p:spPr bwMode="auto">
            <a:xfrm flipV="1">
              <a:off x="6789" y="3656"/>
              <a:ext cx="132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30" name="Rectangle 34"/>
            <p:cNvSpPr>
              <a:spLocks noChangeArrowheads="1"/>
            </p:cNvSpPr>
            <p:nvPr/>
          </p:nvSpPr>
          <p:spPr bwMode="auto">
            <a:xfrm flipV="1">
              <a:off x="6921" y="3656"/>
              <a:ext cx="131" cy="121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31" name="Rectangle 35"/>
            <p:cNvSpPr>
              <a:spLocks noChangeArrowheads="1"/>
            </p:cNvSpPr>
            <p:nvPr/>
          </p:nvSpPr>
          <p:spPr bwMode="auto">
            <a:xfrm flipV="1">
              <a:off x="7052" y="3656"/>
              <a:ext cx="132" cy="121"/>
            </a:xfrm>
            <a:prstGeom prst="rect">
              <a:avLst/>
            </a:prstGeom>
            <a:solidFill>
              <a:srgbClr val="08080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32" name="Group 36"/>
          <p:cNvGrpSpPr>
            <a:grpSpLocks/>
          </p:cNvGrpSpPr>
          <p:nvPr userDrawn="1"/>
        </p:nvGrpSpPr>
        <p:grpSpPr bwMode="auto">
          <a:xfrm>
            <a:off x="9352305" y="5957891"/>
            <a:ext cx="741566" cy="182563"/>
            <a:chOff x="6657" y="3941"/>
            <a:chExt cx="527" cy="121"/>
          </a:xfrm>
        </p:grpSpPr>
        <p:sp>
          <p:nvSpPr>
            <p:cNvPr id="33" name="Rectangle 37"/>
            <p:cNvSpPr>
              <a:spLocks noChangeArrowheads="1"/>
            </p:cNvSpPr>
            <p:nvPr/>
          </p:nvSpPr>
          <p:spPr bwMode="auto">
            <a:xfrm flipV="1">
              <a:off x="6789" y="3941"/>
              <a:ext cx="132" cy="12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34" name="Rectangle 38"/>
            <p:cNvSpPr>
              <a:spLocks noChangeArrowheads="1"/>
            </p:cNvSpPr>
            <p:nvPr/>
          </p:nvSpPr>
          <p:spPr bwMode="auto">
            <a:xfrm flipV="1">
              <a:off x="6921" y="3941"/>
              <a:ext cx="131" cy="121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35" name="Rectangle 39"/>
            <p:cNvSpPr>
              <a:spLocks noChangeArrowheads="1"/>
            </p:cNvSpPr>
            <p:nvPr/>
          </p:nvSpPr>
          <p:spPr bwMode="auto">
            <a:xfrm flipV="1">
              <a:off x="7052" y="3941"/>
              <a:ext cx="132" cy="121"/>
            </a:xfrm>
            <a:prstGeom prst="rect">
              <a:avLst/>
            </a:prstGeom>
            <a:solidFill>
              <a:srgbClr val="08080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36" name="Rectangle 40"/>
            <p:cNvSpPr>
              <a:spLocks noChangeArrowheads="1"/>
            </p:cNvSpPr>
            <p:nvPr/>
          </p:nvSpPr>
          <p:spPr bwMode="auto">
            <a:xfrm flipV="1">
              <a:off x="6657" y="3941"/>
              <a:ext cx="132" cy="12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37" name="Group 41"/>
          <p:cNvGrpSpPr>
            <a:grpSpLocks/>
          </p:cNvGrpSpPr>
          <p:nvPr userDrawn="1"/>
        </p:nvGrpSpPr>
        <p:grpSpPr bwMode="auto">
          <a:xfrm>
            <a:off x="9352305" y="6697667"/>
            <a:ext cx="741566" cy="182563"/>
            <a:chOff x="6657" y="4430"/>
            <a:chExt cx="527" cy="121"/>
          </a:xfrm>
        </p:grpSpPr>
        <p:sp>
          <p:nvSpPr>
            <p:cNvPr id="38" name="Rectangle 42"/>
            <p:cNvSpPr>
              <a:spLocks noChangeArrowheads="1"/>
            </p:cNvSpPr>
            <p:nvPr/>
          </p:nvSpPr>
          <p:spPr bwMode="auto">
            <a:xfrm flipV="1">
              <a:off x="6789" y="4430"/>
              <a:ext cx="132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39" name="Rectangle 43"/>
            <p:cNvSpPr>
              <a:spLocks noChangeArrowheads="1"/>
            </p:cNvSpPr>
            <p:nvPr/>
          </p:nvSpPr>
          <p:spPr bwMode="auto">
            <a:xfrm flipV="1">
              <a:off x="6921" y="4430"/>
              <a:ext cx="131" cy="121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40" name="Rectangle 44"/>
            <p:cNvSpPr>
              <a:spLocks noChangeArrowheads="1"/>
            </p:cNvSpPr>
            <p:nvPr/>
          </p:nvSpPr>
          <p:spPr bwMode="auto">
            <a:xfrm flipV="1">
              <a:off x="7052" y="4430"/>
              <a:ext cx="132" cy="121"/>
            </a:xfrm>
            <a:prstGeom prst="rect">
              <a:avLst/>
            </a:prstGeom>
            <a:solidFill>
              <a:srgbClr val="08080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41" name="Rectangle 45"/>
            <p:cNvSpPr>
              <a:spLocks noChangeArrowheads="1"/>
            </p:cNvSpPr>
            <p:nvPr/>
          </p:nvSpPr>
          <p:spPr bwMode="auto">
            <a:xfrm flipV="1">
              <a:off x="6657" y="4430"/>
              <a:ext cx="132" cy="12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42" name="Group 46"/>
          <p:cNvGrpSpPr>
            <a:grpSpLocks/>
          </p:cNvGrpSpPr>
          <p:nvPr userDrawn="1"/>
        </p:nvGrpSpPr>
        <p:grpSpPr bwMode="auto">
          <a:xfrm>
            <a:off x="9352305" y="5032380"/>
            <a:ext cx="741566" cy="184151"/>
            <a:chOff x="6657" y="3329"/>
            <a:chExt cx="527" cy="122"/>
          </a:xfrm>
        </p:grpSpPr>
        <p:sp>
          <p:nvSpPr>
            <p:cNvPr id="43" name="Rectangle 47"/>
            <p:cNvSpPr>
              <a:spLocks noChangeArrowheads="1"/>
            </p:cNvSpPr>
            <p:nvPr/>
          </p:nvSpPr>
          <p:spPr bwMode="auto">
            <a:xfrm flipV="1">
              <a:off x="6789" y="3329"/>
              <a:ext cx="132" cy="122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44" name="Rectangle 48"/>
            <p:cNvSpPr>
              <a:spLocks noChangeArrowheads="1"/>
            </p:cNvSpPr>
            <p:nvPr/>
          </p:nvSpPr>
          <p:spPr bwMode="auto">
            <a:xfrm flipV="1">
              <a:off x="6921" y="3329"/>
              <a:ext cx="131" cy="122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45" name="Rectangle 49"/>
            <p:cNvSpPr>
              <a:spLocks noChangeArrowheads="1"/>
            </p:cNvSpPr>
            <p:nvPr/>
          </p:nvSpPr>
          <p:spPr bwMode="auto">
            <a:xfrm flipV="1">
              <a:off x="7052" y="3329"/>
              <a:ext cx="132" cy="122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46" name="Rectangle 50"/>
            <p:cNvSpPr>
              <a:spLocks noChangeArrowheads="1"/>
            </p:cNvSpPr>
            <p:nvPr/>
          </p:nvSpPr>
          <p:spPr bwMode="auto">
            <a:xfrm flipV="1">
              <a:off x="6657" y="3329"/>
              <a:ext cx="132" cy="12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47" name="Group 51"/>
          <p:cNvGrpSpPr>
            <a:grpSpLocks/>
          </p:cNvGrpSpPr>
          <p:nvPr userDrawn="1"/>
        </p:nvGrpSpPr>
        <p:grpSpPr bwMode="auto">
          <a:xfrm>
            <a:off x="9352305" y="4600599"/>
            <a:ext cx="741566" cy="182563"/>
            <a:chOff x="6657" y="3043"/>
            <a:chExt cx="527" cy="121"/>
          </a:xfrm>
        </p:grpSpPr>
        <p:sp>
          <p:nvSpPr>
            <p:cNvPr id="48" name="Rectangle 52"/>
            <p:cNvSpPr>
              <a:spLocks noChangeArrowheads="1"/>
            </p:cNvSpPr>
            <p:nvPr/>
          </p:nvSpPr>
          <p:spPr bwMode="auto">
            <a:xfrm flipV="1">
              <a:off x="6921" y="3043"/>
              <a:ext cx="131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49" name="Rectangle 53"/>
            <p:cNvSpPr>
              <a:spLocks noChangeArrowheads="1"/>
            </p:cNvSpPr>
            <p:nvPr/>
          </p:nvSpPr>
          <p:spPr bwMode="auto">
            <a:xfrm flipV="1">
              <a:off x="7052" y="3043"/>
              <a:ext cx="132" cy="12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50" name="Rectangle 54"/>
            <p:cNvSpPr>
              <a:spLocks noChangeArrowheads="1"/>
            </p:cNvSpPr>
            <p:nvPr/>
          </p:nvSpPr>
          <p:spPr bwMode="auto">
            <a:xfrm flipV="1">
              <a:off x="6657" y="3043"/>
              <a:ext cx="132" cy="12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51" name="Rectangle 55"/>
            <p:cNvSpPr>
              <a:spLocks noChangeArrowheads="1"/>
            </p:cNvSpPr>
            <p:nvPr/>
          </p:nvSpPr>
          <p:spPr bwMode="auto">
            <a:xfrm flipV="1">
              <a:off x="6789" y="3043"/>
              <a:ext cx="132" cy="121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52" name="Group 56"/>
          <p:cNvGrpSpPr>
            <a:grpSpLocks/>
          </p:cNvGrpSpPr>
          <p:nvPr userDrawn="1"/>
        </p:nvGrpSpPr>
        <p:grpSpPr bwMode="auto">
          <a:xfrm>
            <a:off x="9352305" y="4354517"/>
            <a:ext cx="741566" cy="184151"/>
            <a:chOff x="6657" y="2881"/>
            <a:chExt cx="527" cy="121"/>
          </a:xfrm>
        </p:grpSpPr>
        <p:sp>
          <p:nvSpPr>
            <p:cNvPr id="53" name="Rectangle 57"/>
            <p:cNvSpPr>
              <a:spLocks noChangeArrowheads="1"/>
            </p:cNvSpPr>
            <p:nvPr/>
          </p:nvSpPr>
          <p:spPr bwMode="auto">
            <a:xfrm flipV="1">
              <a:off x="6921" y="2881"/>
              <a:ext cx="131" cy="121"/>
            </a:xfrm>
            <a:prstGeom prst="rect">
              <a:avLst/>
            </a:prstGeom>
            <a:solidFill>
              <a:srgbClr val="B2B2B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54" name="Rectangle 58"/>
            <p:cNvSpPr>
              <a:spLocks noChangeArrowheads="1"/>
            </p:cNvSpPr>
            <p:nvPr/>
          </p:nvSpPr>
          <p:spPr bwMode="auto">
            <a:xfrm flipV="1">
              <a:off x="7052" y="2881"/>
              <a:ext cx="132" cy="121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55" name="Rectangle 59"/>
            <p:cNvSpPr>
              <a:spLocks noChangeArrowheads="1"/>
            </p:cNvSpPr>
            <p:nvPr/>
          </p:nvSpPr>
          <p:spPr bwMode="auto">
            <a:xfrm flipV="1">
              <a:off x="6657" y="2881"/>
              <a:ext cx="132" cy="121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56" name="Rectangle 60"/>
            <p:cNvSpPr>
              <a:spLocks noChangeArrowheads="1"/>
            </p:cNvSpPr>
            <p:nvPr/>
          </p:nvSpPr>
          <p:spPr bwMode="auto">
            <a:xfrm flipV="1">
              <a:off x="6789" y="2881"/>
              <a:ext cx="132" cy="121"/>
            </a:xfrm>
            <a:prstGeom prst="rect">
              <a:avLst/>
            </a:prstGeom>
            <a:solidFill>
              <a:srgbClr val="08080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sp>
        <p:nvSpPr>
          <p:cNvPr id="57" name="Rectangle 61"/>
          <p:cNvSpPr>
            <a:spLocks noChangeArrowheads="1"/>
          </p:cNvSpPr>
          <p:nvPr userDrawn="1"/>
        </p:nvSpPr>
        <p:spPr bwMode="auto">
          <a:xfrm>
            <a:off x="9199946" y="2263775"/>
            <a:ext cx="1051048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5804" tIns="32902" rIns="65804" bIns="32902"/>
          <a:lstStyle/>
          <a:p>
            <a:pPr marL="256989" indent="-256989">
              <a:lnSpc>
                <a:spcPct val="120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华文细黑" pitchFamily="2" charset="-122"/>
                <a:ea typeface="华文细黑" pitchFamily="2" charset="-122"/>
              </a:rPr>
              <a:t>配色参考方案</a:t>
            </a:r>
            <a:r>
              <a:rPr lang="en-US" altLang="zh-CN" sz="900" b="0" dirty="0">
                <a:solidFill>
                  <a:srgbClr val="F8F8F8"/>
                </a:solidFill>
                <a:latin typeface="华文细黑" pitchFamily="2" charset="-122"/>
                <a:ea typeface="华文细黑" pitchFamily="2" charset="-122"/>
              </a:rPr>
              <a:t>:</a:t>
            </a:r>
            <a:endParaRPr lang="zh-CN" altLang="en-US" sz="900" b="0" dirty="0">
              <a:solidFill>
                <a:srgbClr val="F8F8F8"/>
              </a:solidFill>
              <a:latin typeface="华文细黑" pitchFamily="2" charset="-122"/>
              <a:ea typeface="华文细黑" pitchFamily="2" charset="-122"/>
            </a:endParaRPr>
          </a:p>
          <a:p>
            <a:pPr marL="256989" indent="-256989">
              <a:lnSpc>
                <a:spcPct val="120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华文细黑" pitchFamily="2" charset="-122"/>
                <a:ea typeface="华文细黑" pitchFamily="2" charset="-122"/>
              </a:rPr>
              <a:t>建议同一页面内不超过四种颜色，以下是９组配色方案，同一页面内只选择一组使用。</a:t>
            </a:r>
          </a:p>
          <a:p>
            <a:pPr marL="256989" indent="-256989">
              <a:lnSpc>
                <a:spcPct val="120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华文细黑" pitchFamily="2" charset="-122"/>
                <a:ea typeface="华文细黑" pitchFamily="2" charset="-122"/>
              </a:rPr>
              <a:t>（仅供参考）</a:t>
            </a:r>
          </a:p>
        </p:txBody>
      </p:sp>
      <p:sp>
        <p:nvSpPr>
          <p:cNvPr id="58" name="Rectangle 62"/>
          <p:cNvSpPr>
            <a:spLocks noChangeArrowheads="1"/>
          </p:cNvSpPr>
          <p:nvPr userDrawn="1"/>
        </p:nvSpPr>
        <p:spPr bwMode="auto">
          <a:xfrm>
            <a:off x="9199946" y="-61913"/>
            <a:ext cx="1051048" cy="838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5804" tIns="32902" rIns="65804" bIns="32902"/>
          <a:lstStyle/>
          <a:p>
            <a:pPr marL="256989" indent="-256989">
              <a:lnSpc>
                <a:spcPct val="120000"/>
              </a:lnSpc>
              <a:spcBef>
                <a:spcPct val="20000"/>
              </a:spcBef>
              <a:buClr>
                <a:srgbClr val="990000"/>
              </a:buClr>
              <a:defRPr/>
            </a:pPr>
            <a:r>
              <a:rPr lang="zh-CN" altLang="en-US" sz="900" b="0" dirty="0">
                <a:solidFill>
                  <a:srgbClr val="F8F8F8"/>
                </a:solidFill>
                <a:latin typeface="华文细黑" pitchFamily="2" charset="-122"/>
                <a:ea typeface="华文细黑" pitchFamily="2" charset="-122"/>
              </a:rPr>
              <a:t>客户或者合作伙伴的标志放在右上角</a:t>
            </a:r>
            <a:r>
              <a:rPr lang="en-US" altLang="zh-CN" sz="900" b="0" dirty="0">
                <a:solidFill>
                  <a:srgbClr val="F8F8F8"/>
                </a:solidFill>
                <a:latin typeface="华文细黑" pitchFamily="2" charset="-122"/>
                <a:ea typeface="华文细黑" pitchFamily="2" charset="-122"/>
              </a:rPr>
              <a:t>.</a:t>
            </a:r>
          </a:p>
        </p:txBody>
      </p:sp>
      <p:sp>
        <p:nvSpPr>
          <p:cNvPr id="150836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72530" y="2130451"/>
            <a:ext cx="5511159" cy="1470025"/>
          </a:xfrm>
        </p:spPr>
        <p:txBody>
          <a:bodyPr/>
          <a:lstStyle>
            <a:lvl1pPr>
              <a:defRPr sz="2999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508365" name="Rectangle 1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72530" y="3933059"/>
            <a:ext cx="5509968" cy="708795"/>
          </a:xfrm>
        </p:spPr>
        <p:txBody>
          <a:bodyPr anchor="ctr"/>
          <a:lstStyle>
            <a:lvl1pPr marL="0" marR="0" indent="0" algn="r" defTabSz="68530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799">
                <a:solidFill>
                  <a:schemeClr val="bg1"/>
                </a:solidFill>
              </a:defRPr>
            </a:lvl1pPr>
          </a:lstStyle>
          <a:p>
            <a:pPr marL="0" marR="0" lvl="0" indent="0" algn="r" defTabSz="68530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99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华为技术有限公司 网络操作系统设计部</a:t>
            </a:r>
            <a:endParaRPr lang="en-US" altLang="zh-CN" sz="1499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  <a:p>
            <a:pPr marL="0" marR="0" lvl="0" indent="0" algn="r" defTabSz="68530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99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周鹏 </a:t>
            </a:r>
            <a:r>
              <a:rPr kumimoji="0" lang="en-US" altLang="zh-CN" sz="1499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00120129</a:t>
            </a:r>
          </a:p>
        </p:txBody>
      </p:sp>
    </p:spTree>
    <p:extLst>
      <p:ext uri="{BB962C8B-B14F-4D97-AF65-F5344CB8AC3E}">
        <p14:creationId xmlns:p14="http://schemas.microsoft.com/office/powerpoint/2010/main" val="225336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5636" y="274639"/>
            <a:ext cx="8229838" cy="778099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7624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535" y="4406923"/>
            <a:ext cx="7772757" cy="1362075"/>
          </a:xfrm>
        </p:spPr>
        <p:txBody>
          <a:bodyPr anchor="t"/>
          <a:lstStyle>
            <a:lvl1pPr algn="l">
              <a:defRPr sz="2999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535" y="2906713"/>
            <a:ext cx="7772757" cy="1500187"/>
          </a:xfrm>
        </p:spPr>
        <p:txBody>
          <a:bodyPr anchor="b"/>
          <a:lstStyle>
            <a:lvl1pPr marL="0" indent="0">
              <a:buNone/>
              <a:defRPr sz="1499"/>
            </a:lvl1pPr>
            <a:lvl2pPr marL="342653" indent="0">
              <a:buNone/>
              <a:defRPr sz="1274"/>
            </a:lvl2pPr>
            <a:lvl3pPr marL="685304" indent="0">
              <a:buNone/>
              <a:defRPr sz="1200"/>
            </a:lvl3pPr>
            <a:lvl4pPr marL="1027955" indent="0">
              <a:buNone/>
              <a:defRPr sz="975"/>
            </a:lvl4pPr>
            <a:lvl5pPr marL="1370606" indent="0">
              <a:buNone/>
              <a:defRPr sz="975"/>
            </a:lvl5pPr>
            <a:lvl6pPr marL="1713257" indent="0">
              <a:buNone/>
              <a:defRPr sz="975"/>
            </a:lvl6pPr>
            <a:lvl7pPr marL="2055909" indent="0">
              <a:buNone/>
              <a:defRPr sz="975"/>
            </a:lvl7pPr>
            <a:lvl8pPr marL="2398560" indent="0">
              <a:buNone/>
              <a:defRPr sz="975"/>
            </a:lvl8pPr>
            <a:lvl9pPr marL="2741210" indent="0">
              <a:buNone/>
              <a:defRPr sz="9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0114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5636" y="274639"/>
            <a:ext cx="8229838" cy="77809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5636" y="1600206"/>
            <a:ext cx="4057784" cy="4525963"/>
          </a:xfrm>
        </p:spPr>
        <p:txBody>
          <a:bodyPr/>
          <a:lstStyle>
            <a:lvl1pPr>
              <a:defRPr sz="2099"/>
            </a:lvl1pPr>
            <a:lvl2pPr>
              <a:defRPr sz="1799"/>
            </a:lvl2pPr>
            <a:lvl3pPr>
              <a:defRPr sz="1499"/>
            </a:lvl3pPr>
            <a:lvl4pPr>
              <a:defRPr sz="1274"/>
            </a:lvl4pPr>
            <a:lvl5pPr>
              <a:defRPr sz="1274"/>
            </a:lvl5pPr>
            <a:lvl6pPr>
              <a:defRPr sz="1274"/>
            </a:lvl6pPr>
            <a:lvl7pPr>
              <a:defRPr sz="1274"/>
            </a:lvl7pPr>
            <a:lvl8pPr>
              <a:defRPr sz="1274"/>
            </a:lvl8pPr>
            <a:lvl9pPr>
              <a:defRPr sz="127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7690" y="1600206"/>
            <a:ext cx="4057784" cy="4525963"/>
          </a:xfrm>
        </p:spPr>
        <p:txBody>
          <a:bodyPr/>
          <a:lstStyle>
            <a:lvl1pPr>
              <a:defRPr sz="2099"/>
            </a:lvl1pPr>
            <a:lvl2pPr>
              <a:defRPr sz="1799"/>
            </a:lvl2pPr>
            <a:lvl3pPr>
              <a:defRPr sz="1499"/>
            </a:lvl3pPr>
            <a:lvl4pPr>
              <a:defRPr sz="1274"/>
            </a:lvl4pPr>
            <a:lvl5pPr>
              <a:defRPr sz="1274"/>
            </a:lvl5pPr>
            <a:lvl6pPr>
              <a:defRPr sz="1274"/>
            </a:lvl6pPr>
            <a:lvl7pPr>
              <a:defRPr sz="1274"/>
            </a:lvl7pPr>
            <a:lvl8pPr>
              <a:defRPr sz="1274"/>
            </a:lvl8pPr>
            <a:lvl9pPr>
              <a:defRPr sz="127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1168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094" y="1535115"/>
            <a:ext cx="4039929" cy="639763"/>
          </a:xfrm>
        </p:spPr>
        <p:txBody>
          <a:bodyPr anchor="b"/>
          <a:lstStyle>
            <a:lvl1pPr marL="0" indent="0">
              <a:buNone/>
              <a:defRPr sz="1799" b="1"/>
            </a:lvl1pPr>
            <a:lvl2pPr marL="342653" indent="0">
              <a:buNone/>
              <a:defRPr sz="1499" b="1"/>
            </a:lvl2pPr>
            <a:lvl3pPr marL="685304" indent="0">
              <a:buNone/>
              <a:defRPr sz="1274" b="1"/>
            </a:lvl3pPr>
            <a:lvl4pPr marL="1027955" indent="0">
              <a:buNone/>
              <a:defRPr sz="1200" b="1"/>
            </a:lvl4pPr>
            <a:lvl5pPr marL="1370606" indent="0">
              <a:buNone/>
              <a:defRPr sz="1200" b="1"/>
            </a:lvl5pPr>
            <a:lvl6pPr marL="1713257" indent="0">
              <a:buNone/>
              <a:defRPr sz="1200" b="1"/>
            </a:lvl6pPr>
            <a:lvl7pPr marL="2055909" indent="0">
              <a:buNone/>
              <a:defRPr sz="1200" b="1"/>
            </a:lvl7pPr>
            <a:lvl8pPr marL="2398560" indent="0">
              <a:buNone/>
              <a:defRPr sz="1200" b="1"/>
            </a:lvl8pPr>
            <a:lvl9pPr marL="274121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094" y="2174875"/>
            <a:ext cx="4039929" cy="3951288"/>
          </a:xfrm>
        </p:spPr>
        <p:txBody>
          <a:bodyPr/>
          <a:lstStyle>
            <a:lvl1pPr>
              <a:defRPr sz="1799"/>
            </a:lvl1pPr>
            <a:lvl2pPr>
              <a:defRPr sz="1499"/>
            </a:lvl2pPr>
            <a:lvl3pPr>
              <a:defRPr sz="1274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09" y="1535115"/>
            <a:ext cx="4042310" cy="639763"/>
          </a:xfrm>
        </p:spPr>
        <p:txBody>
          <a:bodyPr anchor="b"/>
          <a:lstStyle>
            <a:lvl1pPr marL="0" indent="0">
              <a:buNone/>
              <a:defRPr sz="1799" b="1"/>
            </a:lvl1pPr>
            <a:lvl2pPr marL="342653" indent="0">
              <a:buNone/>
              <a:defRPr sz="1499" b="1"/>
            </a:lvl2pPr>
            <a:lvl3pPr marL="685304" indent="0">
              <a:buNone/>
              <a:defRPr sz="1274" b="1"/>
            </a:lvl3pPr>
            <a:lvl4pPr marL="1027955" indent="0">
              <a:buNone/>
              <a:defRPr sz="1200" b="1"/>
            </a:lvl4pPr>
            <a:lvl5pPr marL="1370606" indent="0">
              <a:buNone/>
              <a:defRPr sz="1200" b="1"/>
            </a:lvl5pPr>
            <a:lvl6pPr marL="1713257" indent="0">
              <a:buNone/>
              <a:defRPr sz="1200" b="1"/>
            </a:lvl6pPr>
            <a:lvl7pPr marL="2055909" indent="0">
              <a:buNone/>
              <a:defRPr sz="1200" b="1"/>
            </a:lvl7pPr>
            <a:lvl8pPr marL="2398560" indent="0">
              <a:buNone/>
              <a:defRPr sz="1200" b="1"/>
            </a:lvl8pPr>
            <a:lvl9pPr marL="274121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09" y="2174875"/>
            <a:ext cx="4042310" cy="3951288"/>
          </a:xfrm>
        </p:spPr>
        <p:txBody>
          <a:bodyPr/>
          <a:lstStyle>
            <a:lvl1pPr>
              <a:defRPr sz="1799"/>
            </a:lvl1pPr>
            <a:lvl2pPr>
              <a:defRPr sz="1499"/>
            </a:lvl2pPr>
            <a:lvl3pPr>
              <a:defRPr sz="1274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585636" y="274639"/>
            <a:ext cx="8229838" cy="77809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65305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585636" y="274639"/>
            <a:ext cx="8229838" cy="778099"/>
          </a:xfrm>
        </p:spPr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48772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676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082" y="273051"/>
            <a:ext cx="3007926" cy="1162051"/>
          </a:xfrm>
        </p:spPr>
        <p:txBody>
          <a:bodyPr anchor="b"/>
          <a:lstStyle>
            <a:lvl1pPr algn="l">
              <a:defRPr sz="14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4517" y="273064"/>
            <a:ext cx="5112403" cy="5853113"/>
          </a:xfrm>
        </p:spPr>
        <p:txBody>
          <a:bodyPr/>
          <a:lstStyle>
            <a:lvl1pPr>
              <a:defRPr sz="2399"/>
            </a:lvl1pPr>
            <a:lvl2pPr>
              <a:defRPr sz="2099"/>
            </a:lvl2pPr>
            <a:lvl3pPr>
              <a:defRPr sz="1799"/>
            </a:lvl3pPr>
            <a:lvl4pPr>
              <a:defRPr sz="1499"/>
            </a:lvl4pPr>
            <a:lvl5pPr>
              <a:defRPr sz="1499"/>
            </a:lvl5pPr>
            <a:lvl6pPr>
              <a:defRPr sz="1499"/>
            </a:lvl6pPr>
            <a:lvl7pPr>
              <a:defRPr sz="1499"/>
            </a:lvl7pPr>
            <a:lvl8pPr>
              <a:defRPr sz="1499"/>
            </a:lvl8pPr>
            <a:lvl9pPr>
              <a:defRPr sz="14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082" y="1435104"/>
            <a:ext cx="3007926" cy="4691063"/>
          </a:xfrm>
        </p:spPr>
        <p:txBody>
          <a:bodyPr/>
          <a:lstStyle>
            <a:lvl1pPr marL="0" indent="0">
              <a:buNone/>
              <a:defRPr sz="975"/>
            </a:lvl1pPr>
            <a:lvl2pPr marL="342653" indent="0">
              <a:buNone/>
              <a:defRPr sz="900"/>
            </a:lvl2pPr>
            <a:lvl3pPr marL="685304" indent="0">
              <a:buNone/>
              <a:defRPr sz="675"/>
            </a:lvl3pPr>
            <a:lvl4pPr marL="1027955" indent="0">
              <a:buNone/>
              <a:defRPr sz="675"/>
            </a:lvl4pPr>
            <a:lvl5pPr marL="1370606" indent="0">
              <a:buNone/>
              <a:defRPr sz="675"/>
            </a:lvl5pPr>
            <a:lvl6pPr marL="1713257" indent="0">
              <a:buNone/>
              <a:defRPr sz="675"/>
            </a:lvl6pPr>
            <a:lvl7pPr marL="2055909" indent="0">
              <a:buNone/>
              <a:defRPr sz="675"/>
            </a:lvl7pPr>
            <a:lvl8pPr marL="2398560" indent="0">
              <a:buNone/>
              <a:defRPr sz="675"/>
            </a:lvl8pPr>
            <a:lvl9pPr marL="274121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77697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616" y="4800603"/>
            <a:ext cx="5486162" cy="566739"/>
          </a:xfrm>
        </p:spPr>
        <p:txBody>
          <a:bodyPr anchor="b"/>
          <a:lstStyle>
            <a:lvl1pPr algn="l">
              <a:defRPr sz="14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616" y="612775"/>
            <a:ext cx="5486162" cy="4114800"/>
          </a:xfrm>
        </p:spPr>
        <p:txBody>
          <a:bodyPr/>
          <a:lstStyle>
            <a:lvl1pPr marL="0" indent="0">
              <a:buNone/>
              <a:defRPr sz="2399"/>
            </a:lvl1pPr>
            <a:lvl2pPr marL="342653" indent="0">
              <a:buNone/>
              <a:defRPr sz="2099"/>
            </a:lvl2pPr>
            <a:lvl3pPr marL="685304" indent="0">
              <a:buNone/>
              <a:defRPr sz="1799"/>
            </a:lvl3pPr>
            <a:lvl4pPr marL="1027955" indent="0">
              <a:buNone/>
              <a:defRPr sz="1499"/>
            </a:lvl4pPr>
            <a:lvl5pPr marL="1370606" indent="0">
              <a:buNone/>
              <a:defRPr sz="1499"/>
            </a:lvl5pPr>
            <a:lvl6pPr marL="1713257" indent="0">
              <a:buNone/>
              <a:defRPr sz="1499"/>
            </a:lvl6pPr>
            <a:lvl7pPr marL="2055909" indent="0">
              <a:buNone/>
              <a:defRPr sz="1499"/>
            </a:lvl7pPr>
            <a:lvl8pPr marL="2398560" indent="0">
              <a:buNone/>
              <a:defRPr sz="1499"/>
            </a:lvl8pPr>
            <a:lvl9pPr marL="2741210" indent="0">
              <a:buNone/>
              <a:defRPr sz="1499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616" y="5367343"/>
            <a:ext cx="5486162" cy="804863"/>
          </a:xfrm>
        </p:spPr>
        <p:txBody>
          <a:bodyPr/>
          <a:lstStyle>
            <a:lvl1pPr marL="0" indent="0">
              <a:buNone/>
              <a:defRPr sz="975"/>
            </a:lvl1pPr>
            <a:lvl2pPr marL="342653" indent="0">
              <a:buNone/>
              <a:defRPr sz="900"/>
            </a:lvl2pPr>
            <a:lvl3pPr marL="685304" indent="0">
              <a:buNone/>
              <a:defRPr sz="675"/>
            </a:lvl3pPr>
            <a:lvl4pPr marL="1027955" indent="0">
              <a:buNone/>
              <a:defRPr sz="675"/>
            </a:lvl4pPr>
            <a:lvl5pPr marL="1370606" indent="0">
              <a:buNone/>
              <a:defRPr sz="675"/>
            </a:lvl5pPr>
            <a:lvl6pPr marL="1713257" indent="0">
              <a:buNone/>
              <a:defRPr sz="675"/>
            </a:lvl6pPr>
            <a:lvl7pPr marL="2055909" indent="0">
              <a:buNone/>
              <a:defRPr sz="675"/>
            </a:lvl7pPr>
            <a:lvl8pPr marL="2398560" indent="0">
              <a:buNone/>
              <a:defRPr sz="675"/>
            </a:lvl8pPr>
            <a:lvl9pPr marL="274121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2661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95490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8608" y="274647"/>
            <a:ext cx="2056865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5636" y="274647"/>
            <a:ext cx="605870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06132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9357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667" y="456134"/>
            <a:ext cx="8052335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2572"/>
              </a:lnSpc>
              <a:spcBef>
                <a:spcPct val="0"/>
              </a:spcBef>
              <a:buNone/>
              <a:defRPr sz="23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45202" indent="0" algn="ctr">
              <a:buNone/>
              <a:defRPr sz="1948"/>
            </a:lvl2pPr>
            <a:lvl3pPr marL="890403" indent="0" algn="ctr">
              <a:buNone/>
              <a:defRPr sz="1752"/>
            </a:lvl3pPr>
            <a:lvl4pPr marL="1335606" indent="0" algn="ctr">
              <a:buNone/>
              <a:defRPr sz="1558"/>
            </a:lvl4pPr>
            <a:lvl5pPr marL="1780808" indent="0" algn="ctr">
              <a:buNone/>
              <a:defRPr sz="1558"/>
            </a:lvl5pPr>
            <a:lvl6pPr marL="2226009" indent="0" algn="ctr">
              <a:buNone/>
              <a:defRPr sz="1558"/>
            </a:lvl6pPr>
            <a:lvl7pPr marL="2671211" indent="0" algn="ctr">
              <a:buNone/>
              <a:defRPr sz="1558"/>
            </a:lvl7pPr>
            <a:lvl8pPr marL="3116414" indent="0" algn="ctr">
              <a:buNone/>
              <a:defRPr sz="1558"/>
            </a:lvl8pPr>
            <a:lvl9pPr marL="3561615" indent="0" algn="ctr">
              <a:buNone/>
              <a:defRPr sz="155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52467" y="1501991"/>
            <a:ext cx="8047024" cy="4690459"/>
          </a:xfrm>
          <a:prstGeom prst="rect">
            <a:avLst/>
          </a:prstGeom>
        </p:spPr>
        <p:txBody>
          <a:bodyPr lIns="0" tIns="0" rIns="0" bIns="0"/>
          <a:lstStyle>
            <a:lvl1pPr marL="9275" indent="0">
              <a:lnSpc>
                <a:spcPct val="100000"/>
              </a:lnSpc>
              <a:spcBef>
                <a:spcPct val="0"/>
              </a:spcBef>
              <a:buFontTx/>
              <a:buNone/>
              <a:tabLst>
                <a:tab pos="905863" algn="ctr"/>
              </a:tabLst>
              <a:defRPr sz="134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94190" indent="-128306">
              <a:buFont typeface="Arial" panose="020B0604020202020204" pitchFamily="34" charset="0"/>
              <a:buChar char="•"/>
              <a:tabLst>
                <a:tab pos="905863" algn="ctr"/>
              </a:tabLst>
              <a:defRPr sz="974" baseline="0"/>
            </a:lvl2pPr>
            <a:lvl3pPr marL="394190" indent="-128306">
              <a:buFont typeface="Arial" panose="020B0604020202020204" pitchFamily="34" charset="0"/>
              <a:buChar char="•"/>
              <a:tabLst>
                <a:tab pos="905863" algn="ctr"/>
              </a:tabLst>
              <a:defRPr sz="974" baseline="0"/>
            </a:lvl3pPr>
            <a:lvl4pPr marL="394190" indent="-128306">
              <a:buFont typeface="Arial" panose="020B0604020202020204" pitchFamily="34" charset="0"/>
              <a:buChar char="•"/>
              <a:tabLst>
                <a:tab pos="905863" algn="ctr"/>
              </a:tabLst>
              <a:defRPr sz="974" baseline="0"/>
            </a:lvl4pPr>
            <a:lvl5pPr marL="394190" indent="-128306">
              <a:buFont typeface="Arial" panose="020B0604020202020204" pitchFamily="34" charset="0"/>
              <a:buChar char="•"/>
              <a:tabLst>
                <a:tab pos="905863" algn="ctr"/>
              </a:tabLst>
              <a:defRPr sz="974" baseline="0"/>
            </a:lvl5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23039"/>
      </p:ext>
    </p:extLst>
  </p:cSld>
  <p:clrMapOvr>
    <a:masterClrMapping/>
  </p:clrMapOvr>
  <p:transition/>
  <p:extLst mod="1"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609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245" y="430894"/>
            <a:ext cx="7744795" cy="8708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3245" y="1641929"/>
            <a:ext cx="7928827" cy="41940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61044" y="6489098"/>
            <a:ext cx="2097402" cy="45659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Page </a:t>
            </a:r>
            <a:fld id="{7DE44480-30F5-4BEC-A8E5-AD5EBC030909}" type="slidenum">
              <a:rPr lang="de-DE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038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621F-DD7B-4D83-8F21-08B46BE0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20D2F-8F6D-4CA6-B247-4D6AC8452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12F9-4248-461D-8EDB-851765B239AD}" type="datetimeFigureOut">
              <a:rPr lang="en-GB" smtClean="0"/>
              <a:t>17/06/2024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955F4-E0CA-4F67-8F08-A700ACCE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23ECE-55F1-4658-AD47-909623D3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26F-FA70-4E2F-93D6-FC02EF25DB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61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4B46973-BEA8-4043-9782-700C03BBBD67}"/>
              </a:ext>
            </a:extLst>
          </p:cNvPr>
          <p:cNvSpPr txBox="1">
            <a:spLocks/>
          </p:cNvSpPr>
          <p:nvPr userDrawn="1"/>
        </p:nvSpPr>
        <p:spPr>
          <a:xfrm>
            <a:off x="173918" y="6529157"/>
            <a:ext cx="263982" cy="269241"/>
          </a:xfrm>
          <a:prstGeom prst="rect">
            <a:avLst/>
          </a:prstGeom>
        </p:spPr>
        <p:txBody>
          <a:bodyPr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2" descr="Huawei">
            <a:extLst>
              <a:ext uri="{FF2B5EF4-FFF2-40B4-BE49-F238E27FC236}">
                <a16:creationId xmlns:a16="http://schemas.microsoft.com/office/drawing/2014/main" id="{86CF5CF0-BD0B-4279-8225-1C2EAD4085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882" y="6317746"/>
            <a:ext cx="2109423" cy="4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22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CF103A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CF103A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CF103A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CF103A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CF103A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CF103A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CF103A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CF103A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CF103A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Courier New"/>
        <a:buChar char="o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42950" marR="0" indent="-28575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Courier New"/>
        <a:buChar char="–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181100" marR="0" indent="-26670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Courier New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691639" marR="0" indent="-32003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Courier New"/>
        <a:buChar char="–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48839" marR="0" indent="-32003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Courier New"/>
        <a:buChar char="»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06039" marR="0" indent="-32003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Courier New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63239" marR="0" indent="-32003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Courier New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20440" marR="0" indent="-32004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Courier New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3977640" marR="0" indent="-32004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Courier New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8" descr="内页元素3-1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0"/>
            <a:ext cx="9142810" cy="649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0543" name="Text Box 79"/>
          <p:cNvSpPr txBox="1">
            <a:spLocks noChangeArrowheads="1"/>
          </p:cNvSpPr>
          <p:nvPr/>
        </p:nvSpPr>
        <p:spPr bwMode="auto">
          <a:xfrm>
            <a:off x="652293" y="6467499"/>
            <a:ext cx="1465125" cy="197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8728" tIns="29366" rIns="58728" bIns="29366">
            <a:spAutoFit/>
          </a:bodyPr>
          <a:lstStyle/>
          <a:p>
            <a:pPr defTabSz="587742" eaLnBrk="0" hangingPunct="0">
              <a:defRPr/>
            </a:pPr>
            <a:r>
              <a:rPr lang="en-US" altLang="zh-CN" sz="900" b="0" dirty="0">
                <a:latin typeface="FrutigerNext LT Bold" pitchFamily="20" charset="0"/>
                <a:ea typeface="MS PGothic" pitchFamily="34" charset="-128"/>
              </a:rPr>
              <a:t>HISILICON SEMICONDUCTOR</a:t>
            </a:r>
          </a:p>
        </p:txBody>
      </p:sp>
      <p:grpSp>
        <p:nvGrpSpPr>
          <p:cNvPr id="1029" name="Group 81"/>
          <p:cNvGrpSpPr>
            <a:grpSpLocks/>
          </p:cNvGrpSpPr>
          <p:nvPr/>
        </p:nvGrpSpPr>
        <p:grpSpPr bwMode="auto">
          <a:xfrm>
            <a:off x="0" y="6216651"/>
            <a:ext cx="9144000" cy="635000"/>
            <a:chOff x="0" y="3920"/>
            <a:chExt cx="7682" cy="400"/>
          </a:xfrm>
        </p:grpSpPr>
        <p:pic>
          <p:nvPicPr>
            <p:cNvPr id="1084" name="Picture 82" descr="图片1"/>
            <p:cNvPicPr>
              <a:picLocks noChangeAspect="1" noChangeArrowheads="1"/>
            </p:cNvPicPr>
            <p:nvPr userDrawn="1"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920"/>
              <a:ext cx="5760" cy="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85" name="Picture 83" descr="图片1"/>
            <p:cNvPicPr>
              <a:picLocks noChangeAspect="1" noChangeArrowheads="1"/>
            </p:cNvPicPr>
            <p:nvPr userDrawn="1"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9" y="3920"/>
              <a:ext cx="5760" cy="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86" name="Picture 84" descr="图片1"/>
            <p:cNvPicPr>
              <a:picLocks noChangeAspect="1" noChangeArrowheads="1"/>
            </p:cNvPicPr>
            <p:nvPr userDrawn="1"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6619" y="3920"/>
              <a:ext cx="1063" cy="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70549" name="Text Box 85"/>
          <p:cNvSpPr txBox="1">
            <a:spLocks noChangeArrowheads="1"/>
          </p:cNvSpPr>
          <p:nvPr/>
        </p:nvSpPr>
        <p:spPr bwMode="auto">
          <a:xfrm>
            <a:off x="652296" y="6457973"/>
            <a:ext cx="2080679" cy="197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8728" tIns="29366" rIns="58728" bIns="29366">
            <a:spAutoFit/>
          </a:bodyPr>
          <a:lstStyle/>
          <a:p>
            <a:pPr defTabSz="587742" eaLnBrk="0" hangingPunct="0">
              <a:defRPr/>
            </a:pPr>
            <a:r>
              <a:rPr lang="en-US" altLang="zh-CN" sz="900" dirty="0">
                <a:latin typeface="Arial" charset="0"/>
                <a:ea typeface="MS PGothic" pitchFamily="34" charset="-128"/>
              </a:rPr>
              <a:t>HUAWEI TECHNOLOGIES CO., LTD.</a:t>
            </a:r>
          </a:p>
        </p:txBody>
      </p:sp>
      <p:sp>
        <p:nvSpPr>
          <p:cNvPr id="1470550" name="Rectangle 86"/>
          <p:cNvSpPr>
            <a:spLocks noChangeArrowheads="1"/>
          </p:cNvSpPr>
          <p:nvPr/>
        </p:nvSpPr>
        <p:spPr bwMode="auto">
          <a:xfrm>
            <a:off x="5931342" y="6471398"/>
            <a:ext cx="527042" cy="167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59360" tIns="29681" rIns="59360" bIns="29681">
            <a:spAutoFit/>
          </a:bodyPr>
          <a:lstStyle/>
          <a:p>
            <a:pPr defTabSz="587742" eaLnBrk="0" hangingPunct="0">
              <a:lnSpc>
                <a:spcPct val="85000"/>
              </a:lnSpc>
            </a:pPr>
            <a:r>
              <a:rPr lang="de-DE" altLang="zh-CN" sz="825" b="0" kern="120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rPr>
              <a:t>Page </a:t>
            </a:r>
            <a:fld id="{681F509B-6304-4899-9022-413807E4E575}" type="slidenum">
              <a:rPr lang="de-DE" altLang="zh-CN" sz="825" b="0" kern="1200" smtClean="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rPr>
              <a:pPr defTabSz="587742" eaLnBrk="0" hangingPunct="0">
                <a:lnSpc>
                  <a:spcPct val="85000"/>
                </a:lnSpc>
              </a:pPr>
              <a:t>‹#›</a:t>
            </a:fld>
            <a:endParaRPr lang="en-GB" altLang="zh-CN" sz="825" b="0" kern="1200" dirty="0">
              <a:solidFill>
                <a:schemeClr val="tx1"/>
              </a:solidFill>
              <a:latin typeface="Arial" charset="0"/>
              <a:ea typeface="MS PGothic" pitchFamily="34" charset="-128"/>
              <a:cs typeface="+mn-cs"/>
            </a:endParaRPr>
          </a:p>
        </p:txBody>
      </p:sp>
      <p:pic>
        <p:nvPicPr>
          <p:cNvPr id="1032" name="Picture 87" descr="图片3副本"/>
          <p:cNvPicPr>
            <a:picLocks noChangeAspect="1" noChangeArrowheads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34682" y="6386539"/>
            <a:ext cx="97129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Rectangle 88"/>
          <p:cNvSpPr>
            <a:spLocks noGrp="1" noChangeArrowheads="1"/>
          </p:cNvSpPr>
          <p:nvPr>
            <p:ph type="title"/>
          </p:nvPr>
        </p:nvSpPr>
        <p:spPr bwMode="auto">
          <a:xfrm>
            <a:off x="585636" y="274637"/>
            <a:ext cx="822983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01" tIns="45700" rIns="91401" bIns="457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4" name="Rectangle 8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5636" y="1600206"/>
            <a:ext cx="8229838" cy="4525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01" tIns="45700" rIns="91401" bIns="457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70603" name="Rectangle 139"/>
          <p:cNvSpPr>
            <a:spLocks noChangeArrowheads="1"/>
          </p:cNvSpPr>
          <p:nvPr/>
        </p:nvSpPr>
        <p:spPr bwMode="auto">
          <a:xfrm>
            <a:off x="9268996" y="5485124"/>
            <a:ext cx="920114" cy="242313"/>
          </a:xfrm>
          <a:prstGeom prst="rect">
            <a:avLst/>
          </a:prstGeom>
          <a:solidFill>
            <a:srgbClr val="F8F8F8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21" tIns="34260" rIns="68521" bIns="34260" anchor="ctr">
            <a:spAutoFit/>
          </a:bodyPr>
          <a:lstStyle/>
          <a:p>
            <a:pPr algn="ctr" defTabSz="657939" eaLnBrk="0" hangingPunct="0"/>
            <a:endParaRPr lang="zh-CN" altLang="zh-CN" sz="1125" b="0" dirty="0">
              <a:latin typeface="FrutigerNext LT Regular" pitchFamily="34" charset="0"/>
              <a:ea typeface="ＭＳ Ｐゴシック" pitchFamily="34" charset="-128"/>
            </a:endParaRPr>
          </a:p>
        </p:txBody>
      </p:sp>
      <p:grpSp>
        <p:nvGrpSpPr>
          <p:cNvPr id="1037" name="Group 140"/>
          <p:cNvGrpSpPr>
            <a:grpSpLocks/>
          </p:cNvGrpSpPr>
          <p:nvPr/>
        </p:nvGrpSpPr>
        <p:grpSpPr bwMode="auto">
          <a:xfrm>
            <a:off x="9352305" y="5278443"/>
            <a:ext cx="741566" cy="184151"/>
            <a:chOff x="6657" y="3492"/>
            <a:chExt cx="527" cy="121"/>
          </a:xfrm>
        </p:grpSpPr>
        <p:sp>
          <p:nvSpPr>
            <p:cNvPr id="1470605" name="Rectangle 141"/>
            <p:cNvSpPr>
              <a:spLocks noChangeArrowheads="1"/>
            </p:cNvSpPr>
            <p:nvPr/>
          </p:nvSpPr>
          <p:spPr bwMode="auto">
            <a:xfrm flipV="1">
              <a:off x="6789" y="3492"/>
              <a:ext cx="132" cy="121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06" name="Rectangle 142"/>
            <p:cNvSpPr>
              <a:spLocks noChangeArrowheads="1"/>
            </p:cNvSpPr>
            <p:nvPr/>
          </p:nvSpPr>
          <p:spPr bwMode="auto">
            <a:xfrm flipV="1">
              <a:off x="6921" y="3492"/>
              <a:ext cx="131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07" name="Rectangle 143"/>
            <p:cNvSpPr>
              <a:spLocks noChangeArrowheads="1"/>
            </p:cNvSpPr>
            <p:nvPr/>
          </p:nvSpPr>
          <p:spPr bwMode="auto">
            <a:xfrm flipV="1">
              <a:off x="7052" y="3492"/>
              <a:ext cx="132" cy="121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08" name="Rectangle 144"/>
            <p:cNvSpPr>
              <a:spLocks noChangeArrowheads="1"/>
            </p:cNvSpPr>
            <p:nvPr/>
          </p:nvSpPr>
          <p:spPr bwMode="auto">
            <a:xfrm flipV="1">
              <a:off x="6657" y="3492"/>
              <a:ext cx="132" cy="121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38" name="Group 145"/>
          <p:cNvGrpSpPr>
            <a:grpSpLocks/>
          </p:cNvGrpSpPr>
          <p:nvPr/>
        </p:nvGrpSpPr>
        <p:grpSpPr bwMode="auto">
          <a:xfrm>
            <a:off x="9352305" y="6203975"/>
            <a:ext cx="741566" cy="182563"/>
            <a:chOff x="6657" y="4103"/>
            <a:chExt cx="527" cy="121"/>
          </a:xfrm>
        </p:grpSpPr>
        <p:sp>
          <p:nvSpPr>
            <p:cNvPr id="1470610" name="Rectangle 146"/>
            <p:cNvSpPr>
              <a:spLocks noChangeArrowheads="1"/>
            </p:cNvSpPr>
            <p:nvPr/>
          </p:nvSpPr>
          <p:spPr bwMode="auto">
            <a:xfrm flipV="1">
              <a:off x="6789" y="4103"/>
              <a:ext cx="132" cy="12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11" name="Rectangle 147"/>
            <p:cNvSpPr>
              <a:spLocks noChangeArrowheads="1"/>
            </p:cNvSpPr>
            <p:nvPr/>
          </p:nvSpPr>
          <p:spPr bwMode="auto">
            <a:xfrm flipV="1">
              <a:off x="6921" y="4103"/>
              <a:ext cx="131" cy="121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12" name="Rectangle 148"/>
            <p:cNvSpPr>
              <a:spLocks noChangeArrowheads="1"/>
            </p:cNvSpPr>
            <p:nvPr/>
          </p:nvSpPr>
          <p:spPr bwMode="auto">
            <a:xfrm flipV="1">
              <a:off x="7052" y="4103"/>
              <a:ext cx="132" cy="121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13" name="Rectangle 149"/>
            <p:cNvSpPr>
              <a:spLocks noChangeArrowheads="1"/>
            </p:cNvSpPr>
            <p:nvPr/>
          </p:nvSpPr>
          <p:spPr bwMode="auto">
            <a:xfrm flipV="1">
              <a:off x="6657" y="4103"/>
              <a:ext cx="132" cy="121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39" name="Group 150"/>
          <p:cNvGrpSpPr>
            <a:grpSpLocks/>
          </p:cNvGrpSpPr>
          <p:nvPr/>
        </p:nvGrpSpPr>
        <p:grpSpPr bwMode="auto">
          <a:xfrm>
            <a:off x="9352305" y="6450015"/>
            <a:ext cx="741566" cy="182563"/>
            <a:chOff x="6657" y="4266"/>
            <a:chExt cx="527" cy="121"/>
          </a:xfrm>
        </p:grpSpPr>
        <p:sp>
          <p:nvSpPr>
            <p:cNvPr id="1470615" name="Rectangle 151"/>
            <p:cNvSpPr>
              <a:spLocks noChangeArrowheads="1"/>
            </p:cNvSpPr>
            <p:nvPr/>
          </p:nvSpPr>
          <p:spPr bwMode="auto">
            <a:xfrm flipV="1">
              <a:off x="6789" y="4266"/>
              <a:ext cx="132" cy="121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16" name="Rectangle 152"/>
            <p:cNvSpPr>
              <a:spLocks noChangeArrowheads="1"/>
            </p:cNvSpPr>
            <p:nvPr/>
          </p:nvSpPr>
          <p:spPr bwMode="auto">
            <a:xfrm flipV="1">
              <a:off x="6921" y="4266"/>
              <a:ext cx="131" cy="121"/>
            </a:xfrm>
            <a:prstGeom prst="rect">
              <a:avLst/>
            </a:prstGeom>
            <a:solidFill>
              <a:srgbClr val="0099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17" name="Rectangle 153"/>
            <p:cNvSpPr>
              <a:spLocks noChangeArrowheads="1"/>
            </p:cNvSpPr>
            <p:nvPr/>
          </p:nvSpPr>
          <p:spPr bwMode="auto">
            <a:xfrm flipV="1">
              <a:off x="7052" y="4266"/>
              <a:ext cx="132" cy="121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18" name="Rectangle 154"/>
            <p:cNvSpPr>
              <a:spLocks noChangeArrowheads="1"/>
            </p:cNvSpPr>
            <p:nvPr/>
          </p:nvSpPr>
          <p:spPr bwMode="auto">
            <a:xfrm flipV="1">
              <a:off x="6657" y="4266"/>
              <a:ext cx="132" cy="12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40" name="Group 155"/>
          <p:cNvGrpSpPr>
            <a:grpSpLocks/>
          </p:cNvGrpSpPr>
          <p:nvPr/>
        </p:nvGrpSpPr>
        <p:grpSpPr bwMode="auto">
          <a:xfrm>
            <a:off x="9352305" y="5527699"/>
            <a:ext cx="741566" cy="182563"/>
            <a:chOff x="6657" y="3656"/>
            <a:chExt cx="527" cy="121"/>
          </a:xfrm>
        </p:grpSpPr>
        <p:sp>
          <p:nvSpPr>
            <p:cNvPr id="1470620" name="Rectangle 156"/>
            <p:cNvSpPr>
              <a:spLocks noChangeArrowheads="1"/>
            </p:cNvSpPr>
            <p:nvPr/>
          </p:nvSpPr>
          <p:spPr bwMode="auto">
            <a:xfrm flipV="1">
              <a:off x="6657" y="3656"/>
              <a:ext cx="132" cy="12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21" name="Rectangle 157"/>
            <p:cNvSpPr>
              <a:spLocks noChangeArrowheads="1"/>
            </p:cNvSpPr>
            <p:nvPr/>
          </p:nvSpPr>
          <p:spPr bwMode="auto">
            <a:xfrm flipV="1">
              <a:off x="6789" y="3656"/>
              <a:ext cx="132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22" name="Rectangle 158"/>
            <p:cNvSpPr>
              <a:spLocks noChangeArrowheads="1"/>
            </p:cNvSpPr>
            <p:nvPr/>
          </p:nvSpPr>
          <p:spPr bwMode="auto">
            <a:xfrm flipV="1">
              <a:off x="6921" y="3656"/>
              <a:ext cx="131" cy="121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23" name="Rectangle 159"/>
            <p:cNvSpPr>
              <a:spLocks noChangeArrowheads="1"/>
            </p:cNvSpPr>
            <p:nvPr/>
          </p:nvSpPr>
          <p:spPr bwMode="auto">
            <a:xfrm flipV="1">
              <a:off x="7052" y="3656"/>
              <a:ext cx="132" cy="121"/>
            </a:xfrm>
            <a:prstGeom prst="rect">
              <a:avLst/>
            </a:prstGeom>
            <a:solidFill>
              <a:srgbClr val="08080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41" name="Group 160"/>
          <p:cNvGrpSpPr>
            <a:grpSpLocks/>
          </p:cNvGrpSpPr>
          <p:nvPr/>
        </p:nvGrpSpPr>
        <p:grpSpPr bwMode="auto">
          <a:xfrm>
            <a:off x="9352305" y="5957891"/>
            <a:ext cx="741566" cy="182563"/>
            <a:chOff x="6657" y="3941"/>
            <a:chExt cx="527" cy="121"/>
          </a:xfrm>
        </p:grpSpPr>
        <p:sp>
          <p:nvSpPr>
            <p:cNvPr id="1470625" name="Rectangle 161"/>
            <p:cNvSpPr>
              <a:spLocks noChangeArrowheads="1"/>
            </p:cNvSpPr>
            <p:nvPr/>
          </p:nvSpPr>
          <p:spPr bwMode="auto">
            <a:xfrm flipV="1">
              <a:off x="6789" y="3941"/>
              <a:ext cx="132" cy="12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26" name="Rectangle 162"/>
            <p:cNvSpPr>
              <a:spLocks noChangeArrowheads="1"/>
            </p:cNvSpPr>
            <p:nvPr/>
          </p:nvSpPr>
          <p:spPr bwMode="auto">
            <a:xfrm flipV="1">
              <a:off x="6921" y="3941"/>
              <a:ext cx="131" cy="121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27" name="Rectangle 163"/>
            <p:cNvSpPr>
              <a:spLocks noChangeArrowheads="1"/>
            </p:cNvSpPr>
            <p:nvPr/>
          </p:nvSpPr>
          <p:spPr bwMode="auto">
            <a:xfrm flipV="1">
              <a:off x="7052" y="3941"/>
              <a:ext cx="132" cy="121"/>
            </a:xfrm>
            <a:prstGeom prst="rect">
              <a:avLst/>
            </a:prstGeom>
            <a:solidFill>
              <a:srgbClr val="08080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28" name="Rectangle 164"/>
            <p:cNvSpPr>
              <a:spLocks noChangeArrowheads="1"/>
            </p:cNvSpPr>
            <p:nvPr/>
          </p:nvSpPr>
          <p:spPr bwMode="auto">
            <a:xfrm flipV="1">
              <a:off x="6657" y="3941"/>
              <a:ext cx="132" cy="12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42" name="Group 165"/>
          <p:cNvGrpSpPr>
            <a:grpSpLocks/>
          </p:cNvGrpSpPr>
          <p:nvPr/>
        </p:nvGrpSpPr>
        <p:grpSpPr bwMode="auto">
          <a:xfrm>
            <a:off x="9352305" y="6697667"/>
            <a:ext cx="741566" cy="182563"/>
            <a:chOff x="6657" y="4430"/>
            <a:chExt cx="527" cy="121"/>
          </a:xfrm>
        </p:grpSpPr>
        <p:sp>
          <p:nvSpPr>
            <p:cNvPr id="1470630" name="Rectangle 166"/>
            <p:cNvSpPr>
              <a:spLocks noChangeArrowheads="1"/>
            </p:cNvSpPr>
            <p:nvPr/>
          </p:nvSpPr>
          <p:spPr bwMode="auto">
            <a:xfrm flipV="1">
              <a:off x="6789" y="4430"/>
              <a:ext cx="132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31" name="Rectangle 167"/>
            <p:cNvSpPr>
              <a:spLocks noChangeArrowheads="1"/>
            </p:cNvSpPr>
            <p:nvPr/>
          </p:nvSpPr>
          <p:spPr bwMode="auto">
            <a:xfrm flipV="1">
              <a:off x="6921" y="4430"/>
              <a:ext cx="131" cy="121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32" name="Rectangle 168"/>
            <p:cNvSpPr>
              <a:spLocks noChangeArrowheads="1"/>
            </p:cNvSpPr>
            <p:nvPr/>
          </p:nvSpPr>
          <p:spPr bwMode="auto">
            <a:xfrm flipV="1">
              <a:off x="7052" y="4430"/>
              <a:ext cx="132" cy="121"/>
            </a:xfrm>
            <a:prstGeom prst="rect">
              <a:avLst/>
            </a:prstGeom>
            <a:solidFill>
              <a:srgbClr val="08080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33" name="Rectangle 169"/>
            <p:cNvSpPr>
              <a:spLocks noChangeArrowheads="1"/>
            </p:cNvSpPr>
            <p:nvPr/>
          </p:nvSpPr>
          <p:spPr bwMode="auto">
            <a:xfrm flipV="1">
              <a:off x="6657" y="4430"/>
              <a:ext cx="132" cy="12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43" name="Group 170"/>
          <p:cNvGrpSpPr>
            <a:grpSpLocks/>
          </p:cNvGrpSpPr>
          <p:nvPr/>
        </p:nvGrpSpPr>
        <p:grpSpPr bwMode="auto">
          <a:xfrm>
            <a:off x="9352305" y="5032380"/>
            <a:ext cx="741566" cy="184151"/>
            <a:chOff x="6657" y="3329"/>
            <a:chExt cx="527" cy="122"/>
          </a:xfrm>
        </p:grpSpPr>
        <p:sp>
          <p:nvSpPr>
            <p:cNvPr id="1470635" name="Rectangle 171"/>
            <p:cNvSpPr>
              <a:spLocks noChangeArrowheads="1"/>
            </p:cNvSpPr>
            <p:nvPr/>
          </p:nvSpPr>
          <p:spPr bwMode="auto">
            <a:xfrm flipV="1">
              <a:off x="6789" y="3329"/>
              <a:ext cx="132" cy="122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36" name="Rectangle 172"/>
            <p:cNvSpPr>
              <a:spLocks noChangeArrowheads="1"/>
            </p:cNvSpPr>
            <p:nvPr/>
          </p:nvSpPr>
          <p:spPr bwMode="auto">
            <a:xfrm flipV="1">
              <a:off x="6921" y="3329"/>
              <a:ext cx="131" cy="122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37" name="Rectangle 173"/>
            <p:cNvSpPr>
              <a:spLocks noChangeArrowheads="1"/>
            </p:cNvSpPr>
            <p:nvPr/>
          </p:nvSpPr>
          <p:spPr bwMode="auto">
            <a:xfrm flipV="1">
              <a:off x="7052" y="3329"/>
              <a:ext cx="132" cy="122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38" name="Rectangle 174"/>
            <p:cNvSpPr>
              <a:spLocks noChangeArrowheads="1"/>
            </p:cNvSpPr>
            <p:nvPr/>
          </p:nvSpPr>
          <p:spPr bwMode="auto">
            <a:xfrm flipV="1">
              <a:off x="6657" y="3329"/>
              <a:ext cx="132" cy="12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44" name="Group 175"/>
          <p:cNvGrpSpPr>
            <a:grpSpLocks/>
          </p:cNvGrpSpPr>
          <p:nvPr/>
        </p:nvGrpSpPr>
        <p:grpSpPr bwMode="auto">
          <a:xfrm>
            <a:off x="9352305" y="4600599"/>
            <a:ext cx="741566" cy="182563"/>
            <a:chOff x="6657" y="3043"/>
            <a:chExt cx="527" cy="121"/>
          </a:xfrm>
        </p:grpSpPr>
        <p:sp>
          <p:nvSpPr>
            <p:cNvPr id="1470640" name="Rectangle 176"/>
            <p:cNvSpPr>
              <a:spLocks noChangeArrowheads="1"/>
            </p:cNvSpPr>
            <p:nvPr/>
          </p:nvSpPr>
          <p:spPr bwMode="auto">
            <a:xfrm flipV="1">
              <a:off x="6921" y="3043"/>
              <a:ext cx="131" cy="121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41" name="Rectangle 177"/>
            <p:cNvSpPr>
              <a:spLocks noChangeArrowheads="1"/>
            </p:cNvSpPr>
            <p:nvPr/>
          </p:nvSpPr>
          <p:spPr bwMode="auto">
            <a:xfrm flipV="1">
              <a:off x="7052" y="3043"/>
              <a:ext cx="132" cy="12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42" name="Rectangle 178"/>
            <p:cNvSpPr>
              <a:spLocks noChangeArrowheads="1"/>
            </p:cNvSpPr>
            <p:nvPr/>
          </p:nvSpPr>
          <p:spPr bwMode="auto">
            <a:xfrm flipV="1">
              <a:off x="6657" y="3043"/>
              <a:ext cx="132" cy="12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43" name="Rectangle 179"/>
            <p:cNvSpPr>
              <a:spLocks noChangeArrowheads="1"/>
            </p:cNvSpPr>
            <p:nvPr/>
          </p:nvSpPr>
          <p:spPr bwMode="auto">
            <a:xfrm flipV="1">
              <a:off x="6789" y="3043"/>
              <a:ext cx="132" cy="121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45" name="Group 180"/>
          <p:cNvGrpSpPr>
            <a:grpSpLocks/>
          </p:cNvGrpSpPr>
          <p:nvPr/>
        </p:nvGrpSpPr>
        <p:grpSpPr bwMode="auto">
          <a:xfrm>
            <a:off x="9352305" y="4354517"/>
            <a:ext cx="741566" cy="184151"/>
            <a:chOff x="6657" y="2881"/>
            <a:chExt cx="527" cy="121"/>
          </a:xfrm>
        </p:grpSpPr>
        <p:sp>
          <p:nvSpPr>
            <p:cNvPr id="1470645" name="Rectangle 181"/>
            <p:cNvSpPr>
              <a:spLocks noChangeArrowheads="1"/>
            </p:cNvSpPr>
            <p:nvPr/>
          </p:nvSpPr>
          <p:spPr bwMode="auto">
            <a:xfrm flipV="1">
              <a:off x="6921" y="2881"/>
              <a:ext cx="131" cy="121"/>
            </a:xfrm>
            <a:prstGeom prst="rect">
              <a:avLst/>
            </a:prstGeom>
            <a:solidFill>
              <a:srgbClr val="B2B2B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46" name="Rectangle 182"/>
            <p:cNvSpPr>
              <a:spLocks noChangeArrowheads="1"/>
            </p:cNvSpPr>
            <p:nvPr/>
          </p:nvSpPr>
          <p:spPr bwMode="auto">
            <a:xfrm flipV="1">
              <a:off x="7052" y="2881"/>
              <a:ext cx="132" cy="121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47" name="Rectangle 183"/>
            <p:cNvSpPr>
              <a:spLocks noChangeArrowheads="1"/>
            </p:cNvSpPr>
            <p:nvPr/>
          </p:nvSpPr>
          <p:spPr bwMode="auto">
            <a:xfrm flipV="1">
              <a:off x="6657" y="2881"/>
              <a:ext cx="132" cy="121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  <p:sp>
          <p:nvSpPr>
            <p:cNvPr id="1470648" name="Rectangle 184"/>
            <p:cNvSpPr>
              <a:spLocks noChangeArrowheads="1"/>
            </p:cNvSpPr>
            <p:nvPr/>
          </p:nvSpPr>
          <p:spPr bwMode="auto">
            <a:xfrm flipV="1">
              <a:off x="6789" y="2881"/>
              <a:ext cx="132" cy="121"/>
            </a:xfrm>
            <a:prstGeom prst="rect">
              <a:avLst/>
            </a:prstGeom>
            <a:solidFill>
              <a:srgbClr val="08080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349">
                <a:latin typeface="Arial" charset="0"/>
                <a:ea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64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399" b="1">
          <a:solidFill>
            <a:srgbClr val="99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399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399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399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399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5pPr>
      <a:lvl6pPr marL="342653" algn="l" rtl="0" fontAlgn="base">
        <a:spcBef>
          <a:spcPct val="0"/>
        </a:spcBef>
        <a:spcAft>
          <a:spcPct val="0"/>
        </a:spcAft>
        <a:defRPr sz="2399" b="1">
          <a:solidFill>
            <a:srgbClr val="990000"/>
          </a:solidFill>
          <a:latin typeface="FrutigerNext LT Medium" pitchFamily="34" charset="0"/>
          <a:ea typeface="华文细黑" pitchFamily="2" charset="-122"/>
          <a:cs typeface="SimSun" pitchFamily="2" charset="-122"/>
        </a:defRPr>
      </a:lvl6pPr>
      <a:lvl7pPr marL="685304" algn="l" rtl="0" fontAlgn="base">
        <a:spcBef>
          <a:spcPct val="0"/>
        </a:spcBef>
        <a:spcAft>
          <a:spcPct val="0"/>
        </a:spcAft>
        <a:defRPr sz="2399" b="1">
          <a:solidFill>
            <a:srgbClr val="990000"/>
          </a:solidFill>
          <a:latin typeface="FrutigerNext LT Medium" pitchFamily="34" charset="0"/>
          <a:ea typeface="华文细黑" pitchFamily="2" charset="-122"/>
          <a:cs typeface="SimSun" pitchFamily="2" charset="-122"/>
        </a:defRPr>
      </a:lvl7pPr>
      <a:lvl8pPr marL="1027955" algn="l" rtl="0" fontAlgn="base">
        <a:spcBef>
          <a:spcPct val="0"/>
        </a:spcBef>
        <a:spcAft>
          <a:spcPct val="0"/>
        </a:spcAft>
        <a:defRPr sz="2399" b="1">
          <a:solidFill>
            <a:srgbClr val="990000"/>
          </a:solidFill>
          <a:latin typeface="FrutigerNext LT Medium" pitchFamily="34" charset="0"/>
          <a:ea typeface="华文细黑" pitchFamily="2" charset="-122"/>
          <a:cs typeface="SimSun" pitchFamily="2" charset="-122"/>
        </a:defRPr>
      </a:lvl8pPr>
      <a:lvl9pPr marL="1370606" algn="l" rtl="0" fontAlgn="base">
        <a:spcBef>
          <a:spcPct val="0"/>
        </a:spcBef>
        <a:spcAft>
          <a:spcPct val="0"/>
        </a:spcAft>
        <a:defRPr sz="2399" b="1">
          <a:solidFill>
            <a:srgbClr val="990000"/>
          </a:solidFill>
          <a:latin typeface="FrutigerNext LT Medium" pitchFamily="34" charset="0"/>
          <a:ea typeface="华文细黑" pitchFamily="2" charset="-122"/>
          <a:cs typeface="SimSun" pitchFamily="2" charset="-122"/>
        </a:defRPr>
      </a:lvl9pPr>
    </p:titleStyle>
    <p:bodyStyle>
      <a:lvl1pPr marL="256989" indent="-256989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Char char="•"/>
        <a:defRPr sz="1799" b="1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56808" indent="-214157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›"/>
        <a:defRPr sz="1499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6628" indent="-171326" algn="l" rtl="0" eaLnBrk="0" fontAlgn="base" hangingPunct="0">
        <a:spcBef>
          <a:spcPct val="20000"/>
        </a:spcBef>
        <a:spcAft>
          <a:spcPct val="0"/>
        </a:spcAft>
        <a:buFont typeface="FrutigerNext LT Medium" pitchFamily="34" charset="0"/>
        <a:buChar char="»"/>
        <a:defRPr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99280" indent="-171326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1931" indent="-17132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4583" indent="-171326" algn="l" rtl="0" fontAlgn="base">
        <a:spcBef>
          <a:spcPct val="20000"/>
        </a:spcBef>
        <a:spcAft>
          <a:spcPct val="0"/>
        </a:spcAft>
        <a:buFont typeface="Arial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227235" indent="-171326" algn="l" rtl="0" fontAlgn="base">
        <a:spcBef>
          <a:spcPct val="20000"/>
        </a:spcBef>
        <a:spcAft>
          <a:spcPct val="0"/>
        </a:spcAft>
        <a:buFont typeface="Arial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2569886" indent="-171326" algn="l" rtl="0" fontAlgn="base">
        <a:spcBef>
          <a:spcPct val="20000"/>
        </a:spcBef>
        <a:spcAft>
          <a:spcPct val="0"/>
        </a:spcAft>
        <a:buFont typeface="Arial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2912537" indent="-171326" algn="l" rtl="0" fontAlgn="base">
        <a:spcBef>
          <a:spcPct val="20000"/>
        </a:spcBef>
        <a:spcAft>
          <a:spcPct val="0"/>
        </a:spcAft>
        <a:buFont typeface="Arial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304" rtl="0" eaLnBrk="1" latinLnBrk="0" hangingPunct="1">
        <a:defRPr sz="1274" kern="1200">
          <a:solidFill>
            <a:schemeClr val="tx1"/>
          </a:solidFill>
          <a:latin typeface="+mn-lt"/>
          <a:ea typeface="+mn-ea"/>
          <a:cs typeface="+mn-cs"/>
        </a:defRPr>
      </a:lvl1pPr>
      <a:lvl2pPr marL="342653" algn="l" defTabSz="685304" rtl="0" eaLnBrk="1" latinLnBrk="0" hangingPunct="1">
        <a:defRPr sz="1274" kern="1200">
          <a:solidFill>
            <a:schemeClr val="tx1"/>
          </a:solidFill>
          <a:latin typeface="+mn-lt"/>
          <a:ea typeface="+mn-ea"/>
          <a:cs typeface="+mn-cs"/>
        </a:defRPr>
      </a:lvl2pPr>
      <a:lvl3pPr marL="685304" algn="l" defTabSz="685304" rtl="0" eaLnBrk="1" latinLnBrk="0" hangingPunct="1">
        <a:defRPr sz="1274" kern="1200">
          <a:solidFill>
            <a:schemeClr val="tx1"/>
          </a:solidFill>
          <a:latin typeface="+mn-lt"/>
          <a:ea typeface="+mn-ea"/>
          <a:cs typeface="+mn-cs"/>
        </a:defRPr>
      </a:lvl3pPr>
      <a:lvl4pPr marL="1027955" algn="l" defTabSz="685304" rtl="0" eaLnBrk="1" latinLnBrk="0" hangingPunct="1">
        <a:defRPr sz="1274" kern="1200">
          <a:solidFill>
            <a:schemeClr val="tx1"/>
          </a:solidFill>
          <a:latin typeface="+mn-lt"/>
          <a:ea typeface="+mn-ea"/>
          <a:cs typeface="+mn-cs"/>
        </a:defRPr>
      </a:lvl4pPr>
      <a:lvl5pPr marL="1370606" algn="l" defTabSz="685304" rtl="0" eaLnBrk="1" latinLnBrk="0" hangingPunct="1">
        <a:defRPr sz="1274" kern="1200">
          <a:solidFill>
            <a:schemeClr val="tx1"/>
          </a:solidFill>
          <a:latin typeface="+mn-lt"/>
          <a:ea typeface="+mn-ea"/>
          <a:cs typeface="+mn-cs"/>
        </a:defRPr>
      </a:lvl5pPr>
      <a:lvl6pPr marL="1713257" algn="l" defTabSz="685304" rtl="0" eaLnBrk="1" latinLnBrk="0" hangingPunct="1">
        <a:defRPr sz="1274" kern="1200">
          <a:solidFill>
            <a:schemeClr val="tx1"/>
          </a:solidFill>
          <a:latin typeface="+mn-lt"/>
          <a:ea typeface="+mn-ea"/>
          <a:cs typeface="+mn-cs"/>
        </a:defRPr>
      </a:lvl6pPr>
      <a:lvl7pPr marL="2055909" algn="l" defTabSz="685304" rtl="0" eaLnBrk="1" latinLnBrk="0" hangingPunct="1">
        <a:defRPr sz="1274" kern="1200">
          <a:solidFill>
            <a:schemeClr val="tx1"/>
          </a:solidFill>
          <a:latin typeface="+mn-lt"/>
          <a:ea typeface="+mn-ea"/>
          <a:cs typeface="+mn-cs"/>
        </a:defRPr>
      </a:lvl7pPr>
      <a:lvl8pPr marL="2398560" algn="l" defTabSz="685304" rtl="0" eaLnBrk="1" latinLnBrk="0" hangingPunct="1">
        <a:defRPr sz="1274" kern="1200">
          <a:solidFill>
            <a:schemeClr val="tx1"/>
          </a:solidFill>
          <a:latin typeface="+mn-lt"/>
          <a:ea typeface="+mn-ea"/>
          <a:cs typeface="+mn-cs"/>
        </a:defRPr>
      </a:lvl8pPr>
      <a:lvl9pPr marL="2741210" algn="l" defTabSz="685304" rtl="0" eaLnBrk="1" latinLnBrk="0" hangingPunct="1">
        <a:defRPr sz="12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tiff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tiff"/><Relationship Id="rId3" Type="http://schemas.openxmlformats.org/officeDocument/2006/relationships/image" Target="../media/image19.png"/><Relationship Id="rId7" Type="http://schemas.openxmlformats.org/officeDocument/2006/relationships/image" Target="../media/image22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tiff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tiff"/><Relationship Id="rId5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tiff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40.jpeg"/><Relationship Id="rId5" Type="http://schemas.openxmlformats.org/officeDocument/2006/relationships/image" Target="../media/image17.png"/><Relationship Id="rId10" Type="http://schemas.openxmlformats.org/officeDocument/2006/relationships/image" Target="../media/image22.tiff"/><Relationship Id="rId4" Type="http://schemas.openxmlformats.org/officeDocument/2006/relationships/image" Target="../media/image37.png"/><Relationship Id="rId9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7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27.png"/><Relationship Id="rId4" Type="http://schemas.openxmlformats.org/officeDocument/2006/relationships/image" Target="../media/image40.jpeg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/>
          <p:cNvSpPr txBox="1">
            <a:spLocks noGrp="1"/>
          </p:cNvSpPr>
          <p:nvPr>
            <p:ph type="title"/>
          </p:nvPr>
        </p:nvSpPr>
        <p:spPr>
          <a:xfrm>
            <a:off x="504734" y="2501493"/>
            <a:ext cx="7953466" cy="1816501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>
              <a:defRPr sz="2900">
                <a:solidFill>
                  <a:srgbClr val="535353"/>
                </a:solidFill>
              </a:defRPr>
            </a:pPr>
            <a:r>
              <a:rPr lang="en-GB" sz="4000" b="1" i="1" dirty="0">
                <a:solidFill>
                  <a:srgbClr val="C00000"/>
                </a:solidFill>
              </a:rPr>
              <a:t>Dandelion Hashtable</a:t>
            </a:r>
            <a:br>
              <a:rPr lang="en-GB" sz="3600" i="1" dirty="0">
                <a:solidFill>
                  <a:srgbClr val="C00000"/>
                </a:solidFill>
              </a:rPr>
            </a:br>
            <a:br>
              <a:rPr lang="en-GB" sz="3600" dirty="0">
                <a:solidFill>
                  <a:srgbClr val="C00000"/>
                </a:solidFill>
              </a:rPr>
            </a:br>
            <a:r>
              <a:rPr lang="en-GB" sz="3600" dirty="0">
                <a:solidFill>
                  <a:srgbClr val="C00000"/>
                </a:solidFill>
              </a:rPr>
              <a:t>A non-blocking resizable hashtable with fast deletes &amp; memory-awareness</a:t>
            </a:r>
            <a:endParaRPr sz="3600" b="1" dirty="0">
              <a:solidFill>
                <a:srgbClr val="C00000"/>
              </a:solidFill>
            </a:endParaRPr>
          </a:p>
        </p:txBody>
      </p:sp>
      <p:sp>
        <p:nvSpPr>
          <p:cNvPr id="76" name="Subtitle 2"/>
          <p:cNvSpPr txBox="1">
            <a:spLocks noGrp="1"/>
          </p:cNvSpPr>
          <p:nvPr>
            <p:ph type="body" sz="quarter" idx="1"/>
          </p:nvPr>
        </p:nvSpPr>
        <p:spPr>
          <a:xfrm>
            <a:off x="595267" y="5088621"/>
            <a:ext cx="7953466" cy="1534816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278892">
              <a:spcBef>
                <a:spcPts val="400"/>
              </a:spcBef>
              <a:defRPr sz="1525">
                <a:solidFill>
                  <a:srgbClr val="535353"/>
                </a:solidFill>
              </a:defRPr>
            </a:pPr>
            <a:r>
              <a:rPr lang="en-GB" b="1" dirty="0"/>
              <a:t>Antonios Katsarakis</a:t>
            </a:r>
            <a:r>
              <a:rPr lang="en-GB" dirty="0"/>
              <a:t>, Vasilis Gavrielatos, Nikos Ntarmos</a:t>
            </a:r>
          </a:p>
          <a:p>
            <a:pPr defTabSz="278892">
              <a:spcBef>
                <a:spcPts val="400"/>
              </a:spcBef>
              <a:defRPr sz="1525">
                <a:solidFill>
                  <a:srgbClr val="535353"/>
                </a:solidFill>
              </a:defRPr>
            </a:pPr>
            <a:r>
              <a:rPr lang="en-GB" dirty="0"/>
              <a:t>Huawei Research, Edinburgh UK</a:t>
            </a:r>
          </a:p>
          <a:p>
            <a:pPr defTabSz="278892">
              <a:spcBef>
                <a:spcPts val="400"/>
              </a:spcBef>
              <a:defRPr sz="1525">
                <a:solidFill>
                  <a:srgbClr val="535353"/>
                </a:solidFill>
              </a:defRPr>
            </a:pPr>
            <a:br>
              <a:rPr lang="en-US" sz="1200" dirty="0"/>
            </a:br>
            <a:endParaRPr lang="en-US" dirty="0"/>
          </a:p>
          <a:p>
            <a:pPr defTabSz="278892">
              <a:spcBef>
                <a:spcPts val="400"/>
              </a:spcBef>
              <a:defRPr sz="1525">
                <a:solidFill>
                  <a:srgbClr val="535353"/>
                </a:solidFill>
              </a:defRPr>
            </a:pPr>
            <a:r>
              <a:rPr lang="en-US" i="1" dirty="0"/>
              <a:t>High</a:t>
            </a:r>
            <a:r>
              <a:rPr lang="en-GB" i="1" dirty="0"/>
              <a:t> performance Distributed Computed (HPDC’24)</a:t>
            </a:r>
          </a:p>
        </p:txBody>
      </p:sp>
      <p:grpSp>
        <p:nvGrpSpPr>
          <p:cNvPr id="4" name="Alternate Process 5">
            <a:extLst>
              <a:ext uri="{FF2B5EF4-FFF2-40B4-BE49-F238E27FC236}">
                <a16:creationId xmlns:a16="http://schemas.microsoft.com/office/drawing/2014/main" id="{35916004-F8AA-4BF1-86F1-8C68D5AA6938}"/>
              </a:ext>
            </a:extLst>
          </p:cNvPr>
          <p:cNvGrpSpPr/>
          <p:nvPr/>
        </p:nvGrpSpPr>
        <p:grpSpPr>
          <a:xfrm>
            <a:off x="360851" y="3538330"/>
            <a:ext cx="8409438" cy="1017767"/>
            <a:chOff x="357133" y="184489"/>
            <a:chExt cx="8036727" cy="680408"/>
          </a:xfrm>
        </p:grpSpPr>
        <p:sp>
          <p:nvSpPr>
            <p:cNvPr id="5" name="Shape">
              <a:extLst>
                <a:ext uri="{FF2B5EF4-FFF2-40B4-BE49-F238E27FC236}">
                  <a16:creationId xmlns:a16="http://schemas.microsoft.com/office/drawing/2014/main" id="{98603529-7F6C-4569-B263-6E868896A4A2}"/>
                </a:ext>
              </a:extLst>
            </p:cNvPr>
            <p:cNvSpPr/>
            <p:nvPr/>
          </p:nvSpPr>
          <p:spPr>
            <a:xfrm>
              <a:off x="440047" y="184489"/>
              <a:ext cx="7861159" cy="6804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6" name="Data replication is necessary!">
              <a:extLst>
                <a:ext uri="{FF2B5EF4-FFF2-40B4-BE49-F238E27FC236}">
                  <a16:creationId xmlns:a16="http://schemas.microsoft.com/office/drawing/2014/main" id="{C1EC1021-E4E2-4576-9646-5C49DB892855}"/>
                </a:ext>
              </a:extLst>
            </p:cNvPr>
            <p:cNvSpPr txBox="1"/>
            <p:nvPr/>
          </p:nvSpPr>
          <p:spPr>
            <a:xfrm>
              <a:off x="357133" y="304113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GB" sz="2800" b="1" dirty="0">
                  <a:solidFill>
                    <a:srgbClr val="C00000"/>
                  </a:solidFill>
                </a:rPr>
                <a:t>Beyond billion requests per second</a:t>
              </a:r>
            </a:p>
            <a:p>
              <a:r>
                <a:rPr lang="en-GB" sz="2800" b="1" dirty="0">
                  <a:solidFill>
                    <a:srgbClr val="C00000"/>
                  </a:solidFill>
                </a:rPr>
                <a:t> on a commodity server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956985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220464" y="1627175"/>
            <a:ext cx="5590025" cy="4414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hangingPunct="1"/>
            <a:r>
              <a:rPr lang="en-GB" sz="1900" b="1" dirty="0">
                <a:solidFill>
                  <a:schemeClr val="tx1"/>
                </a:solidFill>
              </a:rPr>
              <a:t>Ubiquitous</a:t>
            </a:r>
            <a:r>
              <a:rPr lang="en-GB" sz="1900" dirty="0">
                <a:solidFill>
                  <a:schemeClr val="tx1"/>
                </a:solidFill>
              </a:rPr>
              <a:t> in todays cloud and HPC</a:t>
            </a:r>
          </a:p>
          <a:p>
            <a:pPr algn="l" hangingPunct="1"/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caching, in-memory storage, key-value stores,  </a:t>
            </a:r>
          </a:p>
          <a:p>
            <a:pPr algn="l" hangingPunct="1"/>
            <a:r>
              <a:rPr lang="en-US" sz="1600" dirty="0">
                <a:solidFill>
                  <a:schemeClr val="tx1"/>
                </a:solidFill>
              </a:rPr>
              <a:t>  transactional and analytical DBs, bioinformatics, …</a:t>
            </a: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r>
              <a:rPr lang="en-US" sz="1900" b="1" dirty="0">
                <a:solidFill>
                  <a:schemeClr val="tx1"/>
                </a:solidFill>
              </a:rPr>
              <a:t>Store</a:t>
            </a:r>
            <a:r>
              <a:rPr lang="en-US" sz="1900" dirty="0">
                <a:solidFill>
                  <a:schemeClr val="tx1"/>
                </a:solidFill>
              </a:rPr>
              <a:t> large amounts of data </a:t>
            </a:r>
          </a:p>
          <a:p>
            <a:pPr algn="l" hangingPunct="1"/>
            <a:r>
              <a:rPr lang="en-US" sz="1900" dirty="0">
                <a:solidFill>
                  <a:schemeClr val="tx1"/>
                </a:solidFill>
              </a:rPr>
              <a:t>as &lt;Key, Value&gt; </a:t>
            </a:r>
            <a:r>
              <a:rPr lang="en-US" sz="1900" b="1" dirty="0">
                <a:solidFill>
                  <a:schemeClr val="tx1"/>
                </a:solidFill>
              </a:rPr>
              <a:t>(KV) pairs</a:t>
            </a: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r>
              <a:rPr lang="en-US" sz="1900" dirty="0">
                <a:solidFill>
                  <a:schemeClr val="tx1"/>
                </a:solidFill>
              </a:rPr>
              <a:t>Offer thread-safe</a:t>
            </a:r>
            <a:r>
              <a:rPr lang="en-US" sz="1900" b="1" i="1" dirty="0">
                <a:solidFill>
                  <a:schemeClr val="tx1"/>
                </a:solidFill>
              </a:rPr>
              <a:t> Gets</a:t>
            </a:r>
            <a:r>
              <a:rPr lang="en-US" sz="1900" b="1" dirty="0">
                <a:solidFill>
                  <a:schemeClr val="tx1"/>
                </a:solidFill>
              </a:rPr>
              <a:t>, </a:t>
            </a:r>
            <a:r>
              <a:rPr lang="en-US" sz="1900" b="1" i="1" dirty="0">
                <a:solidFill>
                  <a:schemeClr val="tx1"/>
                </a:solidFill>
              </a:rPr>
              <a:t>Puts</a:t>
            </a:r>
            <a:r>
              <a:rPr lang="en-US" sz="1900" b="1" dirty="0">
                <a:solidFill>
                  <a:schemeClr val="tx1"/>
                </a:solidFill>
              </a:rPr>
              <a:t>, </a:t>
            </a:r>
            <a:r>
              <a:rPr lang="en-US" sz="1900" b="1" i="1" dirty="0">
                <a:solidFill>
                  <a:schemeClr val="tx1"/>
                </a:solidFill>
              </a:rPr>
              <a:t>Inserts</a:t>
            </a:r>
            <a:r>
              <a:rPr lang="en-US" sz="1900" b="1" dirty="0">
                <a:solidFill>
                  <a:schemeClr val="tx1"/>
                </a:solidFill>
              </a:rPr>
              <a:t>, </a:t>
            </a:r>
            <a:r>
              <a:rPr lang="en-US" sz="1900" b="1" i="1" dirty="0">
                <a:solidFill>
                  <a:schemeClr val="tx1"/>
                </a:solidFill>
              </a:rPr>
              <a:t>Deletes</a:t>
            </a:r>
            <a:endParaRPr lang="en-US" sz="1900" b="1" dirty="0">
              <a:solidFill>
                <a:schemeClr val="tx1"/>
              </a:solidFill>
            </a:endParaRPr>
          </a:p>
          <a:p>
            <a:pPr algn="l" hangingPunct="1"/>
            <a:r>
              <a:rPr lang="en-US" sz="1900" dirty="0">
                <a:solidFill>
                  <a:schemeClr val="tx1"/>
                </a:solidFill>
              </a:rPr>
              <a:t>  + index </a:t>
            </a:r>
            <a:r>
              <a:rPr lang="en-US" sz="1900" b="1" i="1" dirty="0">
                <a:solidFill>
                  <a:schemeClr val="tx1"/>
                </a:solidFill>
              </a:rPr>
              <a:t>Resizes</a:t>
            </a:r>
            <a:r>
              <a:rPr lang="en-US" sz="1900" dirty="0">
                <a:solidFill>
                  <a:schemeClr val="tx1"/>
                </a:solidFill>
              </a:rPr>
              <a:t> to grow capacity vertically</a:t>
            </a: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12170" y="275311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Concurrent growing hashtables </a:t>
            </a:r>
            <a:endParaRPr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72109" y="6542352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AAA4D7-12D5-489F-8F04-404AFBF2FFC0}"/>
              </a:ext>
            </a:extLst>
          </p:cNvPr>
          <p:cNvGrpSpPr/>
          <p:nvPr/>
        </p:nvGrpSpPr>
        <p:grpSpPr>
          <a:xfrm>
            <a:off x="6031020" y="3334510"/>
            <a:ext cx="2665837" cy="2792941"/>
            <a:chOff x="5810490" y="3457828"/>
            <a:chExt cx="2665837" cy="279294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FA99884-634A-441C-B28B-74DD7D461E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0134"/>
            <a:stretch/>
          </p:blipFill>
          <p:spPr>
            <a:xfrm>
              <a:off x="7535118" y="3457828"/>
              <a:ext cx="941209" cy="2792941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F3F0202-6A06-4F59-908A-0F7944560B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259" t="20739" r="54766" b="28270"/>
            <a:stretch/>
          </p:blipFill>
          <p:spPr>
            <a:xfrm>
              <a:off x="5810490" y="4166886"/>
              <a:ext cx="787079" cy="1424147"/>
            </a:xfrm>
            <a:prstGeom prst="rect">
              <a:avLst/>
            </a:prstGeom>
          </p:spPr>
        </p:pic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9EF75D50-8C71-40EC-82BD-BDB9F57A6E8F}"/>
                </a:ext>
              </a:extLst>
            </p:cNvPr>
            <p:cNvSpPr/>
            <p:nvPr/>
          </p:nvSpPr>
          <p:spPr>
            <a:xfrm>
              <a:off x="6725167" y="4734333"/>
              <a:ext cx="682353" cy="416688"/>
            </a:xfrm>
            <a:prstGeom prst="rightArrow">
              <a:avLst/>
            </a:prstGeom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E74256-98F8-4312-8A47-2BA135FD9951}"/>
              </a:ext>
            </a:extLst>
          </p:cNvPr>
          <p:cNvGrpSpPr/>
          <p:nvPr/>
        </p:nvGrpSpPr>
        <p:grpSpPr>
          <a:xfrm>
            <a:off x="5493672" y="1408691"/>
            <a:ext cx="3319809" cy="1657863"/>
            <a:chOff x="5156518" y="1490451"/>
            <a:chExt cx="3852303" cy="186327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470FE3-FD7D-4ED8-8AC6-004F25A85B2E}"/>
                </a:ext>
              </a:extLst>
            </p:cNvPr>
            <p:cNvGrpSpPr/>
            <p:nvPr/>
          </p:nvGrpSpPr>
          <p:grpSpPr>
            <a:xfrm>
              <a:off x="5960961" y="1490451"/>
              <a:ext cx="2083446" cy="1863275"/>
              <a:chOff x="5960961" y="1490451"/>
              <a:chExt cx="2083446" cy="186327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8561693-967E-4D79-BB28-9B24988B0F0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87505"/>
              <a:stretch/>
            </p:blipFill>
            <p:spPr>
              <a:xfrm>
                <a:off x="7407521" y="1490451"/>
                <a:ext cx="636886" cy="1069875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7D38BCDD-9EF5-42BC-9A15-7BFE1481F9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6168" r="16751"/>
              <a:stretch/>
            </p:blipFill>
            <p:spPr>
              <a:xfrm>
                <a:off x="5995686" y="2440334"/>
                <a:ext cx="2048720" cy="913392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CA0A6B9-4E99-4F93-A257-43345A8489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-100" r="68713"/>
              <a:stretch/>
            </p:blipFill>
            <p:spPr>
              <a:xfrm>
                <a:off x="5960961" y="1590987"/>
                <a:ext cx="1365813" cy="913392"/>
              </a:xfrm>
              <a:prstGeom prst="rect">
                <a:avLst/>
              </a:prstGeom>
            </p:spPr>
          </p:pic>
        </p:grpSp>
        <p:pic>
          <p:nvPicPr>
            <p:cNvPr id="1026" name="Picture 2" descr="PostgreSQL vs MySQL: The Critical Differences | Integrate.io">
              <a:extLst>
                <a:ext uri="{FF2B5EF4-FFF2-40B4-BE49-F238E27FC236}">
                  <a16:creationId xmlns:a16="http://schemas.microsoft.com/office/drawing/2014/main" id="{27DE420A-1B46-4C79-B59F-17BB941E24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6" t="20344" r="57772" b="24372"/>
            <a:stretch/>
          </p:blipFill>
          <p:spPr bwMode="auto">
            <a:xfrm>
              <a:off x="5156518" y="2020720"/>
              <a:ext cx="787080" cy="7870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PostgreSQL vs MySQL: The Critical Differences | Integrate.io">
              <a:extLst>
                <a:ext uri="{FF2B5EF4-FFF2-40B4-BE49-F238E27FC236}">
                  <a16:creationId xmlns:a16="http://schemas.microsoft.com/office/drawing/2014/main" id="{5AD9DA7F-13C0-4C72-BAE9-520AB23603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09" t="20344" r="11635" b="24372"/>
            <a:stretch/>
          </p:blipFill>
          <p:spPr bwMode="auto">
            <a:xfrm>
              <a:off x="8101728" y="1861651"/>
              <a:ext cx="907093" cy="7870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01687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563713" y="1317676"/>
            <a:ext cx="5837087" cy="47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hangingPunct="1"/>
            <a:r>
              <a:rPr lang="en-GB" sz="2000" dirty="0">
                <a:solidFill>
                  <a:schemeClr val="tx1"/>
                </a:solidFill>
              </a:rPr>
              <a:t>Keep </a:t>
            </a:r>
            <a:r>
              <a:rPr lang="en-GB" sz="2000" b="1" dirty="0">
                <a:solidFill>
                  <a:schemeClr val="tx1"/>
                </a:solidFill>
              </a:rPr>
              <a:t>data in-memory</a:t>
            </a: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r>
              <a:rPr lang="en-US" sz="2000" dirty="0">
                <a:solidFill>
                  <a:schemeClr val="tx1"/>
                </a:solidFill>
              </a:rPr>
              <a:t>Ensure </a:t>
            </a:r>
            <a:r>
              <a:rPr lang="en-US" sz="2000" b="1" dirty="0">
                <a:solidFill>
                  <a:schemeClr val="tx1"/>
                </a:solidFill>
              </a:rPr>
              <a:t>strong consistency</a:t>
            </a: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endParaRPr lang="en-US" sz="2000" dirty="0">
              <a:solidFill>
                <a:schemeClr val="tx1"/>
              </a:solidFill>
            </a:endParaRPr>
          </a:p>
          <a:p>
            <a:pPr algn="l" hangingPunct="1"/>
            <a:r>
              <a:rPr lang="en-US" sz="2000" dirty="0">
                <a:solidFill>
                  <a:schemeClr val="tx1"/>
                </a:solidFill>
              </a:rPr>
              <a:t>Exploit </a:t>
            </a:r>
            <a:r>
              <a:rPr lang="en-US" sz="2000" b="1" dirty="0">
                <a:solidFill>
                  <a:schemeClr val="tx1"/>
                </a:solidFill>
              </a:rPr>
              <a:t>concurrency</a:t>
            </a:r>
            <a:r>
              <a:rPr lang="en-US" sz="2000" dirty="0">
                <a:solidFill>
                  <a:schemeClr val="tx1"/>
                </a:solidFill>
              </a:rPr>
              <a:t> to deliver</a:t>
            </a:r>
          </a:p>
          <a:p>
            <a:pPr algn="l" hangingPunct="1"/>
            <a:r>
              <a:rPr lang="en-US" sz="2000" b="1" dirty="0">
                <a:solidFill>
                  <a:schemeClr val="tx1"/>
                </a:solidFill>
              </a:rPr>
              <a:t>high throughput </a:t>
            </a:r>
            <a:r>
              <a:rPr lang="en-US" sz="2000" dirty="0">
                <a:solidFill>
                  <a:schemeClr val="tx1"/>
                </a:solidFill>
              </a:rPr>
              <a:t>needs of modern services</a:t>
            </a:r>
          </a:p>
        </p:txBody>
      </p: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0" y="245351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Modern hashtables </a:t>
            </a:r>
            <a:endParaRPr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72109" y="6542352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3E0AA-E109-4072-902B-BBC67E96C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383" y="1342466"/>
            <a:ext cx="3647203" cy="1169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F159C-BF2B-498E-8D86-1E2523ADE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785" y="2831613"/>
            <a:ext cx="1527916" cy="1374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8B86E0-2B10-4583-8133-7E2472F19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604" y="4477703"/>
            <a:ext cx="2295845" cy="1514686"/>
          </a:xfrm>
          <a:prstGeom prst="rect">
            <a:avLst/>
          </a:prstGeom>
        </p:spPr>
      </p:pic>
      <p:grpSp>
        <p:nvGrpSpPr>
          <p:cNvPr id="10" name="Alternate Process 5">
            <a:extLst>
              <a:ext uri="{FF2B5EF4-FFF2-40B4-BE49-F238E27FC236}">
                <a16:creationId xmlns:a16="http://schemas.microsoft.com/office/drawing/2014/main" id="{8CEEDE4E-CB2F-4E2E-ACAE-FC1CFEC63E4B}"/>
              </a:ext>
            </a:extLst>
          </p:cNvPr>
          <p:cNvGrpSpPr/>
          <p:nvPr/>
        </p:nvGrpSpPr>
        <p:grpSpPr>
          <a:xfrm>
            <a:off x="238154" y="5893934"/>
            <a:ext cx="8241231" cy="758826"/>
            <a:chOff x="357133" y="283508"/>
            <a:chExt cx="8036727" cy="581389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C3624C39-F02E-4A34-A239-9339549FCEFC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12" name="Data replication is necessary!">
              <a:extLst>
                <a:ext uri="{FF2B5EF4-FFF2-40B4-BE49-F238E27FC236}">
                  <a16:creationId xmlns:a16="http://schemas.microsoft.com/office/drawing/2014/main" id="{695B8401-F6EF-4581-8AB6-B7AF2D348D96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dirty="0"/>
                <a:t>How fast is the state-of-the-art?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9846218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238154" y="2659310"/>
            <a:ext cx="8635390" cy="328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452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Helvetica"/>
                <a:cs typeface="Helvetica"/>
              </a:rPr>
              <a:t>Throughput almost a </a:t>
            </a:r>
            <a:r>
              <a:rPr lang="en-US" sz="2000" i="1" dirty="0">
                <a:solidFill>
                  <a:srgbClr val="000000"/>
                </a:solidFill>
                <a:latin typeface="Helvetica"/>
                <a:cs typeface="Helvetica"/>
              </a:rPr>
              <a:t>billion requests per second </a:t>
            </a:r>
            <a:r>
              <a:rPr lang="en-US" sz="2000" dirty="0">
                <a:solidFill>
                  <a:srgbClr val="000000"/>
                </a:solidFill>
                <a:latin typeface="Helvetica"/>
                <a:cs typeface="Helvetica"/>
              </a:rPr>
              <a:t>!!</a:t>
            </a:r>
          </a:p>
          <a:p>
            <a:pPr lvl="0" algn="l" hangingPunct="1">
              <a:defRPr/>
            </a:pPr>
            <a:endParaRPr lang="en-US" sz="2000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 lvl="0" algn="l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Helvetica"/>
                <a:cs typeface="Helvetica"/>
              </a:rPr>
              <a:t>        Problem: Such </a:t>
            </a:r>
            <a:r>
              <a:rPr lang="en-US" sz="2000" dirty="0">
                <a:solidFill>
                  <a:srgbClr val="000000"/>
                </a:solidFill>
              </a:rPr>
              <a:t>high </a:t>
            </a:r>
            <a:r>
              <a:rPr lang="en-US" sz="2000" dirty="0">
                <a:solidFill>
                  <a:srgbClr val="000000"/>
                </a:solidFill>
                <a:latin typeface="Helvetica"/>
                <a:cs typeface="Helvetica"/>
              </a:rPr>
              <a:t>throughput only on </a:t>
            </a:r>
            <a:r>
              <a:rPr lang="en-US" sz="2000" i="1" dirty="0">
                <a:solidFill>
                  <a:srgbClr val="000000"/>
                </a:solidFill>
                <a:latin typeface="Helvetica"/>
                <a:cs typeface="Helvetica"/>
              </a:rPr>
              <a:t>cache-resident</a:t>
            </a:r>
            <a:r>
              <a:rPr lang="en-US" sz="2000" dirty="0">
                <a:solidFill>
                  <a:srgbClr val="000000"/>
                </a:solidFill>
                <a:latin typeface="Helvetica"/>
                <a:cs typeface="Helvetica"/>
              </a:rPr>
              <a:t> workloads</a:t>
            </a:r>
            <a:endParaRPr lang="en-US" sz="2000" i="1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 lvl="0" algn="l" hangingPunct="1">
              <a:defRPr/>
            </a:pPr>
            <a:endParaRPr lang="en-US" sz="2000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 lvl="0" algn="l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Helvetica"/>
                <a:cs typeface="Helvetica"/>
              </a:rPr>
              <a:t>        where accesses served by h/w caches, seldom reach main memory </a:t>
            </a:r>
          </a:p>
          <a:p>
            <a:pPr lvl="0" algn="l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Helvetica"/>
                <a:cs typeface="Helvetica"/>
              </a:rPr>
              <a:t>        – e.g., evaluating </a:t>
            </a:r>
            <a:r>
              <a:rPr lang="en-US" sz="2000" dirty="0">
                <a:solidFill>
                  <a:srgbClr val="000000"/>
                </a:solidFill>
              </a:rPr>
              <a:t>high access skew or small datasets</a:t>
            </a:r>
            <a:endParaRPr lang="en-US" sz="2000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72109" y="6542352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3AC318-B3DC-4A1A-8E93-B576FA87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State-of-the-art performance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5C6DC-8004-4D21-B83C-629F6F516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15" y="1443323"/>
            <a:ext cx="3671313" cy="1248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A26A47-C12E-4AF4-8657-C03C1CA18D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675"/>
          <a:stretch/>
        </p:blipFill>
        <p:spPr>
          <a:xfrm>
            <a:off x="4919396" y="1440144"/>
            <a:ext cx="3726905" cy="1304027"/>
          </a:xfrm>
          <a:prstGeom prst="rect">
            <a:avLst/>
          </a:prstGeom>
        </p:spPr>
      </p:pic>
      <p:grpSp>
        <p:nvGrpSpPr>
          <p:cNvPr id="10" name="Alternate Process 5">
            <a:extLst>
              <a:ext uri="{FF2B5EF4-FFF2-40B4-BE49-F238E27FC236}">
                <a16:creationId xmlns:a16="http://schemas.microsoft.com/office/drawing/2014/main" id="{2142A9EE-4CA2-4DDC-8344-96F69D255554}"/>
              </a:ext>
            </a:extLst>
          </p:cNvPr>
          <p:cNvGrpSpPr/>
          <p:nvPr/>
        </p:nvGrpSpPr>
        <p:grpSpPr>
          <a:xfrm>
            <a:off x="238154" y="5870081"/>
            <a:ext cx="8667692" cy="758826"/>
            <a:chOff x="357133" y="283508"/>
            <a:chExt cx="8036727" cy="581389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BDAB9C76-909E-467D-9E79-6AAD698F3799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12" name="Data replication is necessary!">
              <a:extLst>
                <a:ext uri="{FF2B5EF4-FFF2-40B4-BE49-F238E27FC236}">
                  <a16:creationId xmlns:a16="http://schemas.microsoft.com/office/drawing/2014/main" id="{962B1C0C-FC36-487A-BF55-AA739FF09E4D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sz="2400" dirty="0"/>
                <a:t>What about larger (i.e. </a:t>
              </a:r>
              <a:r>
                <a:rPr lang="en-US" sz="2400" i="1" dirty="0"/>
                <a:t>memory-resident</a:t>
              </a:r>
              <a:r>
                <a:rPr lang="en-US" sz="2400" dirty="0"/>
                <a:t>)</a:t>
              </a:r>
              <a:r>
                <a:rPr lang="en-US" sz="2400" i="1" dirty="0"/>
                <a:t> </a:t>
              </a:r>
              <a:r>
                <a:rPr lang="en-US" sz="2400" dirty="0"/>
                <a:t>workloads?</a:t>
              </a:r>
              <a:endParaRPr sz="2400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1F180E5-E484-4C83-A393-51E17039B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56" y="3946533"/>
            <a:ext cx="438385" cy="43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155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F4EC8-8F2B-45B9-ADF9-201AFA01B636}"/>
              </a:ext>
            </a:extLst>
          </p:cNvPr>
          <p:cNvGrpSpPr/>
          <p:nvPr/>
        </p:nvGrpSpPr>
        <p:grpSpPr>
          <a:xfrm>
            <a:off x="6527256" y="1573921"/>
            <a:ext cx="1915603" cy="1266273"/>
            <a:chOff x="6088528" y="1325508"/>
            <a:chExt cx="2295845" cy="151468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D8B86E0-2B10-4583-8133-7E2472F19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3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088528" y="1325508"/>
              <a:ext cx="2295845" cy="1514686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F0315D-FCF7-4A3B-8E46-BABDF658E190}"/>
                </a:ext>
              </a:extLst>
            </p:cNvPr>
            <p:cNvCxnSpPr>
              <a:cxnSpLocks/>
            </p:cNvCxnSpPr>
            <p:nvPr/>
          </p:nvCxnSpPr>
          <p:spPr>
            <a:xfrm>
              <a:off x="6674097" y="1434026"/>
              <a:ext cx="1555503" cy="1059364"/>
            </a:xfrm>
            <a:prstGeom prst="line">
              <a:avLst/>
            </a:prstGeom>
            <a:noFill/>
            <a:ln w="152400" cap="flat">
              <a:solidFill>
                <a:srgbClr val="C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ECED3A-EBCB-45CD-82F8-CBEB6CC404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4097" y="1325508"/>
              <a:ext cx="1555504" cy="1266273"/>
            </a:xfrm>
            <a:prstGeom prst="line">
              <a:avLst/>
            </a:prstGeom>
            <a:noFill/>
            <a:ln w="152400" cap="flat">
              <a:solidFill>
                <a:srgbClr val="C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EA458A9-1837-42B8-8644-413B448C3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275" y="3247629"/>
            <a:ext cx="1229499" cy="9576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CD643A-492B-4884-9514-D29BF72A8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7256" y="4719597"/>
            <a:ext cx="2295845" cy="865357"/>
          </a:xfrm>
          <a:prstGeom prst="rect">
            <a:avLst/>
          </a:prstGeom>
        </p:spPr>
      </p:pic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376556" y="1296664"/>
            <a:ext cx="6244163" cy="47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hangingPunct="1"/>
            <a:r>
              <a:rPr lang="en-US" sz="1800" dirty="0">
                <a:solidFill>
                  <a:schemeClr val="tx1"/>
                </a:solidFill>
              </a:rPr>
              <a:t>Despite sacrificing functionality for performance, </a:t>
            </a:r>
            <a:r>
              <a:rPr lang="en-US" sz="1800" b="1" dirty="0">
                <a:solidFill>
                  <a:schemeClr val="tx1"/>
                </a:solidFill>
              </a:rPr>
              <a:t>cannot maximize throughput in memory-resident workloads</a:t>
            </a:r>
          </a:p>
          <a:p>
            <a:pPr algn="l" hangingPunct="1"/>
            <a:endParaRPr lang="en-US" sz="1800" dirty="0">
              <a:solidFill>
                <a:schemeClr val="tx1"/>
              </a:solidFill>
            </a:endParaRPr>
          </a:p>
          <a:p>
            <a:pPr algn="l" hangingPunct="1"/>
            <a:r>
              <a:rPr lang="en-US" sz="1800" dirty="0">
                <a:solidFill>
                  <a:schemeClr val="tx1"/>
                </a:solidFill>
              </a:rPr>
              <a:t>Two issues</a:t>
            </a:r>
          </a:p>
          <a:p>
            <a:pPr algn="l" hangingPunct="1"/>
            <a:endParaRPr lang="en-US" sz="1800" dirty="0">
              <a:solidFill>
                <a:schemeClr val="tx1"/>
              </a:solidFill>
            </a:endParaRPr>
          </a:p>
          <a:p>
            <a:pPr marL="457200" indent="-457200" algn="l" hangingPunct="1"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Concurrent but </a:t>
            </a:r>
            <a:r>
              <a:rPr lang="en-US" sz="1800" b="1" i="1" dirty="0">
                <a:solidFill>
                  <a:schemeClr val="tx1"/>
                </a:solidFill>
              </a:rPr>
              <a:t>practically blocking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 Lock-free Gets but </a:t>
            </a:r>
            <a:r>
              <a:rPr lang="en-US" sz="1800" dirty="0">
                <a:solidFill>
                  <a:schemeClr val="tx1"/>
                </a:solidFill>
              </a:rPr>
              <a:t>blocks on several other occasions</a:t>
            </a: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endParaRPr lang="en-US" sz="1800" dirty="0">
              <a:solidFill>
                <a:schemeClr val="tx1"/>
              </a:solidFill>
            </a:endParaRPr>
          </a:p>
          <a:p>
            <a:pPr marL="457200" indent="-457200" algn="l" hangingPunct="1"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In-memory but </a:t>
            </a:r>
            <a:r>
              <a:rPr lang="en-US" sz="1800" b="1" i="1" dirty="0">
                <a:solidFill>
                  <a:schemeClr val="tx1"/>
                </a:solidFill>
              </a:rPr>
              <a:t>not memory-aware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  <a:sym typeface="Wingdings" panose="05000000000000000000" pitchFamily="2" charset="2"/>
              </a:rPr>
              <a:t> Inefficient </a:t>
            </a:r>
            <a:r>
              <a:rPr lang="en-US" sz="1800" dirty="0">
                <a:solidFill>
                  <a:schemeClr val="tx1"/>
                </a:solidFill>
              </a:rPr>
              <a:t>handling of memory accesses/utilization</a:t>
            </a:r>
          </a:p>
        </p:txBody>
      </p: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0" y="519410"/>
            <a:ext cx="9144000" cy="77725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 Deficiencies of state-of-the-art</a:t>
            </a:r>
            <a:endParaRPr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72109" y="6542352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grpSp>
        <p:nvGrpSpPr>
          <p:cNvPr id="13" name="Alternate Process 5">
            <a:extLst>
              <a:ext uri="{FF2B5EF4-FFF2-40B4-BE49-F238E27FC236}">
                <a16:creationId xmlns:a16="http://schemas.microsoft.com/office/drawing/2014/main" id="{64A1027B-C861-48D0-B728-40C664B7DF13}"/>
              </a:ext>
            </a:extLst>
          </p:cNvPr>
          <p:cNvGrpSpPr/>
          <p:nvPr/>
        </p:nvGrpSpPr>
        <p:grpSpPr>
          <a:xfrm>
            <a:off x="238154" y="5893934"/>
            <a:ext cx="8241231" cy="758826"/>
            <a:chOff x="357133" y="283508"/>
            <a:chExt cx="8036727" cy="581389"/>
          </a:xfrm>
        </p:grpSpPr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96480CC6-9B15-4E9A-AEBF-05AC8FD1A17D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15" name="Data replication is necessary!">
              <a:extLst>
                <a:ext uri="{FF2B5EF4-FFF2-40B4-BE49-F238E27FC236}">
                  <a16:creationId xmlns:a16="http://schemas.microsoft.com/office/drawing/2014/main" id="{0AD31668-EE27-4BF0-8782-312EDCF443FF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dirty="0"/>
                <a:t>Can you elaborate?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5972625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Picture 284">
            <a:extLst>
              <a:ext uri="{FF2B5EF4-FFF2-40B4-BE49-F238E27FC236}">
                <a16:creationId xmlns:a16="http://schemas.microsoft.com/office/drawing/2014/main" id="{7DA48BAE-E560-4A93-BCCC-2C109174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386" y="2328744"/>
            <a:ext cx="1754526" cy="2244317"/>
          </a:xfrm>
          <a:prstGeom prst="rect">
            <a:avLst/>
          </a:prstGeom>
        </p:spPr>
      </p:pic>
      <p:pic>
        <p:nvPicPr>
          <p:cNvPr id="271" name="Picture 270">
            <a:extLst>
              <a:ext uri="{FF2B5EF4-FFF2-40B4-BE49-F238E27FC236}">
                <a16:creationId xmlns:a16="http://schemas.microsoft.com/office/drawing/2014/main" id="{98A3BFD3-83BA-4D11-9329-83AFFC6D4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834" y="2328744"/>
            <a:ext cx="2473682" cy="2234066"/>
          </a:xfrm>
          <a:prstGeom prst="rect">
            <a:avLst/>
          </a:prstGeom>
        </p:spPr>
      </p:pic>
      <p:pic>
        <p:nvPicPr>
          <p:cNvPr id="234" name="Picture 233">
            <a:extLst>
              <a:ext uri="{FF2B5EF4-FFF2-40B4-BE49-F238E27FC236}">
                <a16:creationId xmlns:a16="http://schemas.microsoft.com/office/drawing/2014/main" id="{BB826250-61D8-4782-9870-75CCA84D7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38" y="2339013"/>
            <a:ext cx="2378101" cy="2367107"/>
          </a:xfrm>
          <a:prstGeom prst="rect">
            <a:avLst/>
          </a:prstGeom>
        </p:spPr>
      </p:pic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12170" y="46407"/>
            <a:ext cx="9144000" cy="77725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dirty="0"/>
              <a:t>Closer look on state-of-the-art designs</a:t>
            </a:r>
            <a:endParaRPr sz="3600"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72109" y="6542352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5" name="Bin array (N x 64B)">
            <a:extLst>
              <a:ext uri="{FF2B5EF4-FFF2-40B4-BE49-F238E27FC236}">
                <a16:creationId xmlns:a16="http://schemas.microsoft.com/office/drawing/2014/main" id="{7C45D226-9CF3-40C5-B4D7-CF41503489ED}"/>
              </a:ext>
            </a:extLst>
          </p:cNvPr>
          <p:cNvSpPr txBox="1"/>
          <p:nvPr/>
        </p:nvSpPr>
        <p:spPr>
          <a:xfrm>
            <a:off x="772929" y="6006134"/>
            <a:ext cx="7403026" cy="3571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algn="ctr"/>
            <a:r>
              <a:rPr lang="en-US" sz="1200" b="0" dirty="0"/>
              <a:t>For simplicity &lt;8B keys, 8B values&gt; KV pairs and efficient concurrent designs that can inline those in their index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0D5E6B57-5C88-475B-8810-ED5847962DC7}"/>
              </a:ext>
            </a:extLst>
          </p:cNvPr>
          <p:cNvSpPr/>
          <p:nvPr/>
        </p:nvSpPr>
        <p:spPr>
          <a:xfrm>
            <a:off x="1893194" y="2846231"/>
            <a:ext cx="309093" cy="347730"/>
          </a:xfrm>
          <a:prstGeom prst="ellipse">
            <a:avLst/>
          </a:prstGeom>
          <a:noFill/>
          <a:ln w="25400" cap="flat">
            <a:solidFill>
              <a:srgbClr val="F89645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2134774-2D3F-496F-8B45-9818A8A2FD5F}"/>
              </a:ext>
            </a:extLst>
          </p:cNvPr>
          <p:cNvGrpSpPr/>
          <p:nvPr/>
        </p:nvGrpSpPr>
        <p:grpSpPr>
          <a:xfrm>
            <a:off x="1097761" y="2846231"/>
            <a:ext cx="1535137" cy="606428"/>
            <a:chOff x="1097761" y="2846231"/>
            <a:chExt cx="1535137" cy="606428"/>
          </a:xfrm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5CFBFE4F-2E72-492E-ACC4-5F17E156AF13}"/>
                </a:ext>
              </a:extLst>
            </p:cNvPr>
            <p:cNvSpPr/>
            <p:nvPr/>
          </p:nvSpPr>
          <p:spPr>
            <a:xfrm>
              <a:off x="2323805" y="2846231"/>
              <a:ext cx="309093" cy="347730"/>
            </a:xfrm>
            <a:prstGeom prst="ellipse">
              <a:avLst/>
            </a:prstGeom>
            <a:noFill/>
            <a:ln w="25400" cap="flat">
              <a:solidFill>
                <a:srgbClr val="F89645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4F189752-5412-4427-91B7-569AB31A76F2}"/>
                </a:ext>
              </a:extLst>
            </p:cNvPr>
            <p:cNvSpPr/>
            <p:nvPr/>
          </p:nvSpPr>
          <p:spPr>
            <a:xfrm>
              <a:off x="1097761" y="3104929"/>
              <a:ext cx="309093" cy="347730"/>
            </a:xfrm>
            <a:prstGeom prst="ellipse">
              <a:avLst/>
            </a:prstGeom>
            <a:noFill/>
            <a:ln w="25400" cap="flat">
              <a:solidFill>
                <a:srgbClr val="F89645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06AA9401-A44C-4AD6-8F9E-9985644E8D87}"/>
                </a:ext>
              </a:extLst>
            </p:cNvPr>
            <p:cNvSpPr/>
            <p:nvPr/>
          </p:nvSpPr>
          <p:spPr>
            <a:xfrm>
              <a:off x="1475313" y="3102582"/>
              <a:ext cx="309093" cy="347730"/>
            </a:xfrm>
            <a:prstGeom prst="ellipse">
              <a:avLst/>
            </a:prstGeom>
            <a:noFill/>
            <a:ln w="25400" cap="flat">
              <a:solidFill>
                <a:srgbClr val="F89645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192DBA0-92D6-4CF9-BC98-E3BDD75E729A}"/>
              </a:ext>
            </a:extLst>
          </p:cNvPr>
          <p:cNvGrpSpPr/>
          <p:nvPr/>
        </p:nvGrpSpPr>
        <p:grpSpPr>
          <a:xfrm>
            <a:off x="3953575" y="3638944"/>
            <a:ext cx="1506463" cy="363647"/>
            <a:chOff x="3953575" y="3638944"/>
            <a:chExt cx="1506463" cy="363647"/>
          </a:xfrm>
        </p:grpSpPr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8B711483-4CDE-46E2-AB2B-F7435FA911BC}"/>
                </a:ext>
              </a:extLst>
            </p:cNvPr>
            <p:cNvSpPr/>
            <p:nvPr/>
          </p:nvSpPr>
          <p:spPr>
            <a:xfrm>
              <a:off x="3953575" y="3638944"/>
              <a:ext cx="309093" cy="347730"/>
            </a:xfrm>
            <a:prstGeom prst="ellipse">
              <a:avLst/>
            </a:prstGeom>
            <a:noFill/>
            <a:ln w="25400" cap="flat">
              <a:solidFill>
                <a:srgbClr val="F89645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FB17B44-CB07-4C58-A97E-0FC886C187CC}"/>
                </a:ext>
              </a:extLst>
            </p:cNvPr>
            <p:cNvSpPr/>
            <p:nvPr/>
          </p:nvSpPr>
          <p:spPr>
            <a:xfrm>
              <a:off x="4584170" y="3651823"/>
              <a:ext cx="309093" cy="347730"/>
            </a:xfrm>
            <a:prstGeom prst="ellipse">
              <a:avLst/>
            </a:prstGeom>
            <a:noFill/>
            <a:ln w="25400" cap="flat">
              <a:solidFill>
                <a:srgbClr val="F89645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F2C88CAD-07B9-4E61-BFE3-1FDA67EF0B29}"/>
                </a:ext>
              </a:extLst>
            </p:cNvPr>
            <p:cNvSpPr/>
            <p:nvPr/>
          </p:nvSpPr>
          <p:spPr>
            <a:xfrm>
              <a:off x="5150945" y="3654861"/>
              <a:ext cx="309093" cy="347730"/>
            </a:xfrm>
            <a:prstGeom prst="ellipse">
              <a:avLst/>
            </a:prstGeom>
            <a:noFill/>
            <a:ln w="25400" cap="flat">
              <a:solidFill>
                <a:srgbClr val="F89645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5F23233-A05F-4597-83B7-0D4F491C4903}"/>
              </a:ext>
            </a:extLst>
          </p:cNvPr>
          <p:cNvGrpSpPr/>
          <p:nvPr/>
        </p:nvGrpSpPr>
        <p:grpSpPr>
          <a:xfrm>
            <a:off x="6745885" y="2982121"/>
            <a:ext cx="1504061" cy="373489"/>
            <a:chOff x="6745885" y="2982121"/>
            <a:chExt cx="1504061" cy="373489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1C9862CD-67E8-45A7-A7C5-5D800D2A882B}"/>
                </a:ext>
              </a:extLst>
            </p:cNvPr>
            <p:cNvSpPr/>
            <p:nvPr/>
          </p:nvSpPr>
          <p:spPr>
            <a:xfrm>
              <a:off x="6745885" y="3007880"/>
              <a:ext cx="309093" cy="347730"/>
            </a:xfrm>
            <a:prstGeom prst="ellipse">
              <a:avLst/>
            </a:prstGeom>
            <a:noFill/>
            <a:ln w="25400" cap="flat">
              <a:solidFill>
                <a:srgbClr val="F89645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5EBC5FDD-FAFB-40FE-8B9A-F8475E384581}"/>
                </a:ext>
              </a:extLst>
            </p:cNvPr>
            <p:cNvSpPr/>
            <p:nvPr/>
          </p:nvSpPr>
          <p:spPr>
            <a:xfrm>
              <a:off x="7187621" y="2986415"/>
              <a:ext cx="309093" cy="347730"/>
            </a:xfrm>
            <a:prstGeom prst="ellipse">
              <a:avLst/>
            </a:prstGeom>
            <a:noFill/>
            <a:ln w="25400" cap="flat">
              <a:solidFill>
                <a:srgbClr val="F89645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18C1731-2B73-4AB1-B33E-246BE32734D8}"/>
                </a:ext>
              </a:extLst>
            </p:cNvPr>
            <p:cNvSpPr/>
            <p:nvPr/>
          </p:nvSpPr>
          <p:spPr>
            <a:xfrm>
              <a:off x="7940853" y="2982121"/>
              <a:ext cx="309093" cy="347730"/>
            </a:xfrm>
            <a:prstGeom prst="ellipse">
              <a:avLst/>
            </a:prstGeom>
            <a:noFill/>
            <a:ln w="25400" cap="flat">
              <a:solidFill>
                <a:srgbClr val="F89645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</p:grpSp>
      <p:sp>
        <p:nvSpPr>
          <p:cNvPr id="213" name="Bin array (N x 64B)">
            <a:extLst>
              <a:ext uri="{FF2B5EF4-FFF2-40B4-BE49-F238E27FC236}">
                <a16:creationId xmlns:a16="http://schemas.microsoft.com/office/drawing/2014/main" id="{959299C6-893A-4C8F-BECB-968565B95D98}"/>
              </a:ext>
            </a:extLst>
          </p:cNvPr>
          <p:cNvSpPr txBox="1"/>
          <p:nvPr/>
        </p:nvSpPr>
        <p:spPr>
          <a:xfrm>
            <a:off x="3550118" y="4846867"/>
            <a:ext cx="2626398" cy="10973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sz="1400" dirty="0">
                <a:solidFill>
                  <a:srgbClr val="19A002"/>
                </a:solidFill>
              </a:rPr>
              <a:t>Easy deletes</a:t>
            </a:r>
            <a:r>
              <a:rPr lang="en-US" sz="1400" b="0" dirty="0">
                <a:solidFill>
                  <a:schemeClr val="bg2">
                    <a:lumMod val="10000"/>
                  </a:schemeClr>
                </a:solidFill>
              </a:rPr>
              <a:t>: rm from linked-list</a:t>
            </a:r>
          </a:p>
          <a:p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Good occupancy</a:t>
            </a:r>
          </a:p>
          <a:p>
            <a:r>
              <a:rPr lang="en-US" sz="1400" dirty="0">
                <a:solidFill>
                  <a:srgbClr val="C00000"/>
                </a:solidFill>
              </a:rPr>
              <a:t>A lot of memory traffic</a:t>
            </a:r>
            <a:br>
              <a:rPr lang="en-US" sz="14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en-US" sz="1400" b="0" dirty="0"/>
              <a:t>too much pointer chasing!</a:t>
            </a:r>
          </a:p>
        </p:txBody>
      </p:sp>
      <p:sp>
        <p:nvSpPr>
          <p:cNvPr id="214" name="Bin array (N x 64B)">
            <a:extLst>
              <a:ext uri="{FF2B5EF4-FFF2-40B4-BE49-F238E27FC236}">
                <a16:creationId xmlns:a16="http://schemas.microsoft.com/office/drawing/2014/main" id="{240793D9-28CA-403B-8550-1795EC2EF10A}"/>
              </a:ext>
            </a:extLst>
          </p:cNvPr>
          <p:cNvSpPr txBox="1"/>
          <p:nvPr/>
        </p:nvSpPr>
        <p:spPr>
          <a:xfrm>
            <a:off x="6079112" y="4843171"/>
            <a:ext cx="3149135" cy="13169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sz="1400" dirty="0">
                <a:solidFill>
                  <a:srgbClr val="19A002"/>
                </a:solidFill>
              </a:rPr>
              <a:t>Easy deletes</a:t>
            </a:r>
            <a:r>
              <a:rPr lang="en-US" sz="1400" b="0" dirty="0">
                <a:solidFill>
                  <a:schemeClr val="bg2">
                    <a:lumMod val="10000"/>
                  </a:schemeClr>
                </a:solidFill>
              </a:rPr>
              <a:t>: used slots in HDR</a:t>
            </a:r>
            <a:r>
              <a:rPr lang="en-US" sz="1400" dirty="0">
                <a:solidFill>
                  <a:srgbClr val="7030A0"/>
                </a:solidFill>
              </a:rPr>
              <a:t> </a:t>
            </a:r>
            <a:br>
              <a:rPr lang="en-US" sz="1400" dirty="0">
                <a:solidFill>
                  <a:srgbClr val="7030A0"/>
                </a:solidFill>
              </a:rPr>
            </a:b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Low memory traffic</a:t>
            </a:r>
            <a:r>
              <a:rPr lang="en-US" sz="1400" b="0" dirty="0">
                <a:solidFill>
                  <a:schemeClr val="bg2">
                    <a:lumMod val="10000"/>
                  </a:schemeClr>
                </a:solidFill>
              </a:rPr>
              <a:t>: no pointer chasing </a:t>
            </a:r>
          </a:p>
          <a:p>
            <a:r>
              <a:rPr lang="en-US" sz="1400" dirty="0">
                <a:solidFill>
                  <a:srgbClr val="C00000"/>
                </a:solidFill>
              </a:rPr>
              <a:t>Bad occupancy</a:t>
            </a:r>
            <a:r>
              <a:rPr lang="en-US" sz="1400" b="0" dirty="0">
                <a:solidFill>
                  <a:schemeClr val="bg2">
                    <a:lumMod val="10000"/>
                  </a:schemeClr>
                </a:solidFill>
              </a:rPr>
              <a:t>: must resize early </a:t>
            </a:r>
            <a:r>
              <a:rPr lang="en-US" sz="1400" b="0" dirty="0"/>
              <a:t>after</a:t>
            </a:r>
          </a:p>
          <a:p>
            <a:r>
              <a:rPr lang="en-US" sz="1400" b="0" dirty="0"/>
              <a:t>                             4 collisions on any Bin!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CDA502E9-3F1C-4EC8-B5B6-F46AB6E0165C}"/>
              </a:ext>
            </a:extLst>
          </p:cNvPr>
          <p:cNvCxnSpPr>
            <a:cxnSpLocks/>
          </p:cNvCxnSpPr>
          <p:nvPr/>
        </p:nvCxnSpPr>
        <p:spPr>
          <a:xfrm>
            <a:off x="3413761" y="823661"/>
            <a:ext cx="0" cy="5098526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7" name="Bin array (N x 64B)">
            <a:extLst>
              <a:ext uri="{FF2B5EF4-FFF2-40B4-BE49-F238E27FC236}">
                <a16:creationId xmlns:a16="http://schemas.microsoft.com/office/drawing/2014/main" id="{BE52C97D-8900-4527-90EB-3A8C80BB4B41}"/>
              </a:ext>
            </a:extLst>
          </p:cNvPr>
          <p:cNvSpPr txBox="1"/>
          <p:nvPr/>
        </p:nvSpPr>
        <p:spPr>
          <a:xfrm>
            <a:off x="-442218" y="985366"/>
            <a:ext cx="4617999" cy="12173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algn="ctr"/>
            <a:r>
              <a:rPr lang="en-US" sz="1400" dirty="0"/>
              <a:t>Open addressing</a:t>
            </a:r>
          </a:p>
          <a:p>
            <a:pPr algn="ctr"/>
            <a:r>
              <a:rPr lang="en-US" sz="1400" b="0" dirty="0"/>
              <a:t>1.  Hash(key) to a slot </a:t>
            </a:r>
          </a:p>
          <a:p>
            <a:pPr algn="ctr"/>
            <a:r>
              <a:rPr lang="en-US" sz="1400" b="0" dirty="0"/>
              <a:t>2.  probe following slots until </a:t>
            </a:r>
          </a:p>
          <a:p>
            <a:pPr algn="ctr"/>
            <a:r>
              <a:rPr lang="en-US" sz="1400" b="0" dirty="0"/>
              <a:t> find key or empty slot</a:t>
            </a:r>
          </a:p>
        </p:txBody>
      </p:sp>
      <p:sp>
        <p:nvSpPr>
          <p:cNvPr id="218" name="Bin array (N x 64B)">
            <a:extLst>
              <a:ext uri="{FF2B5EF4-FFF2-40B4-BE49-F238E27FC236}">
                <a16:creationId xmlns:a16="http://schemas.microsoft.com/office/drawing/2014/main" id="{27994D2E-B55B-4EFC-8BA2-D9766796E00E}"/>
              </a:ext>
            </a:extLst>
          </p:cNvPr>
          <p:cNvSpPr txBox="1"/>
          <p:nvPr/>
        </p:nvSpPr>
        <p:spPr>
          <a:xfrm>
            <a:off x="3134806" y="993948"/>
            <a:ext cx="5888613" cy="15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algn="ctr"/>
            <a:r>
              <a:rPr lang="en-US" sz="1400" dirty="0"/>
              <a:t>Closed addressing</a:t>
            </a:r>
            <a:endParaRPr lang="en-US" sz="1400" b="0" dirty="0"/>
          </a:p>
          <a:p>
            <a:pPr algn="ctr"/>
            <a:r>
              <a:rPr lang="en-US" sz="1400" b="0" dirty="0"/>
              <a:t>1.   Hash(key) to a bin </a:t>
            </a:r>
          </a:p>
          <a:p>
            <a:pPr algn="ctr"/>
            <a:r>
              <a:rPr lang="en-US" sz="1400" b="0" dirty="0"/>
              <a:t>2.   search Bin for the key</a:t>
            </a:r>
          </a:p>
          <a:p>
            <a:pPr algn="ctr"/>
            <a:r>
              <a:rPr lang="en-US" sz="1400" b="0" dirty="0">
                <a:sym typeface="Wingdings" panose="05000000000000000000" pitchFamily="2" charset="2"/>
              </a:rPr>
              <a:t>   </a:t>
            </a:r>
            <a:r>
              <a:rPr lang="en-US" sz="1400" b="0" dirty="0"/>
              <a:t>One-to-one relation for a key and a Bin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8D006D-6FE6-4EC7-A9A6-F760A88113E1}"/>
              </a:ext>
            </a:extLst>
          </p:cNvPr>
          <p:cNvGrpSpPr/>
          <p:nvPr/>
        </p:nvGrpSpPr>
        <p:grpSpPr>
          <a:xfrm>
            <a:off x="33660" y="4830020"/>
            <a:ext cx="3695312" cy="1607754"/>
            <a:chOff x="33660" y="4830020"/>
            <a:chExt cx="3695312" cy="1607754"/>
          </a:xfrm>
        </p:grpSpPr>
        <p:sp>
          <p:nvSpPr>
            <p:cNvPr id="210" name="Bin array (N x 64B)">
              <a:extLst>
                <a:ext uri="{FF2B5EF4-FFF2-40B4-BE49-F238E27FC236}">
                  <a16:creationId xmlns:a16="http://schemas.microsoft.com/office/drawing/2014/main" id="{7CFBE4AB-9F08-43CC-A698-BED2A5A052A8}"/>
                </a:ext>
              </a:extLst>
            </p:cNvPr>
            <p:cNvSpPr txBox="1"/>
            <p:nvPr/>
          </p:nvSpPr>
          <p:spPr>
            <a:xfrm>
              <a:off x="33660" y="4830020"/>
              <a:ext cx="3695312" cy="16077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914400">
                <a:defRPr sz="23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 lang="en-US" sz="1400" dirty="0">
                  <a:solidFill>
                    <a:schemeClr val="accent3">
                      <a:lumMod val="50000"/>
                    </a:schemeClr>
                  </a:solidFill>
                </a:rPr>
                <a:t>Good occupancy</a:t>
              </a:r>
            </a:p>
            <a:p>
              <a:r>
                <a:rPr lang="en-US" sz="1400" dirty="0">
                  <a:solidFill>
                    <a:schemeClr val="accent3">
                      <a:lumMod val="50000"/>
                    </a:schemeClr>
                  </a:solidFill>
                </a:rPr>
                <a:t>Low memory traffic</a:t>
              </a:r>
              <a:r>
                <a:rPr lang="en-US" sz="1400" b="0" dirty="0">
                  <a:solidFill>
                    <a:schemeClr val="bg2">
                      <a:lumMod val="10000"/>
                    </a:schemeClr>
                  </a:solidFill>
                </a:rPr>
                <a:t>: no pointer chasing</a:t>
              </a:r>
              <a:endParaRPr lang="en-US" sz="1400" dirty="0">
                <a:solidFill>
                  <a:srgbClr val="C00000"/>
                </a:solidFill>
              </a:endParaRPr>
            </a:p>
            <a:p>
              <a:r>
                <a:rPr lang="en-US" sz="1400" dirty="0">
                  <a:solidFill>
                    <a:srgbClr val="C00000"/>
                  </a:solidFill>
                </a:rPr>
                <a:t>Deletes = tombstones </a:t>
              </a:r>
              <a:r>
                <a:rPr lang="en-US" sz="1400" dirty="0">
                  <a:sym typeface="Wingdings" panose="05000000000000000000" pitchFamily="2" charset="2"/>
                </a:rPr>
                <a:t> </a:t>
              </a:r>
              <a:r>
                <a:rPr lang="en-US" sz="1400" b="0" dirty="0">
                  <a:sym typeface="Wingdings" panose="05000000000000000000" pitchFamily="2" charset="2"/>
                </a:rPr>
                <a:t>cannot free slots unless </a:t>
              </a:r>
              <a:r>
                <a:rPr lang="en-US" sz="1400" b="0" dirty="0">
                  <a:solidFill>
                    <a:schemeClr val="bg2">
                      <a:lumMod val="10000"/>
                    </a:schemeClr>
                  </a:solidFill>
                  <a:sym typeface="Wingdings" panose="05000000000000000000" pitchFamily="2" charset="2"/>
                </a:rPr>
                <a:t>block all ops &amp; copy KVs </a:t>
              </a:r>
              <a:r>
                <a:rPr lang="en-US" sz="1400" b="0" dirty="0">
                  <a:sym typeface="Wingdings" panose="05000000000000000000" pitchFamily="2" charset="2"/>
                </a:rPr>
                <a:t>to new index</a:t>
              </a:r>
              <a:endParaRPr lang="en-US" sz="1400" b="0" dirty="0"/>
            </a:p>
          </p:txBody>
        </p:sp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586C8899-4A6E-4AA6-9F3E-68F6551F8F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0611" t="6386" r="14939" b="10707"/>
            <a:stretch/>
          </p:blipFill>
          <p:spPr>
            <a:xfrm>
              <a:off x="774285" y="5773212"/>
              <a:ext cx="323476" cy="324093"/>
            </a:xfrm>
            <a:prstGeom prst="rect">
              <a:avLst/>
            </a:prstGeom>
          </p:spPr>
        </p:pic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750FED1E-A34D-4F28-AAE1-25168A4F5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35274" y="4843171"/>
              <a:ext cx="219815" cy="252344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D7AD756-35DF-4218-8B54-122B2E2EB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2055" y="5799685"/>
              <a:ext cx="288997" cy="288997"/>
            </a:xfrm>
            <a:prstGeom prst="rect">
              <a:avLst/>
            </a:prstGeom>
          </p:spPr>
        </p:pic>
      </p:grpSp>
      <p:grpSp>
        <p:nvGrpSpPr>
          <p:cNvPr id="287" name="Alternate Process 5">
            <a:extLst>
              <a:ext uri="{FF2B5EF4-FFF2-40B4-BE49-F238E27FC236}">
                <a16:creationId xmlns:a16="http://schemas.microsoft.com/office/drawing/2014/main" id="{32F7C063-06DA-4C67-ACB3-714F0BA26BFA}"/>
              </a:ext>
            </a:extLst>
          </p:cNvPr>
          <p:cNvGrpSpPr/>
          <p:nvPr/>
        </p:nvGrpSpPr>
        <p:grpSpPr>
          <a:xfrm>
            <a:off x="246392" y="5943813"/>
            <a:ext cx="8241231" cy="758826"/>
            <a:chOff x="357133" y="283508"/>
            <a:chExt cx="8036727" cy="581389"/>
          </a:xfrm>
        </p:grpSpPr>
        <p:sp>
          <p:nvSpPr>
            <p:cNvPr id="288" name="Shape">
              <a:extLst>
                <a:ext uri="{FF2B5EF4-FFF2-40B4-BE49-F238E27FC236}">
                  <a16:creationId xmlns:a16="http://schemas.microsoft.com/office/drawing/2014/main" id="{6161586F-5A4F-4791-8209-B27004F9C67C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289" name="Data replication is necessary!">
              <a:extLst>
                <a:ext uri="{FF2B5EF4-FFF2-40B4-BE49-F238E27FC236}">
                  <a16:creationId xmlns:a16="http://schemas.microsoft.com/office/drawing/2014/main" id="{83EEE373-F840-4202-BABF-0555B976FD41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sz="2400" dirty="0"/>
                <a:t>Challenging tradeoff … is that all impacting performance?</a:t>
              </a:r>
              <a:endParaRPr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376492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animBg="1"/>
      <p:bldP spid="213" grpId="0"/>
      <p:bldP spid="2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563713" y="1296665"/>
            <a:ext cx="6057006" cy="292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452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0" y="231083"/>
            <a:ext cx="9144000" cy="77725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400" dirty="0"/>
              <a:t>Issue: CPU stalls on each request</a:t>
            </a:r>
            <a:endParaRPr sz="3400"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72109" y="6542352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EC79FC-638D-44B3-8148-8DD5F296C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035" y="1407741"/>
            <a:ext cx="6786586" cy="2407306"/>
          </a:xfrm>
          <a:prstGeom prst="rect">
            <a:avLst/>
          </a:prstGeom>
        </p:spPr>
      </p:pic>
      <p:sp>
        <p:nvSpPr>
          <p:cNvPr id="69" name="Bin array (N x 64B)">
            <a:extLst>
              <a:ext uri="{FF2B5EF4-FFF2-40B4-BE49-F238E27FC236}">
                <a16:creationId xmlns:a16="http://schemas.microsoft.com/office/drawing/2014/main" id="{407C0F0E-EE68-49C7-ADF9-4F61EA3C6CB9}"/>
              </a:ext>
            </a:extLst>
          </p:cNvPr>
          <p:cNvSpPr txBox="1"/>
          <p:nvPr/>
        </p:nvSpPr>
        <p:spPr>
          <a:xfrm>
            <a:off x="0" y="5101224"/>
            <a:ext cx="9144000" cy="5736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 algn="ctr"/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Regardless </a:t>
            </a:r>
            <a:r>
              <a:rPr lang="en-US" sz="1600" b="0" dirty="0">
                <a:solidFill>
                  <a:schemeClr val="bg2">
                    <a:lumMod val="10000"/>
                  </a:schemeClr>
                </a:solidFill>
              </a:rPr>
              <a:t>of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scheme </a:t>
            </a:r>
            <a:r>
              <a:rPr lang="en-US" sz="1600" b="0" dirty="0">
                <a:solidFill>
                  <a:schemeClr val="bg2">
                    <a:lumMod val="10000"/>
                  </a:schemeClr>
                </a:solidFill>
              </a:rPr>
              <a:t>most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hashtables </a:t>
            </a:r>
            <a:r>
              <a:rPr lang="en-US" sz="1600" dirty="0">
                <a:solidFill>
                  <a:srgbClr val="FF644E">
                    <a:lumMod val="50000"/>
                  </a:srgbClr>
                </a:solidFill>
              </a:rPr>
              <a:t>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644E">
                    <a:lumMod val="50000"/>
                  </a:srgb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tall the CPU on every </a:t>
            </a:r>
            <a:r>
              <a:rPr lang="en-US" sz="1600" dirty="0">
                <a:solidFill>
                  <a:srgbClr val="FF644E">
                    <a:lumMod val="50000"/>
                  </a:srgbClr>
                </a:solidFill>
              </a:rPr>
              <a:t>request </a:t>
            </a:r>
          </a:p>
          <a:p>
            <a:pPr lvl="0" algn="ctr"/>
            <a:r>
              <a:rPr lang="en-US" sz="1600" b="0" dirty="0">
                <a:solidFill>
                  <a:schemeClr val="bg2">
                    <a:lumMod val="10000"/>
                  </a:schemeClr>
                </a:solidFill>
              </a:rPr>
              <a:t>(Get, Put, Insert, Delete)</a:t>
            </a:r>
            <a:r>
              <a:rPr lang="en-US" sz="1600" b="0" dirty="0">
                <a:solidFill>
                  <a:srgbClr val="FF644E">
                    <a:lumMod val="50000"/>
                  </a:srgbClr>
                </a:solidFill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Wingdings" panose="05000000000000000000" pitchFamily="2" charset="2"/>
              </a:rPr>
              <a:t>waiting one or more memory accesses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F6E491C-8A97-4114-837D-B61CC88C4B3A}"/>
              </a:ext>
            </a:extLst>
          </p:cNvPr>
          <p:cNvGrpSpPr/>
          <p:nvPr/>
        </p:nvGrpSpPr>
        <p:grpSpPr>
          <a:xfrm>
            <a:off x="568632" y="2007758"/>
            <a:ext cx="1167402" cy="452206"/>
            <a:chOff x="626298" y="2411415"/>
            <a:chExt cx="1167402" cy="45220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7AEC646-572E-4184-B027-AA8D5A5F07BF}"/>
                </a:ext>
              </a:extLst>
            </p:cNvPr>
            <p:cNvGrpSpPr/>
            <p:nvPr/>
          </p:nvGrpSpPr>
          <p:grpSpPr>
            <a:xfrm>
              <a:off x="626298" y="2576363"/>
              <a:ext cx="1167402" cy="287258"/>
              <a:chOff x="626298" y="2576363"/>
              <a:chExt cx="1167402" cy="287258"/>
            </a:xfrm>
          </p:grpSpPr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2B950E04-DBC8-4462-A853-57FCFE9E02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73" y="2723138"/>
                <a:ext cx="389127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5" name="HDR  |  KV  |  KV  |  KV">
                <a:extLst>
                  <a:ext uri="{FF2B5EF4-FFF2-40B4-BE49-F238E27FC236}">
                    <a16:creationId xmlns:a16="http://schemas.microsoft.com/office/drawing/2014/main" id="{5FEFA12A-C1C5-40BB-98C2-CF8E2E917FEE}"/>
                  </a:ext>
                </a:extLst>
              </p:cNvPr>
              <p:cNvSpPr txBox="1"/>
              <p:nvPr/>
            </p:nvSpPr>
            <p:spPr>
              <a:xfrm>
                <a:off x="626298" y="2576363"/>
                <a:ext cx="798295" cy="287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2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ctr" defTabSz="2438338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rPr>
                  <a:t>Insert(X, 3)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BAA9EA5-B6AB-4638-818E-28249F80BA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611" t="6386" r="14939" b="10707"/>
            <a:stretch/>
          </p:blipFill>
          <p:spPr>
            <a:xfrm>
              <a:off x="1471715" y="2411415"/>
              <a:ext cx="224054" cy="224482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1F548DF-C42A-43D0-91B4-582644C3294D}"/>
              </a:ext>
            </a:extLst>
          </p:cNvPr>
          <p:cNvGrpSpPr/>
          <p:nvPr/>
        </p:nvGrpSpPr>
        <p:grpSpPr>
          <a:xfrm>
            <a:off x="842763" y="2456129"/>
            <a:ext cx="893272" cy="399499"/>
            <a:chOff x="900429" y="2859786"/>
            <a:chExt cx="893272" cy="399499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266AF50-77B0-4B47-AFC8-CCF9107CB673}"/>
                </a:ext>
              </a:extLst>
            </p:cNvPr>
            <p:cNvGrpSpPr/>
            <p:nvPr/>
          </p:nvGrpSpPr>
          <p:grpSpPr>
            <a:xfrm>
              <a:off x="900429" y="2972027"/>
              <a:ext cx="893272" cy="287258"/>
              <a:chOff x="900429" y="2972027"/>
              <a:chExt cx="893272" cy="287258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67E225-1A65-42F6-8705-520C03BF7F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74" y="3117275"/>
                <a:ext cx="389127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7" name="HDR  |  KV  |  KV  |  KV">
                <a:extLst>
                  <a:ext uri="{FF2B5EF4-FFF2-40B4-BE49-F238E27FC236}">
                    <a16:creationId xmlns:a16="http://schemas.microsoft.com/office/drawing/2014/main" id="{07F3053D-1E8E-4070-9456-C6DF806247D8}"/>
                  </a:ext>
                </a:extLst>
              </p:cNvPr>
              <p:cNvSpPr txBox="1"/>
              <p:nvPr/>
            </p:nvSpPr>
            <p:spPr>
              <a:xfrm>
                <a:off x="900429" y="2972027"/>
                <a:ext cx="503343" cy="287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2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ctr" defTabSz="2438338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rPr>
                  <a:t>Get(C)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09BC70F-E143-499D-AC1D-933EC30552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611" t="6386" r="14939" b="10707"/>
            <a:stretch/>
          </p:blipFill>
          <p:spPr>
            <a:xfrm>
              <a:off x="1464808" y="2859786"/>
              <a:ext cx="224054" cy="224482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4C5C966-8CF9-42D5-910D-3650FE1ACEB8}"/>
              </a:ext>
            </a:extLst>
          </p:cNvPr>
          <p:cNvGrpSpPr/>
          <p:nvPr/>
        </p:nvGrpSpPr>
        <p:grpSpPr>
          <a:xfrm>
            <a:off x="663003" y="2934265"/>
            <a:ext cx="1073032" cy="378336"/>
            <a:chOff x="720669" y="3337922"/>
            <a:chExt cx="1073032" cy="37833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1840B1E-43F8-4AC1-B404-D24CE19E661B}"/>
                </a:ext>
              </a:extLst>
            </p:cNvPr>
            <p:cNvGrpSpPr/>
            <p:nvPr/>
          </p:nvGrpSpPr>
          <p:grpSpPr>
            <a:xfrm>
              <a:off x="720669" y="3429000"/>
              <a:ext cx="1073032" cy="287258"/>
              <a:chOff x="720669" y="3254516"/>
              <a:chExt cx="1073032" cy="287258"/>
            </a:xfrm>
          </p:grpSpPr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A9583E59-BB93-48A9-AE87-4CC98A383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74" y="3429000"/>
                <a:ext cx="389127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9" name="HDR  |  KV  |  KV  |  KV">
                <a:extLst>
                  <a:ext uri="{FF2B5EF4-FFF2-40B4-BE49-F238E27FC236}">
                    <a16:creationId xmlns:a16="http://schemas.microsoft.com/office/drawing/2014/main" id="{3860CC5E-1BDF-4B90-A6FB-F405B460D747}"/>
                  </a:ext>
                </a:extLst>
              </p:cNvPr>
              <p:cNvSpPr txBox="1"/>
              <p:nvPr/>
            </p:nvSpPr>
            <p:spPr>
              <a:xfrm>
                <a:off x="720669" y="3254516"/>
                <a:ext cx="702115" cy="287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2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ctr" defTabSz="2438338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rPr>
                  <a:t>Delete(D)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0241D75-3AFA-449A-9CB8-0FA0C02C42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611" t="6386" r="14939" b="10707"/>
            <a:stretch/>
          </p:blipFill>
          <p:spPr>
            <a:xfrm>
              <a:off x="1471715" y="3337922"/>
              <a:ext cx="224054" cy="224482"/>
            </a:xfrm>
            <a:prstGeom prst="rect">
              <a:avLst/>
            </a:prstGeom>
          </p:spPr>
        </p:pic>
      </p:grpSp>
      <p:grpSp>
        <p:nvGrpSpPr>
          <p:cNvPr id="97" name="Alternate Process 5">
            <a:extLst>
              <a:ext uri="{FF2B5EF4-FFF2-40B4-BE49-F238E27FC236}">
                <a16:creationId xmlns:a16="http://schemas.microsoft.com/office/drawing/2014/main" id="{23F49AEA-FBE6-417D-A2DC-E68595ED9C2C}"/>
              </a:ext>
            </a:extLst>
          </p:cNvPr>
          <p:cNvGrpSpPr/>
          <p:nvPr/>
        </p:nvGrpSpPr>
        <p:grpSpPr>
          <a:xfrm>
            <a:off x="135340" y="5934207"/>
            <a:ext cx="8918016" cy="758826"/>
            <a:chOff x="357133" y="283508"/>
            <a:chExt cx="8036727" cy="581389"/>
          </a:xfrm>
        </p:grpSpPr>
        <p:sp>
          <p:nvSpPr>
            <p:cNvPr id="98" name="Shape">
              <a:extLst>
                <a:ext uri="{FF2B5EF4-FFF2-40B4-BE49-F238E27FC236}">
                  <a16:creationId xmlns:a16="http://schemas.microsoft.com/office/drawing/2014/main" id="{3C2F4740-9F59-4F05-A700-40A10AC31A65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99" name="Data replication is necessary!">
              <a:extLst>
                <a:ext uri="{FF2B5EF4-FFF2-40B4-BE49-F238E27FC236}">
                  <a16:creationId xmlns:a16="http://schemas.microsoft.com/office/drawing/2014/main" id="{76F86225-CCC9-4AE5-9B95-EB98B66022C8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GB" sz="2400" dirty="0"/>
                <a:t>Cannot overlap memory accesses </a:t>
              </a:r>
            </a:p>
            <a:p>
              <a:r>
                <a:rPr lang="en-GB" sz="2400" dirty="0">
                  <a:sym typeface="Wingdings" panose="05000000000000000000" pitchFamily="2" charset="2"/>
                </a:rPr>
                <a:t> each request </a:t>
              </a:r>
              <a:r>
                <a:rPr lang="en-GB" sz="2400" dirty="0"/>
                <a:t>blocks CPU waiting for memory!</a:t>
              </a:r>
              <a:endParaRPr sz="2400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D6F8FCB-A0F6-4209-918C-099C297352E3}"/>
              </a:ext>
            </a:extLst>
          </p:cNvPr>
          <p:cNvGrpSpPr/>
          <p:nvPr/>
        </p:nvGrpSpPr>
        <p:grpSpPr>
          <a:xfrm>
            <a:off x="1346106" y="3846846"/>
            <a:ext cx="2032534" cy="977214"/>
            <a:chOff x="1403772" y="4110457"/>
            <a:chExt cx="2032534" cy="97721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395F0FFE-0D26-4A92-B382-CA8223A06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03772" y="4110457"/>
              <a:ext cx="2032534" cy="766109"/>
            </a:xfrm>
            <a:prstGeom prst="rect">
              <a:avLst/>
            </a:prstGeom>
          </p:spPr>
        </p:pic>
        <p:sp>
          <p:nvSpPr>
            <p:cNvPr id="100" name="HDR  |  KV  |  KV  |  KV">
              <a:extLst>
                <a:ext uri="{FF2B5EF4-FFF2-40B4-BE49-F238E27FC236}">
                  <a16:creationId xmlns:a16="http://schemas.microsoft.com/office/drawing/2014/main" id="{483DE5C8-F13A-42FB-BA87-460C35E03417}"/>
                </a:ext>
              </a:extLst>
            </p:cNvPr>
            <p:cNvSpPr txBox="1"/>
            <p:nvPr/>
          </p:nvSpPr>
          <p:spPr>
            <a:xfrm>
              <a:off x="1471715" y="4800413"/>
              <a:ext cx="798295" cy="2872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243833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Insert(X, 3)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DFEA6BF-EBED-47A2-BE1B-EBB5E50360B9}"/>
              </a:ext>
            </a:extLst>
          </p:cNvPr>
          <p:cNvGrpSpPr/>
          <p:nvPr/>
        </p:nvGrpSpPr>
        <p:grpSpPr>
          <a:xfrm>
            <a:off x="3896535" y="3887194"/>
            <a:ext cx="2032534" cy="991692"/>
            <a:chOff x="3954201" y="4150805"/>
            <a:chExt cx="2032534" cy="991692"/>
          </a:xfrm>
        </p:grpSpPr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202AB49B-73B9-4039-8981-E8C499008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54201" y="4150805"/>
              <a:ext cx="2032534" cy="766109"/>
            </a:xfrm>
            <a:prstGeom prst="rect">
              <a:avLst/>
            </a:prstGeom>
          </p:spPr>
        </p:pic>
        <p:sp>
          <p:nvSpPr>
            <p:cNvPr id="101" name="HDR  |  KV  |  KV  |  KV">
              <a:extLst>
                <a:ext uri="{FF2B5EF4-FFF2-40B4-BE49-F238E27FC236}">
                  <a16:creationId xmlns:a16="http://schemas.microsoft.com/office/drawing/2014/main" id="{7E2BD2AD-5949-4409-9344-A6984928D2D3}"/>
                </a:ext>
              </a:extLst>
            </p:cNvPr>
            <p:cNvSpPr txBox="1"/>
            <p:nvPr/>
          </p:nvSpPr>
          <p:spPr>
            <a:xfrm>
              <a:off x="4092636" y="4855239"/>
              <a:ext cx="503343" cy="2872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243833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Get(C)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B4BBD54-7580-4DBB-A8EA-5BCD84DA1955}"/>
              </a:ext>
            </a:extLst>
          </p:cNvPr>
          <p:cNvGrpSpPr/>
          <p:nvPr/>
        </p:nvGrpSpPr>
        <p:grpSpPr>
          <a:xfrm>
            <a:off x="6490687" y="3855955"/>
            <a:ext cx="2032534" cy="1027437"/>
            <a:chOff x="6548353" y="4119566"/>
            <a:chExt cx="2032534" cy="1027437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E7E5E503-C155-48B3-A73A-1121075B1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48353" y="4119566"/>
              <a:ext cx="2032534" cy="766109"/>
            </a:xfrm>
            <a:prstGeom prst="rect">
              <a:avLst/>
            </a:prstGeom>
          </p:spPr>
        </p:pic>
        <p:sp>
          <p:nvSpPr>
            <p:cNvPr id="102" name="HDR  |  KV  |  KV  |  KV">
              <a:extLst>
                <a:ext uri="{FF2B5EF4-FFF2-40B4-BE49-F238E27FC236}">
                  <a16:creationId xmlns:a16="http://schemas.microsoft.com/office/drawing/2014/main" id="{FED4653F-8B69-42BD-8D52-2929DEB892D2}"/>
                </a:ext>
              </a:extLst>
            </p:cNvPr>
            <p:cNvSpPr txBox="1"/>
            <p:nvPr/>
          </p:nvSpPr>
          <p:spPr>
            <a:xfrm>
              <a:off x="6662972" y="4859745"/>
              <a:ext cx="702115" cy="2872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243833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Delete(D)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pic>
        <p:nvPicPr>
          <p:cNvPr id="95" name="Picture 94">
            <a:extLst>
              <a:ext uri="{FF2B5EF4-FFF2-40B4-BE49-F238E27FC236}">
                <a16:creationId xmlns:a16="http://schemas.microsoft.com/office/drawing/2014/main" id="{E27E7992-17CC-4996-A635-93D91F41B9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9613" y="4469827"/>
            <a:ext cx="219815" cy="25234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ADF751BE-1FBA-42A6-905D-95C8207D5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0631" y="4558495"/>
            <a:ext cx="219815" cy="252344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CAF92A84-F095-470C-B138-17782F329F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421" y="4536802"/>
            <a:ext cx="219815" cy="2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388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563713" y="1296665"/>
            <a:ext cx="6057006" cy="292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452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0" y="240643"/>
            <a:ext cx="9144000" cy="77725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400" dirty="0"/>
              <a:t>Another issue: resize is also blocking</a:t>
            </a:r>
            <a:endParaRPr sz="3400"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72109" y="6542352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Bin array (N x 64B)">
            <a:extLst>
              <a:ext uri="{FF2B5EF4-FFF2-40B4-BE49-F238E27FC236}">
                <a16:creationId xmlns:a16="http://schemas.microsoft.com/office/drawing/2014/main" id="{407C0F0E-EE68-49C7-ADF9-4F61EA3C6CB9}"/>
              </a:ext>
            </a:extLst>
          </p:cNvPr>
          <p:cNvSpPr txBox="1"/>
          <p:nvPr/>
        </p:nvSpPr>
        <p:spPr>
          <a:xfrm>
            <a:off x="92006" y="4536748"/>
            <a:ext cx="9144000" cy="5736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 algn="ctr"/>
            <a:r>
              <a:rPr lang="en-US" sz="1600" b="0" dirty="0">
                <a:solidFill>
                  <a:schemeClr val="bg2">
                    <a:lumMod val="10000"/>
                  </a:schemeClr>
                </a:solidFill>
              </a:rPr>
              <a:t>Hashtables optimizing for memory accesses and common case (i.e. when not resizing) </a:t>
            </a:r>
          </a:p>
          <a:p>
            <a:pPr lvl="0" algn="ctr"/>
            <a:r>
              <a:rPr lang="en-US" sz="1600" b="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600" dirty="0">
                <a:solidFill>
                  <a:srgbClr val="FF644E">
                    <a:lumMod val="50000"/>
                  </a:srgbClr>
                </a:solidFill>
              </a:rPr>
              <a:t>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644E">
                    <a:lumMod val="50000"/>
                  </a:srgb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tall all requests</a:t>
            </a:r>
            <a:r>
              <a:rPr lang="en-US" sz="1600" noProof="0" dirty="0">
                <a:solidFill>
                  <a:srgbClr val="FF644E">
                    <a:lumMod val="50000"/>
                  </a:srgbClr>
                </a:solidFill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Wingdings" panose="05000000000000000000" pitchFamily="2" charset="2"/>
              </a:rPr>
              <a:t>until all </a:t>
            </a:r>
            <a:r>
              <a:rPr lang="en-US" sz="1600" dirty="0">
                <a:sym typeface="Wingdings" panose="05000000000000000000" pitchFamily="2" charset="2"/>
              </a:rPr>
              <a:t>KV pairs are copied to the new index </a:t>
            </a:r>
            <a:r>
              <a:rPr lang="en-US" sz="1600" b="0" dirty="0">
                <a:sym typeface="Wingdings" panose="05000000000000000000" pitchFamily="2" charset="2"/>
              </a:rPr>
              <a:t>when resizing.</a:t>
            </a:r>
          </a:p>
          <a:p>
            <a:pPr lvl="0" algn="ctr"/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Wingdings" panose="05000000000000000000" pitchFamily="2" charset="2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AEC646-572E-4184-B027-AA8D5A5F07BF}"/>
              </a:ext>
            </a:extLst>
          </p:cNvPr>
          <p:cNvGrpSpPr/>
          <p:nvPr/>
        </p:nvGrpSpPr>
        <p:grpSpPr>
          <a:xfrm>
            <a:off x="626298" y="2576363"/>
            <a:ext cx="1167402" cy="287258"/>
            <a:chOff x="626298" y="2576363"/>
            <a:chExt cx="1167402" cy="287258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B950E04-DBC8-4462-A853-57FCFE9E02A8}"/>
                </a:ext>
              </a:extLst>
            </p:cNvPr>
            <p:cNvCxnSpPr>
              <a:cxnSpLocks/>
            </p:cNvCxnSpPr>
            <p:nvPr/>
          </p:nvCxnSpPr>
          <p:spPr>
            <a:xfrm>
              <a:off x="1404573" y="2723138"/>
              <a:ext cx="389127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75" name="HDR  |  KV  |  KV  |  KV">
              <a:extLst>
                <a:ext uri="{FF2B5EF4-FFF2-40B4-BE49-F238E27FC236}">
                  <a16:creationId xmlns:a16="http://schemas.microsoft.com/office/drawing/2014/main" id="{5FEFA12A-C1C5-40BB-98C2-CF8E2E917FEE}"/>
                </a:ext>
              </a:extLst>
            </p:cNvPr>
            <p:cNvSpPr txBox="1"/>
            <p:nvPr/>
          </p:nvSpPr>
          <p:spPr>
            <a:xfrm>
              <a:off x="626298" y="2576363"/>
              <a:ext cx="798295" cy="2872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243833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Insert(X, 3)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1F548DF-C42A-43D0-91B4-582644C3294D}"/>
              </a:ext>
            </a:extLst>
          </p:cNvPr>
          <p:cNvGrpSpPr/>
          <p:nvPr/>
        </p:nvGrpSpPr>
        <p:grpSpPr>
          <a:xfrm>
            <a:off x="900429" y="2859786"/>
            <a:ext cx="893272" cy="399499"/>
            <a:chOff x="900429" y="2859786"/>
            <a:chExt cx="893272" cy="399499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266AF50-77B0-4B47-AFC8-CCF9107CB673}"/>
                </a:ext>
              </a:extLst>
            </p:cNvPr>
            <p:cNvGrpSpPr/>
            <p:nvPr/>
          </p:nvGrpSpPr>
          <p:grpSpPr>
            <a:xfrm>
              <a:off x="900429" y="2972027"/>
              <a:ext cx="893272" cy="287258"/>
              <a:chOff x="900429" y="2972027"/>
              <a:chExt cx="893272" cy="287258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67E225-1A65-42F6-8705-520C03BF7F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74" y="3117275"/>
                <a:ext cx="389127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7" name="HDR  |  KV  |  KV  |  KV">
                <a:extLst>
                  <a:ext uri="{FF2B5EF4-FFF2-40B4-BE49-F238E27FC236}">
                    <a16:creationId xmlns:a16="http://schemas.microsoft.com/office/drawing/2014/main" id="{07F3053D-1E8E-4070-9456-C6DF806247D8}"/>
                  </a:ext>
                </a:extLst>
              </p:cNvPr>
              <p:cNvSpPr txBox="1"/>
              <p:nvPr/>
            </p:nvSpPr>
            <p:spPr>
              <a:xfrm>
                <a:off x="900429" y="2972027"/>
                <a:ext cx="503343" cy="287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2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ctr" defTabSz="2438338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rPr>
                  <a:t>Get(C)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09BC70F-E143-499D-AC1D-933EC30552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611" t="6386" r="14939" b="10707"/>
            <a:stretch/>
          </p:blipFill>
          <p:spPr>
            <a:xfrm>
              <a:off x="1464808" y="2859786"/>
              <a:ext cx="224054" cy="224482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4C5C966-8CF9-42D5-910D-3650FE1ACEB8}"/>
              </a:ext>
            </a:extLst>
          </p:cNvPr>
          <p:cNvGrpSpPr/>
          <p:nvPr/>
        </p:nvGrpSpPr>
        <p:grpSpPr>
          <a:xfrm>
            <a:off x="720669" y="3337922"/>
            <a:ext cx="1073032" cy="378336"/>
            <a:chOff x="720669" y="3337922"/>
            <a:chExt cx="1073032" cy="37833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1840B1E-43F8-4AC1-B404-D24CE19E661B}"/>
                </a:ext>
              </a:extLst>
            </p:cNvPr>
            <p:cNvGrpSpPr/>
            <p:nvPr/>
          </p:nvGrpSpPr>
          <p:grpSpPr>
            <a:xfrm>
              <a:off x="720669" y="3429000"/>
              <a:ext cx="1073032" cy="287258"/>
              <a:chOff x="720669" y="3254516"/>
              <a:chExt cx="1073032" cy="287258"/>
            </a:xfrm>
          </p:grpSpPr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A9583E59-BB93-48A9-AE87-4CC98A383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74" y="3429000"/>
                <a:ext cx="389127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9" name="HDR  |  KV  |  KV  |  KV">
                <a:extLst>
                  <a:ext uri="{FF2B5EF4-FFF2-40B4-BE49-F238E27FC236}">
                    <a16:creationId xmlns:a16="http://schemas.microsoft.com/office/drawing/2014/main" id="{3860CC5E-1BDF-4B90-A6FB-F405B460D747}"/>
                  </a:ext>
                </a:extLst>
              </p:cNvPr>
              <p:cNvSpPr txBox="1"/>
              <p:nvPr/>
            </p:nvSpPr>
            <p:spPr>
              <a:xfrm>
                <a:off x="720669" y="3254516"/>
                <a:ext cx="702115" cy="287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2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ctr" defTabSz="2438338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rPr>
                  <a:t>Delete(D)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0241D75-3AFA-449A-9CB8-0FA0C02C42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0611" t="6386" r="14939" b="10707"/>
            <a:stretch/>
          </p:blipFill>
          <p:spPr>
            <a:xfrm>
              <a:off x="1471715" y="3337922"/>
              <a:ext cx="224054" cy="224482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C714B6F-5B83-486F-93E0-3CC0C1C06F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829"/>
          <a:stretch/>
        </p:blipFill>
        <p:spPr>
          <a:xfrm>
            <a:off x="2031935" y="1454618"/>
            <a:ext cx="3023452" cy="2618154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3E647922-D179-4077-B10F-436A466D2B7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483" r="32427" b="52183"/>
          <a:stretch/>
        </p:blipFill>
        <p:spPr>
          <a:xfrm>
            <a:off x="5306110" y="2576363"/>
            <a:ext cx="617780" cy="326618"/>
          </a:xfrm>
          <a:prstGeom prst="rect">
            <a:avLst/>
          </a:pr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1BD2A59F-368D-4680-A6F2-808DE1D6B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414" y="4624363"/>
            <a:ext cx="543767" cy="543767"/>
          </a:xfrm>
          <a:prstGeom prst="rect">
            <a:avLst/>
          </a:prstGeom>
        </p:spPr>
      </p:pic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C1572B0-12B4-413F-9957-2D036D6902A7}"/>
              </a:ext>
            </a:extLst>
          </p:cNvPr>
          <p:cNvGrpSpPr/>
          <p:nvPr/>
        </p:nvGrpSpPr>
        <p:grpSpPr>
          <a:xfrm>
            <a:off x="2310063" y="1044166"/>
            <a:ext cx="5760145" cy="338557"/>
            <a:chOff x="1654907" y="9114866"/>
            <a:chExt cx="5062215" cy="310785"/>
          </a:xfrm>
        </p:grpSpPr>
        <p:sp>
          <p:nvSpPr>
            <p:cNvPr id="220" name="Speech Bubble: Rectangle with Corners Rounded 219">
              <a:extLst>
                <a:ext uri="{FF2B5EF4-FFF2-40B4-BE49-F238E27FC236}">
                  <a16:creationId xmlns:a16="http://schemas.microsoft.com/office/drawing/2014/main" id="{224D68FE-75DA-4C59-8EB7-EA7419B31C8B}"/>
                </a:ext>
              </a:extLst>
            </p:cNvPr>
            <p:cNvSpPr/>
            <p:nvPr/>
          </p:nvSpPr>
          <p:spPr>
            <a:xfrm>
              <a:off x="1654907" y="9114866"/>
              <a:ext cx="5062215" cy="310782"/>
            </a:xfrm>
            <a:prstGeom prst="wedgeRoundRectCallout">
              <a:avLst>
                <a:gd name="adj1" fmla="val 8623"/>
                <a:gd name="adj2" fmla="val 423267"/>
                <a:gd name="adj3" fmla="val 16667"/>
              </a:avLst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F3D46896-6178-40E7-8D40-ADAD7745C5E6}"/>
                </a:ext>
              </a:extLst>
            </p:cNvPr>
            <p:cNvSpPr/>
            <p:nvPr/>
          </p:nvSpPr>
          <p:spPr>
            <a:xfrm>
              <a:off x="1654908" y="9114869"/>
              <a:ext cx="5062214" cy="3107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/>
                <a:t>Memory-resident hashtables = GBs of data </a:t>
              </a:r>
              <a:r>
                <a:rPr lang="en-US" sz="1600" dirty="0">
                  <a:sym typeface="Wingdings" panose="05000000000000000000" pitchFamily="2" charset="2"/>
                </a:rPr>
                <a:t></a:t>
              </a:r>
              <a:r>
                <a:rPr lang="en-US" sz="1600" dirty="0"/>
                <a:t> blocking for seconds!</a:t>
              </a:r>
              <a:endParaRPr lang="en-GB" sz="1600" dirty="0"/>
            </a:p>
          </p:txBody>
        </p:sp>
      </p:grpSp>
      <p:grpSp>
        <p:nvGrpSpPr>
          <p:cNvPr id="222" name="Alternate Process 5">
            <a:extLst>
              <a:ext uri="{FF2B5EF4-FFF2-40B4-BE49-F238E27FC236}">
                <a16:creationId xmlns:a16="http://schemas.microsoft.com/office/drawing/2014/main" id="{CC0C1527-632C-4CF5-93F1-42E909024E06}"/>
              </a:ext>
            </a:extLst>
          </p:cNvPr>
          <p:cNvGrpSpPr/>
          <p:nvPr/>
        </p:nvGrpSpPr>
        <p:grpSpPr>
          <a:xfrm>
            <a:off x="135340" y="5884779"/>
            <a:ext cx="8918016" cy="758826"/>
            <a:chOff x="357133" y="283508"/>
            <a:chExt cx="8036727" cy="581389"/>
          </a:xfrm>
        </p:grpSpPr>
        <p:sp>
          <p:nvSpPr>
            <p:cNvPr id="223" name="Shape">
              <a:extLst>
                <a:ext uri="{FF2B5EF4-FFF2-40B4-BE49-F238E27FC236}">
                  <a16:creationId xmlns:a16="http://schemas.microsoft.com/office/drawing/2014/main" id="{B5619824-E97B-4688-98C2-32DFDB9B2BDD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224" name="Data replication is necessary!">
              <a:extLst>
                <a:ext uri="{FF2B5EF4-FFF2-40B4-BE49-F238E27FC236}">
                  <a16:creationId xmlns:a16="http://schemas.microsoft.com/office/drawing/2014/main" id="{95767BFA-1761-4F77-922F-4675922242BA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GB" sz="2100" dirty="0"/>
                <a:t>To recap …</a:t>
              </a:r>
              <a:endParaRPr sz="2100" dirty="0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6BCCEB88-F2D8-4196-9021-52B61A21AA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881"/>
          <a:stretch/>
        </p:blipFill>
        <p:spPr>
          <a:xfrm>
            <a:off x="5036374" y="1454618"/>
            <a:ext cx="3543913" cy="261815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E8E654E-9055-44FB-879B-94D68E8A75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611" t="6386" r="14939" b="10707"/>
          <a:stretch/>
        </p:blipFill>
        <p:spPr>
          <a:xfrm>
            <a:off x="1471715" y="2411415"/>
            <a:ext cx="224054" cy="2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67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9D814984-758E-4C1A-8C92-786D83AA43F0}"/>
              </a:ext>
            </a:extLst>
          </p:cNvPr>
          <p:cNvGrpSpPr/>
          <p:nvPr/>
        </p:nvGrpSpPr>
        <p:grpSpPr>
          <a:xfrm>
            <a:off x="5002053" y="1986242"/>
            <a:ext cx="3909093" cy="3219603"/>
            <a:chOff x="5002053" y="1986242"/>
            <a:chExt cx="3909093" cy="321960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1B1722-866E-4571-8103-A2906B8BB07D}"/>
                </a:ext>
              </a:extLst>
            </p:cNvPr>
            <p:cNvGrpSpPr/>
            <p:nvPr/>
          </p:nvGrpSpPr>
          <p:grpSpPr>
            <a:xfrm>
              <a:off x="5002053" y="1986242"/>
              <a:ext cx="3909093" cy="3219603"/>
              <a:chOff x="5002053" y="1986242"/>
              <a:chExt cx="3909093" cy="3219603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003D573-9E6B-4B19-B6B8-2791E95B0AC2}"/>
                  </a:ext>
                </a:extLst>
              </p:cNvPr>
              <p:cNvGrpSpPr/>
              <p:nvPr/>
            </p:nvGrpSpPr>
            <p:grpSpPr>
              <a:xfrm>
                <a:off x="5002053" y="2003282"/>
                <a:ext cx="3909093" cy="3202563"/>
                <a:chOff x="5002053" y="2003282"/>
                <a:chExt cx="3909093" cy="3202563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B8CD97B7-38E1-40EA-867C-294794F415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54713"/>
                <a:stretch/>
              </p:blipFill>
              <p:spPr>
                <a:xfrm>
                  <a:off x="5002053" y="2003282"/>
                  <a:ext cx="3909093" cy="3202563"/>
                </a:xfrm>
                <a:prstGeom prst="rect">
                  <a:avLst/>
                </a:prstGeom>
              </p:spPr>
            </p:pic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8A6278A-2282-4D2F-9989-3B32647780F4}"/>
                    </a:ext>
                  </a:extLst>
                </p:cNvPr>
                <p:cNvSpPr/>
                <p:nvPr/>
              </p:nvSpPr>
              <p:spPr>
                <a:xfrm>
                  <a:off x="5100217" y="2268813"/>
                  <a:ext cx="3698599" cy="9314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 marL="0" marR="0" indent="0" algn="l" defTabSz="457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GB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59C55796-4781-4CB7-94B0-562D4CBF6F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55850" t="8359" b="78293"/>
                <a:stretch/>
              </p:blipFill>
              <p:spPr>
                <a:xfrm>
                  <a:off x="5100217" y="2520767"/>
                  <a:ext cx="3810929" cy="427496"/>
                </a:xfrm>
                <a:prstGeom prst="rect">
                  <a:avLst/>
                </a:prstGeom>
              </p:spPr>
            </p:pic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9F30103-696D-40B2-8A53-ED275C451779}"/>
                  </a:ext>
                </a:extLst>
              </p:cNvPr>
              <p:cNvGrpSpPr/>
              <p:nvPr/>
            </p:nvGrpSpPr>
            <p:grpSpPr>
              <a:xfrm>
                <a:off x="5172113" y="1986242"/>
                <a:ext cx="3554806" cy="216802"/>
                <a:chOff x="5160418" y="1704914"/>
                <a:chExt cx="3554806" cy="216802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4EBCB16-BA8D-4DFB-BACD-21D9223803FB}"/>
                    </a:ext>
                  </a:extLst>
                </p:cNvPr>
                <p:cNvSpPr/>
                <p:nvPr/>
              </p:nvSpPr>
              <p:spPr>
                <a:xfrm>
                  <a:off x="5160418" y="1704914"/>
                  <a:ext cx="3554806" cy="1984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ot="0" spcFirstLastPara="1" vertOverflow="overflow" horzOverflow="overflow" vert="horz" wrap="square" lIns="45719" tIns="45719" rIns="45719" bIns="45719" numCol="1" spcCol="38100" rtlCol="0" anchor="ctr">
                  <a:spAutoFit/>
                </a:bodyPr>
                <a:lstStyle/>
                <a:p>
                  <a:pPr marL="0" marR="0" indent="0" algn="l" defTabSz="457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GB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90054167-5D7E-4EC6-BEBE-5E6D802428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57803" t="192" r="17904" b="94319"/>
                <a:stretch/>
              </p:blipFill>
              <p:spPr>
                <a:xfrm>
                  <a:off x="5912663" y="1745953"/>
                  <a:ext cx="2096932" cy="175763"/>
                </a:xfrm>
                <a:prstGeom prst="rect">
                  <a:avLst/>
                </a:prstGeom>
              </p:spPr>
            </p:pic>
          </p:grp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DCDB42D-4E9A-4BC9-AA40-5CF1C921F0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4954" t="8360" b="69414"/>
            <a:stretch/>
          </p:blipFill>
          <p:spPr>
            <a:xfrm>
              <a:off x="7652384" y="2357347"/>
              <a:ext cx="1146432" cy="628360"/>
            </a:xfrm>
            <a:prstGeom prst="rect">
              <a:avLst/>
            </a:prstGeom>
          </p:spPr>
        </p:pic>
      </p:grp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0" y="519410"/>
            <a:ext cx="9144000" cy="77725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 dirty="0"/>
              <a:t>Fastest concurrent in-memory hashtables</a:t>
            </a:r>
            <a:endParaRPr sz="3600"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72109" y="6542352"/>
            <a:ext cx="18406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FD8F30-C198-4A8D-B458-C6B2A0A2C1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1" t="-1172" r="44801" b="62"/>
          <a:stretch/>
        </p:blipFill>
        <p:spPr>
          <a:xfrm>
            <a:off x="345184" y="1967468"/>
            <a:ext cx="4691593" cy="323837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6C65761-D38D-4A2C-A1F3-DD323B322EBD}"/>
              </a:ext>
            </a:extLst>
          </p:cNvPr>
          <p:cNvGrpSpPr/>
          <p:nvPr/>
        </p:nvGrpSpPr>
        <p:grpSpPr>
          <a:xfrm>
            <a:off x="1024403" y="4030884"/>
            <a:ext cx="3969043" cy="449078"/>
            <a:chOff x="3195804" y="5280784"/>
            <a:chExt cx="3847814" cy="1481115"/>
          </a:xfrm>
        </p:grpSpPr>
        <p:sp>
          <p:nvSpPr>
            <p:cNvPr id="11" name="Rounded Rectangle 22">
              <a:extLst>
                <a:ext uri="{FF2B5EF4-FFF2-40B4-BE49-F238E27FC236}">
                  <a16:creationId xmlns:a16="http://schemas.microsoft.com/office/drawing/2014/main" id="{6F350CF0-F3B7-4E5D-9DD5-3F6C830DC876}"/>
                </a:ext>
              </a:extLst>
            </p:cNvPr>
            <p:cNvSpPr/>
            <p:nvPr/>
          </p:nvSpPr>
          <p:spPr>
            <a:xfrm>
              <a:off x="3195804" y="5280784"/>
              <a:ext cx="3847814" cy="1481115"/>
            </a:xfrm>
            <a:prstGeom prst="roundRect">
              <a:avLst/>
            </a:prstGeom>
            <a:solidFill>
              <a:srgbClr val="EAC0B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3" rIns="91404" bIns="45703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Next LT Medium"/>
                <a:ea typeface="华文细黑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771390-5CB1-4898-AFF9-C9BA4F0BA5BF}"/>
                </a:ext>
              </a:extLst>
            </p:cNvPr>
            <p:cNvSpPr txBox="1"/>
            <p:nvPr/>
          </p:nvSpPr>
          <p:spPr>
            <a:xfrm>
              <a:off x="3216579" y="5576801"/>
              <a:ext cx="3760938" cy="2981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Sacrifice </a:t>
              </a:r>
              <a:r>
                <a:rPr kumimoji="1" lang="en-US" sz="1500" b="1" kern="1200" dirty="0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functionality </a:t>
              </a:r>
              <a:r>
                <a:rPr kumimoji="1" lang="en-US" sz="15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or</a:t>
              </a:r>
              <a:r>
                <a:rPr kumimoji="1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blocking ops</a:t>
              </a:r>
              <a:endParaRPr kumimoji="1" lang="en-GB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C9C840-4F75-425F-B1C3-2AF439255D71}"/>
              </a:ext>
            </a:extLst>
          </p:cNvPr>
          <p:cNvGrpSpPr/>
          <p:nvPr/>
        </p:nvGrpSpPr>
        <p:grpSpPr>
          <a:xfrm>
            <a:off x="5362565" y="4030884"/>
            <a:ext cx="3188067" cy="449078"/>
            <a:chOff x="3195804" y="5280784"/>
            <a:chExt cx="3847814" cy="1481115"/>
          </a:xfrm>
        </p:grpSpPr>
        <p:sp>
          <p:nvSpPr>
            <p:cNvPr id="14" name="Rounded Rectangle 22">
              <a:extLst>
                <a:ext uri="{FF2B5EF4-FFF2-40B4-BE49-F238E27FC236}">
                  <a16:creationId xmlns:a16="http://schemas.microsoft.com/office/drawing/2014/main" id="{F70CA62A-A4B9-4769-91E5-8DB205201BC9}"/>
                </a:ext>
              </a:extLst>
            </p:cNvPr>
            <p:cNvSpPr/>
            <p:nvPr/>
          </p:nvSpPr>
          <p:spPr>
            <a:xfrm>
              <a:off x="3195804" y="5280784"/>
              <a:ext cx="3847814" cy="1481115"/>
            </a:xfrm>
            <a:prstGeom prst="roundRect">
              <a:avLst/>
            </a:prstGeom>
            <a:solidFill>
              <a:srgbClr val="EAC0B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3" rIns="91404" bIns="45703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Next LT Medium"/>
                <a:ea typeface="华文细黑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BCC64B-DC76-4422-B13C-3DDA265861F2}"/>
                </a:ext>
              </a:extLst>
            </p:cNvPr>
            <p:cNvSpPr txBox="1"/>
            <p:nvPr/>
          </p:nvSpPr>
          <p:spPr>
            <a:xfrm>
              <a:off x="3216579" y="5576801"/>
              <a:ext cx="3760938" cy="2981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733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Not </a:t>
              </a:r>
              <a:r>
                <a:rPr kumimoji="1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memory-aware</a:t>
              </a:r>
              <a:endParaRPr kumimoji="1" lang="en-GB" sz="17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6" name="Alternate Process 5">
            <a:extLst>
              <a:ext uri="{FF2B5EF4-FFF2-40B4-BE49-F238E27FC236}">
                <a16:creationId xmlns:a16="http://schemas.microsoft.com/office/drawing/2014/main" id="{EFF0B8A1-53EE-4BD3-A330-CD70BB19B2CE}"/>
              </a:ext>
            </a:extLst>
          </p:cNvPr>
          <p:cNvGrpSpPr/>
          <p:nvPr/>
        </p:nvGrpSpPr>
        <p:grpSpPr>
          <a:xfrm>
            <a:off x="135340" y="5884779"/>
            <a:ext cx="8918016" cy="758826"/>
            <a:chOff x="357133" y="283508"/>
            <a:chExt cx="8036727" cy="581389"/>
          </a:xfrm>
        </p:grpSpPr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2716ED1A-580D-45FD-8925-C69965756E02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18" name="Data replication is necessary!">
              <a:extLst>
                <a:ext uri="{FF2B5EF4-FFF2-40B4-BE49-F238E27FC236}">
                  <a16:creationId xmlns:a16="http://schemas.microsoft.com/office/drawing/2014/main" id="{CF71BA76-4096-461A-84F0-FF5A9CE7DBC5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GB" sz="2100" dirty="0"/>
                <a:t>To resolve these issues we designed the Dandelion Hashtable …</a:t>
              </a:r>
              <a:endParaRPr sz="2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9285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196231" y="1467739"/>
            <a:ext cx="8959939" cy="4455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 fontScale="92500" lnSpcReduction="10000"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lvl="0" algn="l" defTabSz="914400" hangingPunct="1">
              <a:defRPr/>
            </a:pPr>
            <a:r>
              <a:rPr lang="en-GB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Highly concurrent </a:t>
            </a:r>
            <a:r>
              <a:rPr lang="en-GB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+ cache-</a:t>
            </a:r>
            <a:r>
              <a:rPr lang="en-US" altLang="zh-CN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friendly </a:t>
            </a:r>
            <a:r>
              <a:rPr lang="en-US" altLang="zh-CN" sz="2000" kern="1200" dirty="0">
                <a:solidFill>
                  <a:prstClr val="black"/>
                </a:solidFill>
                <a:latin typeface="FrutigerNext LT Medium"/>
                <a:ea typeface="华文细黑"/>
                <a:sym typeface="Wingdings" panose="05000000000000000000" pitchFamily="2" charset="2"/>
              </a:rPr>
              <a:t></a:t>
            </a:r>
            <a:r>
              <a:rPr lang="en-US" altLang="zh-CN" sz="2000" b="1" kern="1200" dirty="0">
                <a:solidFill>
                  <a:prstClr val="black"/>
                </a:solidFill>
                <a:latin typeface="FrutigerNext LT Medium"/>
                <a:ea typeface="华文细黑"/>
                <a:sym typeface="Wingdings" panose="05000000000000000000" pitchFamily="2" charset="2"/>
              </a:rPr>
              <a:t> </a:t>
            </a:r>
            <a:r>
              <a:rPr lang="en-US" altLang="zh-CN" sz="2000" kern="1200" dirty="0">
                <a:solidFill>
                  <a:prstClr val="black"/>
                </a:solidFill>
                <a:latin typeface="FrutigerNext LT Medium"/>
                <a:ea typeface="华文细黑"/>
                <a:sym typeface="Wingdings" panose="05000000000000000000" pitchFamily="2" charset="2"/>
              </a:rPr>
              <a:t>scalable to many threads</a:t>
            </a:r>
            <a:endParaRPr lang="en-GB" sz="2000" b="1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r>
              <a:rPr lang="en-US" altLang="zh-CN" sz="2000" i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      </a:t>
            </a:r>
            <a:r>
              <a:rPr lang="en-GB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Non-blocking</a:t>
            </a:r>
            <a:r>
              <a:rPr lang="en-GB" sz="2000" b="1" i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 </a:t>
            </a:r>
            <a:r>
              <a:rPr lang="en-US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index</a:t>
            </a:r>
            <a:r>
              <a:rPr lang="en-GB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 </a:t>
            </a:r>
            <a:r>
              <a:rPr lang="en-US" altLang="zh-CN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operations</a:t>
            </a:r>
            <a:r>
              <a:rPr lang="en-US" altLang="zh-CN" sz="19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: Gets, Puts, Inserts, Deletes – that immediately free slots</a:t>
            </a:r>
            <a:endParaRPr lang="en-GB" sz="19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endParaRPr lang="en-US" sz="20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endParaRPr lang="en-US" sz="20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r>
              <a:rPr lang="en-US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Non-blocking parallel resizes</a:t>
            </a:r>
            <a:endParaRPr lang="en-US" sz="20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r>
              <a:rPr lang="en-US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      concurrent ops complete with strongest consistency while other threads resize</a:t>
            </a:r>
            <a:endParaRPr lang="en-US" sz="2000" b="1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endParaRPr lang="en-US" sz="20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endParaRPr lang="en-GB" sz="20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r>
              <a:rPr lang="en-GB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Memory-</a:t>
            </a:r>
            <a:r>
              <a:rPr lang="en-US" altLang="zh-CN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aware</a:t>
            </a:r>
            <a:endParaRPr lang="en-GB" sz="2000" b="1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r>
              <a:rPr lang="en-GB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      </a:t>
            </a:r>
            <a:r>
              <a:rPr lang="en-GB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good occupancy</a:t>
            </a:r>
            <a:br>
              <a:rPr lang="en-GB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</a:br>
            <a:r>
              <a:rPr lang="en-GB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      </a:t>
            </a:r>
            <a:r>
              <a:rPr lang="en-GB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min memory accesses</a:t>
            </a:r>
            <a:r>
              <a:rPr lang="en-GB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:</a:t>
            </a:r>
            <a:r>
              <a:rPr lang="en-GB" sz="2000" kern="1200" dirty="0">
                <a:solidFill>
                  <a:prstClr val="black"/>
                </a:solidFill>
                <a:latin typeface="FrutigerNext LT Medium"/>
                <a:ea typeface="华文细黑"/>
                <a:sym typeface="Wingdings" panose="05000000000000000000" pitchFamily="2" charset="2"/>
              </a:rPr>
              <a:t> </a:t>
            </a:r>
            <a:r>
              <a:rPr lang="en-GB" sz="1700" b="1" kern="1200" dirty="0">
                <a:solidFill>
                  <a:prstClr val="black"/>
                </a:solidFill>
                <a:latin typeface="FrutigerNext LT Medium"/>
                <a:ea typeface="华文细黑"/>
                <a:sym typeface="Wingdings" panose="05000000000000000000" pitchFamily="2" charset="2"/>
              </a:rPr>
              <a:t>~</a:t>
            </a:r>
            <a:r>
              <a:rPr lang="en-US" altLang="zh-CN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1x access per request</a:t>
            </a:r>
            <a:endParaRPr lang="en-GB" sz="20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r>
              <a:rPr lang="en-GB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      </a:t>
            </a:r>
            <a:r>
              <a:rPr lang="en-GB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masked memory latency</a:t>
            </a:r>
            <a:r>
              <a:rPr lang="en-GB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:</a:t>
            </a:r>
            <a:r>
              <a:rPr lang="en-GB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 </a:t>
            </a:r>
            <a:r>
              <a:rPr lang="en-GB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to avoid CPU stalling</a:t>
            </a:r>
            <a:endParaRPr lang="en-US" altLang="zh-CN" sz="20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endParaRPr lang="en-US" sz="2000" b="1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endParaRPr lang="en-US" sz="2000" b="1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r>
              <a:rPr lang="en-US" sz="2000" b="1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Beyond fully-featured</a:t>
            </a:r>
          </a:p>
          <a:p>
            <a:pPr lvl="0" algn="l" defTabSz="914400" hangingPunct="1">
              <a:defRPr/>
            </a:pPr>
            <a:r>
              <a:rPr lang="en-US" sz="2000" kern="1200" dirty="0">
                <a:solidFill>
                  <a:prstClr val="black"/>
                </a:solidFill>
                <a:latin typeface="FrutigerNext LT Medium"/>
                <a:ea typeface="华文细黑"/>
              </a:rPr>
              <a:t>      transactions, iterator, namespaces, variable-sized KVs, GC, snapshots, etc.</a:t>
            </a:r>
            <a:endParaRPr lang="en-GB" sz="20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  <a:p>
            <a:pPr lvl="0" algn="l" defTabSz="914400" hangingPunct="1">
              <a:defRPr/>
            </a:pPr>
            <a:endParaRPr lang="en-US" sz="2000" kern="1200" dirty="0">
              <a:solidFill>
                <a:prstClr val="black"/>
              </a:solidFill>
              <a:latin typeface="FrutigerNext LT Medium"/>
              <a:ea typeface="华文细黑"/>
            </a:endParaRPr>
          </a:p>
        </p:txBody>
      </p: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0" y="519410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Dandelion Hashtable (DLHT)</a:t>
            </a:r>
            <a:endParaRPr b="1"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81604" y="6542352"/>
            <a:ext cx="362027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grpSp>
        <p:nvGrpSpPr>
          <p:cNvPr id="10" name="Alternate Process 5">
            <a:extLst>
              <a:ext uri="{FF2B5EF4-FFF2-40B4-BE49-F238E27FC236}">
                <a16:creationId xmlns:a16="http://schemas.microsoft.com/office/drawing/2014/main" id="{205DA957-5343-4DEE-BF49-41FBFAFAC6B3}"/>
              </a:ext>
            </a:extLst>
          </p:cNvPr>
          <p:cNvGrpSpPr/>
          <p:nvPr/>
        </p:nvGrpSpPr>
        <p:grpSpPr>
          <a:xfrm>
            <a:off x="135340" y="5884779"/>
            <a:ext cx="8918016" cy="758826"/>
            <a:chOff x="357133" y="283508"/>
            <a:chExt cx="8036727" cy="581389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FE2CA1E8-85F8-48E4-AFA2-9CBCE5012F74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12" name="Data replication is necessary!">
              <a:extLst>
                <a:ext uri="{FF2B5EF4-FFF2-40B4-BE49-F238E27FC236}">
                  <a16:creationId xmlns:a16="http://schemas.microsoft.com/office/drawing/2014/main" id="{BE1C6B66-6229-4F82-9DEE-8FC5FF1C0302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sz="2100" dirty="0"/>
                <a:t>What’s the secret sauce?</a:t>
              </a:r>
              <a:endParaRPr sz="2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870185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563713" y="1296664"/>
            <a:ext cx="6057006" cy="47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452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0" y="67849"/>
            <a:ext cx="9144000" cy="77725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DLHT’s bounded cacheline chaining</a:t>
            </a:r>
            <a:endParaRPr sz="4000"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89560" y="6542352"/>
            <a:ext cx="346125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E58EE5-4D7B-4D67-BA1D-1776C08AF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030" y="1006108"/>
            <a:ext cx="5624146" cy="2531073"/>
          </a:xfrm>
          <a:prstGeom prst="rect">
            <a:avLst/>
          </a:prstGeom>
        </p:spPr>
      </p:pic>
      <p:sp>
        <p:nvSpPr>
          <p:cNvPr id="36" name="Bin array (N x 64B)">
            <a:extLst>
              <a:ext uri="{FF2B5EF4-FFF2-40B4-BE49-F238E27FC236}">
                <a16:creationId xmlns:a16="http://schemas.microsoft.com/office/drawing/2014/main" id="{6653AAB0-CA39-49F9-AFF5-798836EC1DAA}"/>
              </a:ext>
            </a:extLst>
          </p:cNvPr>
          <p:cNvSpPr txBox="1"/>
          <p:nvPr/>
        </p:nvSpPr>
        <p:spPr>
          <a:xfrm>
            <a:off x="244060" y="3423883"/>
            <a:ext cx="8746435" cy="272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sz="1800" dirty="0"/>
              <a:t>1. No open addressing </a:t>
            </a:r>
            <a:r>
              <a:rPr lang="en-US" sz="1800" b="0" dirty="0"/>
              <a:t>to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>
                <a:solidFill>
                  <a:srgbClr val="19A002"/>
                </a:solidFill>
                <a:sym typeface="Wingdings" panose="05000000000000000000" pitchFamily="2" charset="2"/>
              </a:rPr>
              <a:t>avoid </a:t>
            </a:r>
            <a:r>
              <a:rPr lang="en-US" sz="1800" dirty="0">
                <a:solidFill>
                  <a:srgbClr val="19A002"/>
                </a:solidFill>
              </a:rPr>
              <a:t>severe blocking on deletes</a:t>
            </a:r>
          </a:p>
          <a:p>
            <a:endParaRPr lang="en-US" sz="1800" dirty="0"/>
          </a:p>
          <a:p>
            <a:r>
              <a:rPr lang="en-US" sz="1800" dirty="0"/>
              <a:t>2. Rethinks closed addressing </a:t>
            </a:r>
            <a:r>
              <a:rPr lang="en-US" sz="1800" b="0" dirty="0">
                <a:sym typeface="Wingdings" panose="05000000000000000000" pitchFamily="2" charset="2"/>
              </a:rPr>
              <a:t></a:t>
            </a:r>
          </a:p>
          <a:p>
            <a:r>
              <a:rPr lang="en-US" sz="1800" dirty="0">
                <a:sym typeface="Wingdings" panose="05000000000000000000" pitchFamily="2" charset="2"/>
              </a:rPr>
              <a:t>    Bounded cacheline-chaining </a:t>
            </a:r>
            <a:r>
              <a:rPr lang="en-US" sz="1800" b="0" dirty="0">
                <a:sym typeface="Wingdings" panose="05000000000000000000" pitchFamily="2" charset="2"/>
              </a:rPr>
              <a:t>= </a:t>
            </a:r>
            <a:r>
              <a:rPr lang="en-US" sz="1800" b="0" dirty="0"/>
              <a:t>best of </a:t>
            </a:r>
            <a:r>
              <a:rPr lang="en-US" sz="1800" b="0" i="1" dirty="0"/>
              <a:t>KV-chaining + Single-cacheline Bins</a:t>
            </a:r>
          </a:p>
          <a:p>
            <a:endParaRPr lang="en-US" sz="1800" b="0" i="1" dirty="0"/>
          </a:p>
          <a:p>
            <a:r>
              <a:rPr lang="en-US" sz="1800" b="0" i="1" dirty="0"/>
              <a:t>- </a:t>
            </a:r>
            <a:r>
              <a:rPr lang="en-US" sz="1800" b="0" dirty="0"/>
              <a:t>Cacheline Bins + can link up to 3 extra buckets from Link Array </a:t>
            </a:r>
            <a:br>
              <a:rPr lang="en-US" sz="1800" b="0" dirty="0"/>
            </a:br>
            <a:r>
              <a:rPr lang="en-US" sz="1800" b="0" dirty="0"/>
              <a:t>  </a:t>
            </a:r>
            <a:r>
              <a:rPr lang="en-US" sz="1800" b="0" dirty="0">
                <a:sym typeface="Wingdings" panose="05000000000000000000" pitchFamily="2" charset="2"/>
              </a:rPr>
              <a:t></a:t>
            </a:r>
            <a:r>
              <a:rPr lang="en-US" sz="1800" b="0" dirty="0"/>
              <a:t> delays resize for </a:t>
            </a:r>
            <a:r>
              <a:rPr lang="en-US" sz="1800" dirty="0">
                <a:solidFill>
                  <a:srgbClr val="19A002"/>
                </a:solidFill>
              </a:rPr>
              <a:t>high occupancy</a:t>
            </a:r>
          </a:p>
          <a:p>
            <a:endParaRPr lang="en-US" sz="1800" b="0" dirty="0"/>
          </a:p>
          <a:p>
            <a:r>
              <a:rPr lang="en-US" sz="1800" b="0" dirty="0"/>
              <a:t>- Link array &lt;&lt; Bin array (e.g. 4x or 8x smaller)</a:t>
            </a:r>
          </a:p>
          <a:p>
            <a:r>
              <a:rPr lang="en-US" sz="1800" b="0" dirty="0"/>
              <a:t>  Most bins consist of one bucket </a:t>
            </a:r>
            <a:r>
              <a:rPr lang="en-US" sz="1800" b="0" dirty="0">
                <a:sym typeface="Wingdings" panose="05000000000000000000" pitchFamily="2" charset="2"/>
              </a:rPr>
              <a:t> m</a:t>
            </a:r>
            <a:r>
              <a:rPr lang="en-US" sz="1800" b="0" dirty="0"/>
              <a:t>ost requests = </a:t>
            </a:r>
            <a:r>
              <a:rPr lang="en-US" sz="1800" dirty="0">
                <a:solidFill>
                  <a:srgbClr val="19A002"/>
                </a:solidFill>
              </a:rPr>
              <a:t>1 memory access</a:t>
            </a:r>
          </a:p>
          <a:p>
            <a:endParaRPr lang="en-US" sz="1800" b="0" dirty="0"/>
          </a:p>
          <a:p>
            <a:r>
              <a:rPr lang="en-US" sz="1800" b="0" dirty="0"/>
              <a:t>- If all Link array buckets are linked </a:t>
            </a:r>
            <a:r>
              <a:rPr lang="en-US" sz="1800" b="0" dirty="0">
                <a:sym typeface="Wingdings" panose="05000000000000000000" pitchFamily="2" charset="2"/>
              </a:rPr>
              <a:t> </a:t>
            </a:r>
            <a:r>
              <a:rPr lang="en-US" sz="1800" dirty="0">
                <a:solidFill>
                  <a:srgbClr val="19A002"/>
                </a:solidFill>
              </a:rPr>
              <a:t>non-blocking resize </a:t>
            </a:r>
            <a:r>
              <a:rPr lang="en-US" sz="1600" b="0" dirty="0"/>
              <a:t>(details next) </a:t>
            </a:r>
            <a:endParaRPr lang="en-US" sz="1800" b="0" dirty="0"/>
          </a:p>
        </p:txBody>
      </p:sp>
      <p:sp>
        <p:nvSpPr>
          <p:cNvPr id="107" name="Bin array (N x 64B)">
            <a:extLst>
              <a:ext uri="{FF2B5EF4-FFF2-40B4-BE49-F238E27FC236}">
                <a16:creationId xmlns:a16="http://schemas.microsoft.com/office/drawing/2014/main" id="{0A91B5B3-E1EE-445E-916E-64534B481A0A}"/>
              </a:ext>
            </a:extLst>
          </p:cNvPr>
          <p:cNvSpPr txBox="1"/>
          <p:nvPr/>
        </p:nvSpPr>
        <p:spPr>
          <a:xfrm>
            <a:off x="1174543" y="1252047"/>
            <a:ext cx="1899915" cy="451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sz="1600" dirty="0"/>
              <a:t>Close addressing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7FFF0E-0890-44D0-8515-C573625A4542}"/>
              </a:ext>
            </a:extLst>
          </p:cNvPr>
          <p:cNvGrpSpPr/>
          <p:nvPr/>
        </p:nvGrpSpPr>
        <p:grpSpPr>
          <a:xfrm>
            <a:off x="295362" y="1552277"/>
            <a:ext cx="3787621" cy="1751041"/>
            <a:chOff x="295362" y="1552277"/>
            <a:chExt cx="3787621" cy="1751041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345F82E-0839-4DF9-8091-5F1F78BCEBA7}"/>
                </a:ext>
              </a:extLst>
            </p:cNvPr>
            <p:cNvGrpSpPr/>
            <p:nvPr/>
          </p:nvGrpSpPr>
          <p:grpSpPr>
            <a:xfrm>
              <a:off x="295362" y="1552277"/>
              <a:ext cx="3749582" cy="1517180"/>
              <a:chOff x="341010" y="1735199"/>
              <a:chExt cx="3749582" cy="151718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70F0C9E8-4850-4CCA-AC37-E7158FD58AF8}"/>
                  </a:ext>
                </a:extLst>
              </p:cNvPr>
              <p:cNvGrpSpPr/>
              <p:nvPr/>
            </p:nvGrpSpPr>
            <p:grpSpPr>
              <a:xfrm>
                <a:off x="341010" y="1735199"/>
                <a:ext cx="3749582" cy="1517180"/>
                <a:chOff x="341010" y="1735199"/>
                <a:chExt cx="3749582" cy="1517180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5D7E7870-B6D7-4B0F-A6AA-6ACD790F3C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41010" y="1735199"/>
                  <a:ext cx="3196914" cy="1517180"/>
                </a:xfrm>
                <a:prstGeom prst="rect">
                  <a:avLst/>
                </a:prstGeom>
              </p:spPr>
            </p:pic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A3C9F6BF-B393-4157-B899-97266F809DD9}"/>
                    </a:ext>
                  </a:extLst>
                </p:cNvPr>
                <p:cNvGrpSpPr/>
                <p:nvPr/>
              </p:nvGrpSpPr>
              <p:grpSpPr>
                <a:xfrm>
                  <a:off x="3705889" y="2543195"/>
                  <a:ext cx="384703" cy="152400"/>
                  <a:chOff x="3682265" y="2568570"/>
                  <a:chExt cx="384703" cy="152400"/>
                </a:xfrm>
              </p:grpSpPr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63864F9D-D414-45B5-80B2-953BC1DB52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84958" y="2568570"/>
                    <a:ext cx="382010" cy="0"/>
                  </a:xfrm>
                  <a:prstGeom prst="line">
                    <a:avLst/>
                  </a:prstGeom>
                  <a:noFill/>
                  <a:ln w="57150" cap="flat">
                    <a:solidFill>
                      <a:srgbClr val="19A002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3DE712EB-A2EB-4635-954B-07FF553F6E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82265" y="2720970"/>
                    <a:ext cx="382010" cy="0"/>
                  </a:xfrm>
                  <a:prstGeom prst="line">
                    <a:avLst/>
                  </a:prstGeom>
                  <a:noFill/>
                  <a:ln w="57150" cap="flat">
                    <a:solidFill>
                      <a:srgbClr val="19A002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377ABFEB-E784-44FC-B700-41FA5F8649E8}"/>
                  </a:ext>
                </a:extLst>
              </p:cNvPr>
              <p:cNvGrpSpPr/>
              <p:nvPr/>
            </p:nvGrpSpPr>
            <p:grpSpPr>
              <a:xfrm>
                <a:off x="1788143" y="2403637"/>
                <a:ext cx="382010" cy="431517"/>
                <a:chOff x="1788143" y="2403637"/>
                <a:chExt cx="382010" cy="431517"/>
              </a:xfrm>
            </p:grpSpPr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08588D2E-1C4C-428A-8122-474483D8D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76970" y="2403637"/>
                  <a:ext cx="0" cy="431517"/>
                </a:xfrm>
                <a:prstGeom prst="line">
                  <a:avLst/>
                </a:prstGeom>
                <a:noFill/>
                <a:ln w="57150" cap="flat">
                  <a:solidFill>
                    <a:srgbClr val="19A00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DFE9EEA6-E1A2-4036-A270-810B77C2A2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88143" y="2631929"/>
                  <a:ext cx="382010" cy="0"/>
                </a:xfrm>
                <a:prstGeom prst="line">
                  <a:avLst/>
                </a:prstGeom>
                <a:noFill/>
                <a:ln w="57150" cap="flat">
                  <a:solidFill>
                    <a:srgbClr val="19A00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sp>
          <p:nvSpPr>
            <p:cNvPr id="108" name="Bin array (N x 64B)">
              <a:extLst>
                <a:ext uri="{FF2B5EF4-FFF2-40B4-BE49-F238E27FC236}">
                  <a16:creationId xmlns:a16="http://schemas.microsoft.com/office/drawing/2014/main" id="{411E2C19-1F93-4C6E-AB74-82347305E3C1}"/>
                </a:ext>
              </a:extLst>
            </p:cNvPr>
            <p:cNvSpPr txBox="1"/>
            <p:nvPr/>
          </p:nvSpPr>
          <p:spPr>
            <a:xfrm>
              <a:off x="295362" y="2851563"/>
              <a:ext cx="1899915" cy="451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914400">
                <a:defRPr sz="23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 lang="en-US" sz="1200" dirty="0">
                  <a:solidFill>
                    <a:srgbClr val="19A002"/>
                  </a:solidFill>
                </a:rPr>
                <a:t>Good occupancy</a:t>
              </a:r>
            </a:p>
            <a:p>
              <a:r>
                <a:rPr lang="en-US" sz="1200" dirty="0">
                  <a:solidFill>
                    <a:srgbClr val="C00000"/>
                  </a:solidFill>
                </a:rPr>
                <a:t>Too much memory traffic</a:t>
              </a:r>
            </a:p>
          </p:txBody>
        </p:sp>
        <p:sp>
          <p:nvSpPr>
            <p:cNvPr id="109" name="Bin array (N x 64B)">
              <a:extLst>
                <a:ext uri="{FF2B5EF4-FFF2-40B4-BE49-F238E27FC236}">
                  <a16:creationId xmlns:a16="http://schemas.microsoft.com/office/drawing/2014/main" id="{B42FC77F-29E4-4644-B0F0-7EDDCDF63CF8}"/>
                </a:ext>
              </a:extLst>
            </p:cNvPr>
            <p:cNvSpPr txBox="1"/>
            <p:nvPr/>
          </p:nvSpPr>
          <p:spPr>
            <a:xfrm>
              <a:off x="2183068" y="2851563"/>
              <a:ext cx="1899915" cy="451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914400">
                <a:defRPr sz="23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 lang="en-US" sz="1200" dirty="0">
                  <a:solidFill>
                    <a:srgbClr val="19A002"/>
                  </a:solidFill>
                </a:rPr>
                <a:t>Low memory traffic </a:t>
              </a:r>
            </a:p>
            <a:p>
              <a:r>
                <a:rPr lang="en-US" sz="1200" dirty="0">
                  <a:solidFill>
                    <a:srgbClr val="C00000"/>
                  </a:solidFill>
                </a:rPr>
                <a:t>Bad occupancy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AAA8E22-C5DF-4135-943E-99593CE7C63D}"/>
              </a:ext>
            </a:extLst>
          </p:cNvPr>
          <p:cNvGrpSpPr/>
          <p:nvPr/>
        </p:nvGrpSpPr>
        <p:grpSpPr>
          <a:xfrm>
            <a:off x="1028241" y="797333"/>
            <a:ext cx="1806161" cy="417728"/>
            <a:chOff x="714495" y="885078"/>
            <a:chExt cx="2329047" cy="574727"/>
          </a:xfrm>
        </p:grpSpPr>
        <p:sp>
          <p:nvSpPr>
            <p:cNvPr id="111" name="Bin array (N x 64B)">
              <a:extLst>
                <a:ext uri="{FF2B5EF4-FFF2-40B4-BE49-F238E27FC236}">
                  <a16:creationId xmlns:a16="http://schemas.microsoft.com/office/drawing/2014/main" id="{C50FCD59-9592-4DE5-8CEB-80BA37987ED9}"/>
                </a:ext>
              </a:extLst>
            </p:cNvPr>
            <p:cNvSpPr txBox="1"/>
            <p:nvPr/>
          </p:nvSpPr>
          <p:spPr>
            <a:xfrm>
              <a:off x="714495" y="885078"/>
              <a:ext cx="2329047" cy="55207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914400">
                <a:defRPr sz="23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algn="ctr"/>
              <a:r>
                <a:rPr lang="en-US" sz="1400" dirty="0"/>
                <a:t>Open addressing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3BE061D-51D6-4900-8BC3-BF28B5ABF9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6867" y="898078"/>
              <a:ext cx="1006818" cy="561727"/>
            </a:xfrm>
            <a:prstGeom prst="line">
              <a:avLst/>
            </a:prstGeom>
            <a:noFill/>
            <a:ln w="57150" cap="flat">
              <a:solidFill>
                <a:srgbClr val="C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2546967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563713" y="1296664"/>
            <a:ext cx="6057006" cy="47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452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12170" y="140267"/>
            <a:ext cx="9144000" cy="77725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Compact bin header</a:t>
            </a:r>
            <a:endParaRPr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81603" y="6542352"/>
            <a:ext cx="369979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06" name="Bin array (N x 64B)">
            <a:extLst>
              <a:ext uri="{FF2B5EF4-FFF2-40B4-BE49-F238E27FC236}">
                <a16:creationId xmlns:a16="http://schemas.microsoft.com/office/drawing/2014/main" id="{B6B248EA-F358-40AA-8FEC-003A796DC59B}"/>
              </a:ext>
            </a:extLst>
          </p:cNvPr>
          <p:cNvSpPr txBox="1"/>
          <p:nvPr/>
        </p:nvSpPr>
        <p:spPr>
          <a:xfrm>
            <a:off x="225674" y="2869271"/>
            <a:ext cx="8746435" cy="272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sz="1800" b="0" dirty="0"/>
              <a:t>3. </a:t>
            </a:r>
            <a:r>
              <a:rPr lang="en-US" sz="1800" dirty="0"/>
              <a:t>Compact Bin Header</a:t>
            </a:r>
            <a:r>
              <a:rPr lang="en-US" sz="1800" b="0" dirty="0"/>
              <a:t> (HDR): consists of &lt;8B sync </a:t>
            </a:r>
            <a:r>
              <a:rPr lang="en-US" sz="1800" b="0" dirty="0" err="1"/>
              <a:t>hdr</a:t>
            </a:r>
            <a:r>
              <a:rPr lang="en-US" sz="1800" b="0" dirty="0"/>
              <a:t>, 8B link meta&gt;</a:t>
            </a:r>
          </a:p>
          <a:p>
            <a:pPr marL="285750" indent="-285750">
              <a:buFontTx/>
              <a:buChar char="-"/>
            </a:pPr>
            <a:endParaRPr lang="en-US" sz="1800" b="0" dirty="0"/>
          </a:p>
          <a:p>
            <a:endParaRPr lang="en-US" sz="1800" b="0" dirty="0"/>
          </a:p>
          <a:p>
            <a:pPr marL="285750" indent="-285750">
              <a:buFontTx/>
              <a:buChar char="-"/>
            </a:pPr>
            <a:r>
              <a:rPr lang="en-US" sz="1800" b="0" dirty="0"/>
              <a:t>Link meta:</a:t>
            </a:r>
            <a:r>
              <a:rPr lang="en-US" sz="1800" b="0" dirty="0">
                <a:sym typeface="Wingdings" panose="05000000000000000000" pitchFamily="2" charset="2"/>
              </a:rPr>
              <a:t>   </a:t>
            </a:r>
            <a:r>
              <a:rPr lang="en-US" sz="1800" b="0" dirty="0"/>
              <a:t>2x 32bit offsets to Link array</a:t>
            </a:r>
            <a:br>
              <a:rPr lang="en-US" sz="1800" b="0" dirty="0"/>
            </a:br>
            <a:r>
              <a:rPr lang="en-US" sz="1800" b="0" dirty="0"/>
              <a:t>   </a:t>
            </a:r>
            <a:r>
              <a:rPr lang="en-US" sz="1800" b="0" i="1" dirty="0"/>
              <a:t>idx_1:  </a:t>
            </a:r>
            <a:r>
              <a:rPr lang="en-US" sz="1800" b="0" dirty="0"/>
              <a:t>              1</a:t>
            </a:r>
            <a:r>
              <a:rPr lang="en-US" sz="1800" b="0" baseline="30000" dirty="0"/>
              <a:t>st</a:t>
            </a:r>
            <a:r>
              <a:rPr lang="en-US" sz="1800" b="0" dirty="0"/>
              <a:t> linked bucket</a:t>
            </a:r>
            <a:br>
              <a:rPr lang="en-US" sz="1800" b="0" dirty="0"/>
            </a:br>
            <a:r>
              <a:rPr lang="en-US" sz="1800" b="0" dirty="0"/>
              <a:t>   </a:t>
            </a:r>
            <a:r>
              <a:rPr lang="en-US" sz="1800" b="0" i="1" dirty="0"/>
              <a:t>idx_2_and_3</a:t>
            </a:r>
            <a:r>
              <a:rPr lang="en-US" sz="1800" b="0" dirty="0"/>
              <a:t>:   2</a:t>
            </a:r>
            <a:r>
              <a:rPr lang="en-US" sz="1800" b="0" baseline="30000" dirty="0"/>
              <a:t>nd</a:t>
            </a:r>
            <a:r>
              <a:rPr lang="en-US" sz="1800" b="0" dirty="0"/>
              <a:t> and 3</a:t>
            </a:r>
            <a:r>
              <a:rPr lang="en-US" sz="1800" b="0" baseline="30000" dirty="0"/>
              <a:t>rd</a:t>
            </a:r>
            <a:r>
              <a:rPr lang="en-US" sz="1800" b="0" dirty="0"/>
              <a:t> consecutive in link array buckets</a:t>
            </a:r>
          </a:p>
          <a:p>
            <a:endParaRPr lang="en-US" sz="1800" b="0" dirty="0"/>
          </a:p>
          <a:p>
            <a:endParaRPr lang="en-US" sz="1800" b="0" dirty="0"/>
          </a:p>
          <a:p>
            <a:pPr marL="285750" indent="-285750">
              <a:buFontTx/>
              <a:buChar char="-"/>
            </a:pPr>
            <a:r>
              <a:rPr lang="en-US" sz="1800" b="0" dirty="0"/>
              <a:t>Fitting all synchronization state in 8B &lt;</a:t>
            </a:r>
            <a:r>
              <a:rPr lang="en-US" sz="1800" b="0" i="1" dirty="0"/>
              <a:t>bin state</a:t>
            </a:r>
            <a:r>
              <a:rPr lang="en-US" sz="1800" b="0" dirty="0"/>
              <a:t>, </a:t>
            </a:r>
            <a:r>
              <a:rPr lang="en-US" sz="1800" b="0" i="1" dirty="0"/>
              <a:t>15 slot states, version&gt;</a:t>
            </a:r>
            <a:r>
              <a:rPr lang="en-US" sz="1800" b="0" dirty="0"/>
              <a:t> </a:t>
            </a:r>
            <a:br>
              <a:rPr lang="en-US" sz="1800" b="0" dirty="0"/>
            </a:br>
            <a:r>
              <a:rPr lang="en-US" sz="1800" b="0" dirty="0"/>
              <a:t>   enables </a:t>
            </a:r>
            <a:r>
              <a:rPr lang="en-US" sz="1800" b="0" u="sng" dirty="0"/>
              <a:t>lock-free index operations</a:t>
            </a:r>
            <a:r>
              <a:rPr lang="en-US" sz="1800" b="0" i="1" dirty="0"/>
              <a:t> (Get</a:t>
            </a:r>
            <a:r>
              <a:rPr lang="en-US" sz="1800" b="0" dirty="0"/>
              <a:t>, </a:t>
            </a:r>
            <a:r>
              <a:rPr lang="en-US" sz="1800" b="0" i="1" dirty="0"/>
              <a:t>Put</a:t>
            </a:r>
            <a:r>
              <a:rPr lang="en-US" sz="1800" b="0" dirty="0"/>
              <a:t>, </a:t>
            </a:r>
            <a:r>
              <a:rPr lang="en-US" sz="1800" b="0" i="1" dirty="0"/>
              <a:t>Insert</a:t>
            </a:r>
            <a:r>
              <a:rPr lang="en-US" sz="1800" b="0" dirty="0"/>
              <a:t>, </a:t>
            </a:r>
            <a:r>
              <a:rPr lang="en-US" sz="1800" b="0" i="1" dirty="0"/>
              <a:t>Delete)</a:t>
            </a:r>
          </a:p>
          <a:p>
            <a:r>
              <a:rPr lang="en-US" sz="1800" b="0" dirty="0"/>
              <a:t>         and </a:t>
            </a:r>
            <a:r>
              <a:rPr lang="en-US" sz="1800" b="0" u="sng" dirty="0"/>
              <a:t>practically non-blocking </a:t>
            </a:r>
            <a:r>
              <a:rPr lang="en-US" sz="1800" b="0" i="1" u="sng" dirty="0"/>
              <a:t>Resizes</a:t>
            </a:r>
          </a:p>
          <a:p>
            <a:pPr marL="285750" indent="-285750">
              <a:buFontTx/>
              <a:buChar char="-"/>
            </a:pPr>
            <a:endParaRPr lang="en-US" sz="1800" b="0" dirty="0"/>
          </a:p>
          <a:p>
            <a:endParaRPr lang="en-US" sz="1800" b="0" dirty="0"/>
          </a:p>
        </p:txBody>
      </p:sp>
      <p:pic>
        <p:nvPicPr>
          <p:cNvPr id="245" name="Picture 244">
            <a:extLst>
              <a:ext uri="{FF2B5EF4-FFF2-40B4-BE49-F238E27FC236}">
                <a16:creationId xmlns:a16="http://schemas.microsoft.com/office/drawing/2014/main" id="{8D82303A-863B-41A8-8B1E-CF11E6A08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691" y="1266260"/>
            <a:ext cx="6057006" cy="1577757"/>
          </a:xfrm>
          <a:prstGeom prst="rect">
            <a:avLst/>
          </a:prstGeom>
        </p:spPr>
      </p:pic>
      <p:pic>
        <p:nvPicPr>
          <p:cNvPr id="252" name="Picture 251">
            <a:extLst>
              <a:ext uri="{FF2B5EF4-FFF2-40B4-BE49-F238E27FC236}">
                <a16:creationId xmlns:a16="http://schemas.microsoft.com/office/drawing/2014/main" id="{7A58A673-DCFC-4EA3-BD3A-8BD16A6AB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034" y="1955747"/>
            <a:ext cx="2781966" cy="595212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88599EE2-0015-44CE-AB69-9E25A7A13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050" y="1157456"/>
            <a:ext cx="2935282" cy="566302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D8DBD86E-8F75-4E94-B015-C6EE7BE72E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8091" y="3927853"/>
            <a:ext cx="1473512" cy="1796635"/>
          </a:xfrm>
          <a:prstGeom prst="rect">
            <a:avLst/>
          </a:prstGeom>
        </p:spPr>
      </p:pic>
      <p:grpSp>
        <p:nvGrpSpPr>
          <p:cNvPr id="262" name="Alternate Process 5">
            <a:extLst>
              <a:ext uri="{FF2B5EF4-FFF2-40B4-BE49-F238E27FC236}">
                <a16:creationId xmlns:a16="http://schemas.microsoft.com/office/drawing/2014/main" id="{04DE8806-7617-47F1-A143-0458FD90D5CE}"/>
              </a:ext>
            </a:extLst>
          </p:cNvPr>
          <p:cNvGrpSpPr/>
          <p:nvPr/>
        </p:nvGrpSpPr>
        <p:grpSpPr>
          <a:xfrm>
            <a:off x="123465" y="5964291"/>
            <a:ext cx="8918016" cy="758826"/>
            <a:chOff x="357133" y="283508"/>
            <a:chExt cx="8036727" cy="581389"/>
          </a:xfrm>
        </p:grpSpPr>
        <p:sp>
          <p:nvSpPr>
            <p:cNvPr id="263" name="Shape">
              <a:extLst>
                <a:ext uri="{FF2B5EF4-FFF2-40B4-BE49-F238E27FC236}">
                  <a16:creationId xmlns:a16="http://schemas.microsoft.com/office/drawing/2014/main" id="{160F4DCA-4AD5-439B-8FA0-7C0F4F2B222F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264" name="Data replication is necessary!">
              <a:extLst>
                <a:ext uri="{FF2B5EF4-FFF2-40B4-BE49-F238E27FC236}">
                  <a16:creationId xmlns:a16="http://schemas.microsoft.com/office/drawing/2014/main" id="{702D23F0-A1C0-40A5-AAF7-5A0DA73B129F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sz="2000" dirty="0"/>
                <a:t>See paper </a:t>
              </a:r>
              <a:r>
                <a:rPr lang="en-US" sz="2000" dirty="0">
                  <a:sym typeface="Wingdings" panose="05000000000000000000" pitchFamily="2" charset="2"/>
                </a:rPr>
                <a:t>for l</a:t>
              </a:r>
              <a:r>
                <a:rPr lang="en-US" sz="2000" dirty="0"/>
                <a:t>ock-free index ops … Let’s look on resizing together!</a:t>
              </a:r>
              <a:endParaRPr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460707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n array (N x 64B)">
            <a:extLst>
              <a:ext uri="{FF2B5EF4-FFF2-40B4-BE49-F238E27FC236}">
                <a16:creationId xmlns:a16="http://schemas.microsoft.com/office/drawing/2014/main" id="{4C79D5E3-F44F-4E88-A49E-30392FAE12F5}"/>
              </a:ext>
            </a:extLst>
          </p:cNvPr>
          <p:cNvSpPr txBox="1"/>
          <p:nvPr/>
        </p:nvSpPr>
        <p:spPr>
          <a:xfrm>
            <a:off x="69953" y="3317295"/>
            <a:ext cx="9107604" cy="35549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12368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Index resize</a:t>
            </a:r>
            <a:r>
              <a:rPr kumimoji="0" lang="en-US" sz="1600" b="0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: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triggered by Inserts if    1) all 15 slots of a bin are filled     or     2) no free buckets to link. </a:t>
            </a:r>
          </a:p>
          <a:p>
            <a:pPr marL="12368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0" dirty="0"/>
          </a:p>
          <a:p>
            <a:pPr marL="12368"/>
            <a:r>
              <a:rPr lang="en-US" sz="1600" b="0" u="sng" dirty="0"/>
              <a:t>Parallel resize</a:t>
            </a:r>
            <a:r>
              <a:rPr lang="en-US" sz="1600" b="0" dirty="0"/>
              <a:t>: index broken in </a:t>
            </a:r>
            <a:r>
              <a:rPr lang="en-US" sz="1600" i="1" dirty="0">
                <a:solidFill>
                  <a:srgbClr val="7030A0"/>
                </a:solidFill>
              </a:rPr>
              <a:t>chunks</a:t>
            </a:r>
            <a:r>
              <a:rPr lang="en-US" sz="1600" b="0" dirty="0"/>
              <a:t> (e.g. 16K bins)</a:t>
            </a:r>
            <a:r>
              <a:rPr lang="en-US" sz="1600" b="0" dirty="0">
                <a:sym typeface="Wingdings" panose="05000000000000000000" pitchFamily="2" charset="2"/>
              </a:rPr>
              <a:t>Resize </a:t>
            </a:r>
            <a:r>
              <a:rPr lang="en-US" sz="1600" b="0" dirty="0"/>
              <a:t>threads collaborate with min synchronization. Each resizing thread picks a not-yet-transferred chunk to transfer.  </a:t>
            </a:r>
          </a:p>
          <a:p>
            <a:pPr marL="12368"/>
            <a:endParaRPr lang="en-US" sz="1600" b="0" u="sng" dirty="0"/>
          </a:p>
          <a:p>
            <a:pPr marL="12368"/>
            <a:r>
              <a:rPr lang="en-US" sz="1600" b="0" u="sng" dirty="0"/>
              <a:t>Non-blocking ops</a:t>
            </a:r>
            <a:r>
              <a:rPr lang="en-US" sz="1600" b="0" dirty="0"/>
              <a:t>: </a:t>
            </a:r>
            <a:r>
              <a:rPr lang="en-US" sz="1600" b="0" strike="sngStrike" dirty="0"/>
              <a:t>Blocking all ops for whole resize </a:t>
            </a:r>
            <a:r>
              <a:rPr lang="en-US" sz="1500" b="0" strike="sngStrike" dirty="0"/>
              <a:t>(GBs of data)</a:t>
            </a:r>
            <a:r>
              <a:rPr lang="en-US" sz="1500" b="0" dirty="0"/>
              <a:t> </a:t>
            </a:r>
            <a:r>
              <a:rPr lang="en-US" sz="1600" b="0" dirty="0"/>
              <a:t>Ops wait at most related (one) bin transfer. </a:t>
            </a:r>
            <a:r>
              <a:rPr lang="en-US" sz="1600" b="0" dirty="0">
                <a:solidFill>
                  <a:schemeClr val="bg1"/>
                </a:solidFill>
              </a:rPr>
              <a:t>If another Insert needs resize, it joins effort of resizing.</a:t>
            </a:r>
            <a:endParaRPr lang="en-US" sz="1600" b="0" dirty="0"/>
          </a:p>
          <a:p>
            <a:r>
              <a:rPr lang="en-US" sz="1600" b="0" dirty="0"/>
              <a:t>Recall each bin has a </a:t>
            </a:r>
            <a:r>
              <a:rPr lang="en-US" sz="1600" b="0" i="1" dirty="0"/>
              <a:t>bin state</a:t>
            </a:r>
            <a:r>
              <a:rPr lang="en-US" sz="1600" b="0" dirty="0"/>
              <a:t> in sync meta </a:t>
            </a:r>
            <a:r>
              <a:rPr lang="en-US" sz="1600" b="0" dirty="0">
                <a:sym typeface="Wingdings" panose="05000000000000000000" pitchFamily="2" charset="2"/>
              </a:rPr>
              <a:t> </a:t>
            </a:r>
            <a:r>
              <a:rPr lang="en-US" sz="1600" b="0" i="1" dirty="0"/>
              <a:t>NoTransfer</a:t>
            </a:r>
            <a:r>
              <a:rPr lang="en-US" sz="1600" b="0" dirty="0"/>
              <a:t>, </a:t>
            </a:r>
            <a:r>
              <a:rPr lang="en-US" sz="1600" b="0" i="1" dirty="0"/>
              <a:t>InTransfer</a:t>
            </a:r>
            <a:r>
              <a:rPr lang="en-US" sz="1600" b="0" dirty="0"/>
              <a:t>, and </a:t>
            </a:r>
            <a:r>
              <a:rPr lang="en-US" sz="1600" b="0" i="1" dirty="0"/>
              <a:t>TransferDone</a:t>
            </a:r>
            <a:r>
              <a:rPr lang="en-US" sz="1600" b="0" dirty="0"/>
              <a:t>.</a:t>
            </a:r>
          </a:p>
          <a:p>
            <a:pPr lvl="0">
              <a:defRPr/>
            </a:pPr>
            <a:r>
              <a:rPr lang="en-US" sz="1600" b="0" dirty="0"/>
              <a:t>To transfer a chunk a thread transfers all its Bins one-by-one: </a:t>
            </a:r>
          </a:p>
          <a:p>
            <a:pPr lvl="0">
              <a:defRPr/>
            </a:pPr>
            <a:r>
              <a:rPr lang="en-US" sz="1600" b="0" dirty="0"/>
              <a:t>   1)  bin_state = </a:t>
            </a:r>
            <a:r>
              <a:rPr lang="en-US" sz="1600" b="0" i="1" dirty="0"/>
              <a:t>InTransfer</a:t>
            </a:r>
            <a:r>
              <a:rPr lang="en-US" sz="1600" b="0" dirty="0"/>
              <a:t>    2)  transfer all bin’s slots to new index    3)   bin_state = </a:t>
            </a:r>
            <a:r>
              <a:rPr lang="en-US" sz="1600" b="0" i="1" dirty="0"/>
              <a:t>TransferDone</a:t>
            </a:r>
            <a:r>
              <a:rPr lang="en-US" sz="1600" b="0" dirty="0"/>
              <a:t>  </a:t>
            </a:r>
          </a:p>
          <a:p>
            <a:pPr marL="12368"/>
            <a:endParaRPr lang="en-US" sz="1600" b="0" dirty="0"/>
          </a:p>
          <a:p>
            <a:pPr marL="12368"/>
            <a:r>
              <a:rPr lang="en-US" sz="1600" b="0" dirty="0"/>
              <a:t>Ops always check the bin state. if </a:t>
            </a:r>
            <a:r>
              <a:rPr lang="en-US" sz="1600" b="0" i="1" dirty="0"/>
              <a:t>NoTransfer</a:t>
            </a:r>
            <a:r>
              <a:rPr lang="en-US" sz="1600" b="0" dirty="0"/>
              <a:t> proceed in current/old index.</a:t>
            </a:r>
          </a:p>
          <a:p>
            <a:pPr marL="12368"/>
            <a:r>
              <a:rPr lang="en-US" sz="1600" b="0" dirty="0"/>
              <a:t>If </a:t>
            </a:r>
            <a:r>
              <a:rPr lang="en-US" sz="1600" b="0" i="1" dirty="0"/>
              <a:t>InTransfer</a:t>
            </a:r>
            <a:r>
              <a:rPr lang="en-US" sz="1600" b="0" dirty="0"/>
              <a:t> they wait until </a:t>
            </a:r>
            <a:r>
              <a:rPr lang="en-US" sz="1600" b="0" i="1" dirty="0"/>
              <a:t>TransferDone</a:t>
            </a:r>
            <a:r>
              <a:rPr lang="en-US" sz="1600" b="0" dirty="0"/>
              <a:t> to perform their op in new index. 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CD48052-8191-48A3-96CE-896A43F6D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746" y="845258"/>
            <a:ext cx="4189041" cy="22560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1EDAC1-E343-44C9-A947-9C57B6CC4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758" y="1450528"/>
            <a:ext cx="2712377" cy="1717743"/>
          </a:xfrm>
          <a:prstGeom prst="rect">
            <a:avLst/>
          </a:prstGeom>
        </p:spPr>
      </p:pic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563713" y="1296664"/>
            <a:ext cx="6057006" cy="47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452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89" name="Distributed Datastores"/>
          <p:cNvSpPr txBox="1">
            <a:spLocks noGrp="1"/>
          </p:cNvSpPr>
          <p:nvPr>
            <p:ph type="title"/>
          </p:nvPr>
        </p:nvSpPr>
        <p:spPr>
          <a:xfrm>
            <a:off x="-22295" y="87412"/>
            <a:ext cx="9144000" cy="77725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Practically non-blocking resize</a:t>
            </a:r>
            <a:endParaRPr dirty="0"/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81607" y="6542352"/>
            <a:ext cx="369979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04F58D4-2174-4574-AA17-6C2DFCD7F544}"/>
              </a:ext>
            </a:extLst>
          </p:cNvPr>
          <p:cNvGrpSpPr/>
          <p:nvPr/>
        </p:nvGrpSpPr>
        <p:grpSpPr>
          <a:xfrm>
            <a:off x="994415" y="1664351"/>
            <a:ext cx="1167402" cy="287258"/>
            <a:chOff x="1096052" y="2738207"/>
            <a:chExt cx="1167402" cy="287258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32A3D09-BFD1-409F-90CD-B845A630CAC9}"/>
                </a:ext>
              </a:extLst>
            </p:cNvPr>
            <p:cNvCxnSpPr>
              <a:cxnSpLocks/>
            </p:cNvCxnSpPr>
            <p:nvPr/>
          </p:nvCxnSpPr>
          <p:spPr>
            <a:xfrm>
              <a:off x="1874327" y="2884982"/>
              <a:ext cx="389127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2" name="HDR  |  KV  |  KV  |  KV">
              <a:extLst>
                <a:ext uri="{FF2B5EF4-FFF2-40B4-BE49-F238E27FC236}">
                  <a16:creationId xmlns:a16="http://schemas.microsoft.com/office/drawing/2014/main" id="{C0A83BCE-10F6-42FD-98E3-45F40B31BE1A}"/>
                </a:ext>
              </a:extLst>
            </p:cNvPr>
            <p:cNvSpPr txBox="1"/>
            <p:nvPr/>
          </p:nvSpPr>
          <p:spPr>
            <a:xfrm>
              <a:off x="1096052" y="2738207"/>
              <a:ext cx="798295" cy="2872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243833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Insert(X, 3)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pic>
        <p:nvPicPr>
          <p:cNvPr id="9218" name="Picture 2" descr="Fast - Free business icons">
            <a:extLst>
              <a:ext uri="{FF2B5EF4-FFF2-40B4-BE49-F238E27FC236}">
                <a16:creationId xmlns:a16="http://schemas.microsoft.com/office/drawing/2014/main" id="{E23CED9A-1E66-4008-BDA8-252F2B70F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816" y="1627571"/>
            <a:ext cx="496107" cy="49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96BC1-9F69-4A79-84B6-F191D135926C}"/>
              </a:ext>
            </a:extLst>
          </p:cNvPr>
          <p:cNvSpPr/>
          <p:nvPr/>
        </p:nvSpPr>
        <p:spPr>
          <a:xfrm>
            <a:off x="3963084" y="3101296"/>
            <a:ext cx="1043940" cy="255387"/>
          </a:xfrm>
          <a:prstGeom prst="round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Calibri"/>
                <a:sym typeface="Calibri"/>
              </a:rPr>
              <a:t>No free link buckets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j-ea"/>
              <a:cs typeface="Calibri"/>
              <a:sym typeface="Calibri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DF4769C-CD92-4DD4-9FD4-C168DC5396D9}"/>
              </a:ext>
            </a:extLst>
          </p:cNvPr>
          <p:cNvGrpSpPr/>
          <p:nvPr/>
        </p:nvGrpSpPr>
        <p:grpSpPr>
          <a:xfrm>
            <a:off x="1085545" y="2480949"/>
            <a:ext cx="1016721" cy="287258"/>
            <a:chOff x="1246733" y="2738207"/>
            <a:chExt cx="1016721" cy="287258"/>
          </a:xfrm>
        </p:grpSpPr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8AB8D8ED-5712-4C83-BA39-6CBFA13B139A}"/>
                </a:ext>
              </a:extLst>
            </p:cNvPr>
            <p:cNvCxnSpPr>
              <a:cxnSpLocks/>
            </p:cNvCxnSpPr>
            <p:nvPr/>
          </p:nvCxnSpPr>
          <p:spPr>
            <a:xfrm>
              <a:off x="1874327" y="2884982"/>
              <a:ext cx="389127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92" name="HDR  |  KV  |  KV  |  KV">
              <a:extLst>
                <a:ext uri="{FF2B5EF4-FFF2-40B4-BE49-F238E27FC236}">
                  <a16:creationId xmlns:a16="http://schemas.microsoft.com/office/drawing/2014/main" id="{FD83FD28-723A-432C-818C-940FB372F7AA}"/>
                </a:ext>
              </a:extLst>
            </p:cNvPr>
            <p:cNvSpPr txBox="1"/>
            <p:nvPr/>
          </p:nvSpPr>
          <p:spPr>
            <a:xfrm>
              <a:off x="1246733" y="2738207"/>
              <a:ext cx="496931" cy="2872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243833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Get(Y)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pic>
        <p:nvPicPr>
          <p:cNvPr id="93" name="Picture 92">
            <a:extLst>
              <a:ext uri="{FF2B5EF4-FFF2-40B4-BE49-F238E27FC236}">
                <a16:creationId xmlns:a16="http://schemas.microsoft.com/office/drawing/2014/main" id="{A790BD0E-EF81-465F-8CDE-7F0F0003A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533" y="2431357"/>
            <a:ext cx="219815" cy="25234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B6EDA8-D4B5-4C8D-A3AA-191BA071FB79}"/>
              </a:ext>
            </a:extLst>
          </p:cNvPr>
          <p:cNvGrpSpPr/>
          <p:nvPr/>
        </p:nvGrpSpPr>
        <p:grpSpPr>
          <a:xfrm>
            <a:off x="3537913" y="1733675"/>
            <a:ext cx="108606" cy="710007"/>
            <a:chOff x="3537913" y="1733675"/>
            <a:chExt cx="108606" cy="710007"/>
          </a:xfrm>
        </p:grpSpPr>
        <p:pic>
          <p:nvPicPr>
            <p:cNvPr id="67" name="Picture 2" descr="Multithreading در پایتون - کالی بویز">
              <a:extLst>
                <a:ext uri="{FF2B5EF4-FFF2-40B4-BE49-F238E27FC236}">
                  <a16:creationId xmlns:a16="http://schemas.microsoft.com/office/drawing/2014/main" id="{3F7CEAC5-C9EF-41E4-8A34-AB5B61AE75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59" t="75559" r="80108" b="-566"/>
            <a:stretch/>
          </p:blipFill>
          <p:spPr bwMode="auto">
            <a:xfrm>
              <a:off x="3537913" y="1733675"/>
              <a:ext cx="108606" cy="268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 descr="Multithreading در پایتون - کالی بویز">
              <a:extLst>
                <a:ext uri="{FF2B5EF4-FFF2-40B4-BE49-F238E27FC236}">
                  <a16:creationId xmlns:a16="http://schemas.microsoft.com/office/drawing/2014/main" id="{B912CD46-5BB9-4B2A-A686-A28EEA2C64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59" t="75559" r="80108" b="-566"/>
            <a:stretch/>
          </p:blipFill>
          <p:spPr bwMode="auto">
            <a:xfrm>
              <a:off x="3537913" y="2175115"/>
              <a:ext cx="108606" cy="268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1D4BB6-C276-4176-A1B0-77E4C279E03C}"/>
              </a:ext>
            </a:extLst>
          </p:cNvPr>
          <p:cNvGrpSpPr/>
          <p:nvPr/>
        </p:nvGrpSpPr>
        <p:grpSpPr>
          <a:xfrm>
            <a:off x="1768054" y="2063518"/>
            <a:ext cx="2094904" cy="464887"/>
            <a:chOff x="1768054" y="2063518"/>
            <a:chExt cx="2094904" cy="46488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E7409E-202A-46FC-9DB7-A60E76F235CE}"/>
                </a:ext>
              </a:extLst>
            </p:cNvPr>
            <p:cNvCxnSpPr/>
            <p:nvPr/>
          </p:nvCxnSpPr>
          <p:spPr>
            <a:xfrm>
              <a:off x="1768054" y="2063518"/>
              <a:ext cx="2094904" cy="0"/>
            </a:xfrm>
            <a:prstGeom prst="line">
              <a:avLst/>
            </a:prstGeom>
            <a:noFill/>
            <a:ln w="25400" cap="flat">
              <a:solidFill>
                <a:srgbClr val="7030A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57216DE-2736-472B-8407-090074056D7F}"/>
                </a:ext>
              </a:extLst>
            </p:cNvPr>
            <p:cNvCxnSpPr/>
            <p:nvPr/>
          </p:nvCxnSpPr>
          <p:spPr>
            <a:xfrm>
              <a:off x="1768054" y="2528405"/>
              <a:ext cx="2094904" cy="0"/>
            </a:xfrm>
            <a:prstGeom prst="line">
              <a:avLst/>
            </a:prstGeom>
            <a:noFill/>
            <a:ln w="25400" cap="flat">
              <a:solidFill>
                <a:srgbClr val="7030A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6C5EAE9-33D7-42B8-ACB6-4F50E79203E7}"/>
              </a:ext>
            </a:extLst>
          </p:cNvPr>
          <p:cNvGrpSpPr/>
          <p:nvPr/>
        </p:nvGrpSpPr>
        <p:grpSpPr>
          <a:xfrm>
            <a:off x="1242320" y="1650825"/>
            <a:ext cx="888164" cy="287258"/>
            <a:chOff x="1375290" y="2730179"/>
            <a:chExt cx="888164" cy="287258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A32EC2CD-787B-417B-A08C-35B0034E76FB}"/>
                </a:ext>
              </a:extLst>
            </p:cNvPr>
            <p:cNvCxnSpPr>
              <a:cxnSpLocks/>
            </p:cNvCxnSpPr>
            <p:nvPr/>
          </p:nvCxnSpPr>
          <p:spPr>
            <a:xfrm>
              <a:off x="1874327" y="2884982"/>
              <a:ext cx="389127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98" name="HDR  |  KV  |  KV  |  KV">
              <a:extLst>
                <a:ext uri="{FF2B5EF4-FFF2-40B4-BE49-F238E27FC236}">
                  <a16:creationId xmlns:a16="http://schemas.microsoft.com/office/drawing/2014/main" id="{D6CCB13D-66D2-4C46-BA01-BA2D7D7653F4}"/>
                </a:ext>
              </a:extLst>
            </p:cNvPr>
            <p:cNvSpPr txBox="1"/>
            <p:nvPr/>
          </p:nvSpPr>
          <p:spPr>
            <a:xfrm>
              <a:off x="1375290" y="2730179"/>
              <a:ext cx="501740" cy="2872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243833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Get(X)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F2C9C5C-4646-4A61-8155-28D4AF85D512}"/>
              </a:ext>
            </a:extLst>
          </p:cNvPr>
          <p:cNvGrpSpPr/>
          <p:nvPr/>
        </p:nvGrpSpPr>
        <p:grpSpPr>
          <a:xfrm>
            <a:off x="4510692" y="1009406"/>
            <a:ext cx="888164" cy="287258"/>
            <a:chOff x="1375290" y="2730179"/>
            <a:chExt cx="888164" cy="287258"/>
          </a:xfrm>
        </p:grpSpPr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1DE24161-8CCD-47A8-B040-7F6CFBA4BA3F}"/>
                </a:ext>
              </a:extLst>
            </p:cNvPr>
            <p:cNvCxnSpPr>
              <a:cxnSpLocks/>
            </p:cNvCxnSpPr>
            <p:nvPr/>
          </p:nvCxnSpPr>
          <p:spPr>
            <a:xfrm>
              <a:off x="1874327" y="2884982"/>
              <a:ext cx="389127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1" name="HDR  |  KV  |  KV  |  KV">
              <a:extLst>
                <a:ext uri="{FF2B5EF4-FFF2-40B4-BE49-F238E27FC236}">
                  <a16:creationId xmlns:a16="http://schemas.microsoft.com/office/drawing/2014/main" id="{0EE41C81-8D36-4D57-9AD8-2B1C771342D5}"/>
                </a:ext>
              </a:extLst>
            </p:cNvPr>
            <p:cNvSpPr txBox="1"/>
            <p:nvPr/>
          </p:nvSpPr>
          <p:spPr>
            <a:xfrm>
              <a:off x="1375290" y="2730179"/>
              <a:ext cx="501740" cy="2872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243833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Get(X)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91EF07F0-5D7A-46FB-89EE-B58F72538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524" y="875197"/>
            <a:ext cx="219815" cy="252344"/>
          </a:xfrm>
          <a:prstGeom prst="rect">
            <a:avLst/>
          </a:prstGeom>
        </p:spPr>
      </p:pic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AC5F7EF-534F-4802-B9F2-40ADC33634A1}"/>
              </a:ext>
            </a:extLst>
          </p:cNvPr>
          <p:cNvGrpSpPr/>
          <p:nvPr/>
        </p:nvGrpSpPr>
        <p:grpSpPr>
          <a:xfrm>
            <a:off x="4241514" y="1058837"/>
            <a:ext cx="1167402" cy="287258"/>
            <a:chOff x="1096052" y="2738207"/>
            <a:chExt cx="1167402" cy="287258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4BEA9662-9483-4E44-AB8C-41ACA157F075}"/>
                </a:ext>
              </a:extLst>
            </p:cNvPr>
            <p:cNvCxnSpPr>
              <a:cxnSpLocks/>
            </p:cNvCxnSpPr>
            <p:nvPr/>
          </p:nvCxnSpPr>
          <p:spPr>
            <a:xfrm>
              <a:off x="1874327" y="2884982"/>
              <a:ext cx="389127" cy="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5" name="HDR  |  KV  |  KV  |  KV">
              <a:extLst>
                <a:ext uri="{FF2B5EF4-FFF2-40B4-BE49-F238E27FC236}">
                  <a16:creationId xmlns:a16="http://schemas.microsoft.com/office/drawing/2014/main" id="{91C7C0B0-DAC1-4CAB-A35D-D3CB9B306DAC}"/>
                </a:ext>
              </a:extLst>
            </p:cNvPr>
            <p:cNvSpPr txBox="1"/>
            <p:nvPr/>
          </p:nvSpPr>
          <p:spPr>
            <a:xfrm>
              <a:off x="1096052" y="2738207"/>
              <a:ext cx="798295" cy="2872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ctr" defTabSz="243833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Insert(X, 3)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1E0A9387-D2C7-4460-9645-6E26379819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099" y="945849"/>
            <a:ext cx="219815" cy="252344"/>
          </a:xfrm>
          <a:prstGeom prst="rect">
            <a:avLst/>
          </a:prstGeom>
        </p:spPr>
      </p:pic>
      <p:sp>
        <p:nvSpPr>
          <p:cNvPr id="109" name="HDR  |  KV  |  KV  |  KV">
            <a:extLst>
              <a:ext uri="{FF2B5EF4-FFF2-40B4-BE49-F238E27FC236}">
                <a16:creationId xmlns:a16="http://schemas.microsoft.com/office/drawing/2014/main" id="{A4A8BF0B-99BA-47F3-AFCD-A5D76D4E671B}"/>
              </a:ext>
            </a:extLst>
          </p:cNvPr>
          <p:cNvSpPr txBox="1"/>
          <p:nvPr/>
        </p:nvSpPr>
        <p:spPr>
          <a:xfrm>
            <a:off x="643729" y="2765092"/>
            <a:ext cx="1463542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ctr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Bin_state: NoTransfer</a:t>
            </a:r>
            <a:endParaRPr kumimoji="0" sz="1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10" name="HDR  |  KV  |  KV  |  KV">
            <a:extLst>
              <a:ext uri="{FF2B5EF4-FFF2-40B4-BE49-F238E27FC236}">
                <a16:creationId xmlns:a16="http://schemas.microsoft.com/office/drawing/2014/main" id="{27DB86DF-FFB3-4498-957A-BE5BE5F9EA8A}"/>
              </a:ext>
            </a:extLst>
          </p:cNvPr>
          <p:cNvSpPr txBox="1"/>
          <p:nvPr/>
        </p:nvSpPr>
        <p:spPr>
          <a:xfrm>
            <a:off x="662875" y="1293183"/>
            <a:ext cx="1611018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ctr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Bin_state: TransferDone</a:t>
            </a:r>
            <a:endParaRPr kumimoji="0" sz="1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grpSp>
        <p:nvGrpSpPr>
          <p:cNvPr id="111" name="Alternate Process 5">
            <a:extLst>
              <a:ext uri="{FF2B5EF4-FFF2-40B4-BE49-F238E27FC236}">
                <a16:creationId xmlns:a16="http://schemas.microsoft.com/office/drawing/2014/main" id="{BF645EBE-241D-443D-9926-A6662229F0B3}"/>
              </a:ext>
            </a:extLst>
          </p:cNvPr>
          <p:cNvGrpSpPr/>
          <p:nvPr/>
        </p:nvGrpSpPr>
        <p:grpSpPr>
          <a:xfrm>
            <a:off x="36396" y="5945231"/>
            <a:ext cx="8918016" cy="758826"/>
            <a:chOff x="357133" y="283508"/>
            <a:chExt cx="8036727" cy="581389"/>
          </a:xfrm>
        </p:grpSpPr>
        <p:sp>
          <p:nvSpPr>
            <p:cNvPr id="112" name="Shape">
              <a:extLst>
                <a:ext uri="{FF2B5EF4-FFF2-40B4-BE49-F238E27FC236}">
                  <a16:creationId xmlns:a16="http://schemas.microsoft.com/office/drawing/2014/main" id="{848B87CA-4295-4EF2-98F4-4481A7EAF7AA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113" name="Data replication is necessary!">
              <a:extLst>
                <a:ext uri="{FF2B5EF4-FFF2-40B4-BE49-F238E27FC236}">
                  <a16:creationId xmlns:a16="http://schemas.microsoft.com/office/drawing/2014/main" id="{3E2D284F-A15B-4948-8DAF-34442939ACAF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sz="2000" dirty="0"/>
                <a:t>Cool! What about the issue of CPU stalling on memory accesses?</a:t>
              </a:r>
              <a:endParaRPr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87153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9" grpId="0" animBg="1"/>
      <p:bldP spid="1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494F2CCF-7ADD-4480-BFA8-F667850AD7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8115" b="16427"/>
          <a:stretch/>
        </p:blipFill>
        <p:spPr>
          <a:xfrm>
            <a:off x="1559963" y="690590"/>
            <a:ext cx="1583642" cy="240070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AE553099-C701-47B8-8504-744C4372F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895" y="4579980"/>
            <a:ext cx="4259476" cy="1207583"/>
          </a:xfrm>
          <a:prstGeom prst="rect">
            <a:avLst/>
          </a:prstGeom>
        </p:spPr>
      </p:pic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563713" y="1296665"/>
            <a:ext cx="6057006" cy="292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452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89559" y="6542352"/>
            <a:ext cx="377930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Bin array (N x 64B)">
            <a:extLst>
              <a:ext uri="{FF2B5EF4-FFF2-40B4-BE49-F238E27FC236}">
                <a16:creationId xmlns:a16="http://schemas.microsoft.com/office/drawing/2014/main" id="{407C0F0E-EE68-49C7-ADF9-4F61EA3C6CB9}"/>
              </a:ext>
            </a:extLst>
          </p:cNvPr>
          <p:cNvSpPr txBox="1"/>
          <p:nvPr/>
        </p:nvSpPr>
        <p:spPr>
          <a:xfrm>
            <a:off x="-9455" y="3871453"/>
            <a:ext cx="3583229" cy="758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 algn="ctr"/>
            <a:r>
              <a:rPr lang="en-US" sz="1600" dirty="0">
                <a:solidFill>
                  <a:srgbClr val="FF644E">
                    <a:lumMod val="50000"/>
                  </a:srgbClr>
                </a:solidFill>
              </a:rPr>
              <a:t>Stalls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644E">
                    <a:lumMod val="50000"/>
                  </a:srgb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CPU on every </a:t>
            </a:r>
            <a:r>
              <a:rPr lang="en-US" sz="1600" dirty="0">
                <a:solidFill>
                  <a:srgbClr val="FF644E">
                    <a:lumMod val="50000"/>
                  </a:srgbClr>
                </a:solidFill>
              </a:rPr>
              <a:t>request</a:t>
            </a:r>
            <a:r>
              <a:rPr lang="en-US" sz="1600" b="0" dirty="0">
                <a:solidFill>
                  <a:srgbClr val="FF644E">
                    <a:lumMod val="50000"/>
                  </a:srgbClr>
                </a:solidFill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Wingdings" panose="05000000000000000000" pitchFamily="2" charset="2"/>
              </a:rPr>
              <a:t>waiting </a:t>
            </a:r>
          </a:p>
          <a:p>
            <a:pPr lvl="0" algn="ctr"/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Wingdings" panose="05000000000000000000" pitchFamily="2" charset="2"/>
              </a:rPr>
              <a:t>one or more memory accesses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544EE6A-819C-4029-BB6F-687839D624EC}"/>
              </a:ext>
            </a:extLst>
          </p:cNvPr>
          <p:cNvGrpSpPr/>
          <p:nvPr/>
        </p:nvGrpSpPr>
        <p:grpSpPr>
          <a:xfrm>
            <a:off x="164464" y="1683984"/>
            <a:ext cx="3372520" cy="2104194"/>
            <a:chOff x="-105931" y="1963148"/>
            <a:chExt cx="3372520" cy="21041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5C4F89E-967A-4BA8-8889-A2D408DD46EE}"/>
                </a:ext>
              </a:extLst>
            </p:cNvPr>
            <p:cNvGrpSpPr/>
            <p:nvPr/>
          </p:nvGrpSpPr>
          <p:grpSpPr>
            <a:xfrm>
              <a:off x="81336" y="1963148"/>
              <a:ext cx="1167403" cy="1304843"/>
              <a:chOff x="626298" y="2411415"/>
              <a:chExt cx="1167403" cy="1304843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4F6E491C-8A97-4114-837D-B61CC88C4B3A}"/>
                  </a:ext>
                </a:extLst>
              </p:cNvPr>
              <p:cNvGrpSpPr/>
              <p:nvPr/>
            </p:nvGrpSpPr>
            <p:grpSpPr>
              <a:xfrm>
                <a:off x="626298" y="2411415"/>
                <a:ext cx="1167402" cy="452206"/>
                <a:chOff x="626298" y="2411415"/>
                <a:chExt cx="1167402" cy="452206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37AEC646-572E-4184-B027-AA8D5A5F07BF}"/>
                    </a:ext>
                  </a:extLst>
                </p:cNvPr>
                <p:cNvGrpSpPr/>
                <p:nvPr/>
              </p:nvGrpSpPr>
              <p:grpSpPr>
                <a:xfrm>
                  <a:off x="626298" y="2576363"/>
                  <a:ext cx="1167402" cy="287258"/>
                  <a:chOff x="626298" y="2576363"/>
                  <a:chExt cx="1167402" cy="287258"/>
                </a:xfrm>
              </p:grpSpPr>
              <p:cxnSp>
                <p:nvCxnSpPr>
                  <p:cNvPr id="72" name="Straight Arrow Connector 71">
                    <a:extLst>
                      <a:ext uri="{FF2B5EF4-FFF2-40B4-BE49-F238E27FC236}">
                        <a16:creationId xmlns:a16="http://schemas.microsoft.com/office/drawing/2014/main" id="{2B950E04-DBC8-4462-A853-57FCFE9E02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4573" y="2723138"/>
                    <a:ext cx="389127" cy="0"/>
                  </a:xfrm>
                  <a:prstGeom prst="straightConnector1">
                    <a:avLst/>
                  </a:prstGeom>
                  <a:noFill/>
                  <a:ln w="25400" cap="flat">
                    <a:solidFill>
                      <a:srgbClr val="000000"/>
                    </a:solidFill>
                    <a:prstDash val="solid"/>
                    <a:miter lim="400000"/>
                    <a:tailEnd type="triangle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75" name="HDR  |  KV  |  KV  |  KV">
                    <a:extLst>
                      <a:ext uri="{FF2B5EF4-FFF2-40B4-BE49-F238E27FC236}">
                        <a16:creationId xmlns:a16="http://schemas.microsoft.com/office/drawing/2014/main" id="{5FEFA12A-C1C5-40BB-98C2-CF8E2E917FEE}"/>
                      </a:ext>
                    </a:extLst>
                  </p:cNvPr>
                  <p:cNvSpPr txBox="1"/>
                  <p:nvPr/>
                </p:nvSpPr>
                <p:spPr>
                  <a:xfrm>
                    <a:off x="626298" y="2576363"/>
                    <a:ext cx="798295" cy="287258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anchor="ctr">
                    <a:spAutoFit/>
                  </a:bodyPr>
                  <a:lstStyle>
                    <a:lvl1pPr>
                      <a:defRPr sz="2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lvl1pPr>
                  </a:lstStyle>
                  <a:p>
                    <a:pPr marL="0" marR="0" lvl="0" indent="0" algn="ctr" defTabSz="2438338" rtl="0" eaLnBrk="1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Calibri"/>
                      </a:rPr>
                      <a:t>Insert(X, 3)</a:t>
                    </a:r>
                    <a:endParaRPr kumimoji="0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id="83" name="Picture 82">
                  <a:extLst>
                    <a:ext uri="{FF2B5EF4-FFF2-40B4-BE49-F238E27FC236}">
                      <a16:creationId xmlns:a16="http://schemas.microsoft.com/office/drawing/2014/main" id="{7BAA9EA5-B6AB-4638-818E-28249F80BA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20611" t="6386" r="14939" b="10707"/>
                <a:stretch/>
              </p:blipFill>
              <p:spPr>
                <a:xfrm>
                  <a:off x="1471715" y="2411415"/>
                  <a:ext cx="224054" cy="224482"/>
                </a:xfrm>
                <a:prstGeom prst="rect">
                  <a:avLst/>
                </a:prstGeom>
              </p:spPr>
            </p:pic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91F548DF-C42A-43D0-91B4-582644C3294D}"/>
                  </a:ext>
                </a:extLst>
              </p:cNvPr>
              <p:cNvGrpSpPr/>
              <p:nvPr/>
            </p:nvGrpSpPr>
            <p:grpSpPr>
              <a:xfrm>
                <a:off x="900429" y="2859786"/>
                <a:ext cx="893272" cy="399499"/>
                <a:chOff x="900429" y="2859786"/>
                <a:chExt cx="893272" cy="399499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D266AF50-77B0-4B47-AFC8-CCF9107CB673}"/>
                    </a:ext>
                  </a:extLst>
                </p:cNvPr>
                <p:cNvGrpSpPr/>
                <p:nvPr/>
              </p:nvGrpSpPr>
              <p:grpSpPr>
                <a:xfrm>
                  <a:off x="900429" y="2972027"/>
                  <a:ext cx="893272" cy="287258"/>
                  <a:chOff x="900429" y="2972027"/>
                  <a:chExt cx="893272" cy="287258"/>
                </a:xfrm>
              </p:grpSpPr>
              <p:cxnSp>
                <p:nvCxnSpPr>
                  <p:cNvPr id="70" name="Straight Arrow Connector 69">
                    <a:extLst>
                      <a:ext uri="{FF2B5EF4-FFF2-40B4-BE49-F238E27FC236}">
                        <a16:creationId xmlns:a16="http://schemas.microsoft.com/office/drawing/2014/main" id="{FA67E225-1A65-42F6-8705-520C03BF7F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4574" y="3117275"/>
                    <a:ext cx="389127" cy="0"/>
                  </a:xfrm>
                  <a:prstGeom prst="straightConnector1">
                    <a:avLst/>
                  </a:prstGeom>
                  <a:noFill/>
                  <a:ln w="25400" cap="flat">
                    <a:solidFill>
                      <a:srgbClr val="000000"/>
                    </a:solidFill>
                    <a:prstDash val="solid"/>
                    <a:miter lim="400000"/>
                    <a:tailEnd type="triangle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77" name="HDR  |  KV  |  KV  |  KV">
                    <a:extLst>
                      <a:ext uri="{FF2B5EF4-FFF2-40B4-BE49-F238E27FC236}">
                        <a16:creationId xmlns:a16="http://schemas.microsoft.com/office/drawing/2014/main" id="{07F3053D-1E8E-4070-9456-C6DF806247D8}"/>
                      </a:ext>
                    </a:extLst>
                  </p:cNvPr>
                  <p:cNvSpPr txBox="1"/>
                  <p:nvPr/>
                </p:nvSpPr>
                <p:spPr>
                  <a:xfrm>
                    <a:off x="900429" y="2972027"/>
                    <a:ext cx="503343" cy="287258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anchor="ctr">
                    <a:spAutoFit/>
                  </a:bodyPr>
                  <a:lstStyle>
                    <a:lvl1pPr>
                      <a:defRPr sz="2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lvl1pPr>
                  </a:lstStyle>
                  <a:p>
                    <a:pPr marL="0" marR="0" lvl="0" indent="0" algn="ctr" defTabSz="2438338" rtl="0" eaLnBrk="1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Calibri"/>
                      </a:rPr>
                      <a:t>Get(C)</a:t>
                    </a:r>
                    <a:endParaRPr kumimoji="0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id="84" name="Picture 83">
                  <a:extLst>
                    <a:ext uri="{FF2B5EF4-FFF2-40B4-BE49-F238E27FC236}">
                      <a16:creationId xmlns:a16="http://schemas.microsoft.com/office/drawing/2014/main" id="{B09BC70F-E143-499D-AC1D-933EC30552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20611" t="6386" r="14939" b="10707"/>
                <a:stretch/>
              </p:blipFill>
              <p:spPr>
                <a:xfrm>
                  <a:off x="1464808" y="2859786"/>
                  <a:ext cx="224054" cy="224482"/>
                </a:xfrm>
                <a:prstGeom prst="rect">
                  <a:avLst/>
                </a:prstGeom>
              </p:spPr>
            </p:pic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84C5C966-8CF9-42D5-910D-3650FE1ACEB8}"/>
                  </a:ext>
                </a:extLst>
              </p:cNvPr>
              <p:cNvGrpSpPr/>
              <p:nvPr/>
            </p:nvGrpSpPr>
            <p:grpSpPr>
              <a:xfrm>
                <a:off x="720669" y="3337922"/>
                <a:ext cx="1073032" cy="378336"/>
                <a:chOff x="720669" y="3337922"/>
                <a:chExt cx="1073032" cy="378336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21840B1E-43F8-4AC1-B404-D24CE19E661B}"/>
                    </a:ext>
                  </a:extLst>
                </p:cNvPr>
                <p:cNvGrpSpPr/>
                <p:nvPr/>
              </p:nvGrpSpPr>
              <p:grpSpPr>
                <a:xfrm>
                  <a:off x="720669" y="3429000"/>
                  <a:ext cx="1073032" cy="287258"/>
                  <a:chOff x="720669" y="3254516"/>
                  <a:chExt cx="1073032" cy="287258"/>
                </a:xfrm>
              </p:grpSpPr>
              <p:cxnSp>
                <p:nvCxnSpPr>
                  <p:cNvPr id="73" name="Straight Arrow Connector 72">
                    <a:extLst>
                      <a:ext uri="{FF2B5EF4-FFF2-40B4-BE49-F238E27FC236}">
                        <a16:creationId xmlns:a16="http://schemas.microsoft.com/office/drawing/2014/main" id="{A9583E59-BB93-48A9-AE87-4CC98A383B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04574" y="3429000"/>
                    <a:ext cx="389127" cy="0"/>
                  </a:xfrm>
                  <a:prstGeom prst="straightConnector1">
                    <a:avLst/>
                  </a:prstGeom>
                  <a:noFill/>
                  <a:ln w="25400" cap="flat">
                    <a:solidFill>
                      <a:srgbClr val="000000"/>
                    </a:solidFill>
                    <a:prstDash val="solid"/>
                    <a:miter lim="400000"/>
                    <a:tailEnd type="triangle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79" name="HDR  |  KV  |  KV  |  KV">
                    <a:extLst>
                      <a:ext uri="{FF2B5EF4-FFF2-40B4-BE49-F238E27FC236}">
                        <a16:creationId xmlns:a16="http://schemas.microsoft.com/office/drawing/2014/main" id="{3860CC5E-1BDF-4B90-A6FB-F405B460D747}"/>
                      </a:ext>
                    </a:extLst>
                  </p:cNvPr>
                  <p:cNvSpPr txBox="1"/>
                  <p:nvPr/>
                </p:nvSpPr>
                <p:spPr>
                  <a:xfrm>
                    <a:off x="720669" y="3254516"/>
                    <a:ext cx="702115" cy="287258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wrap="none" lIns="50800" tIns="50800" rIns="50800" bIns="50800" anchor="ctr">
                    <a:spAutoFit/>
                  </a:bodyPr>
                  <a:lstStyle>
                    <a:lvl1pPr>
                      <a:defRPr sz="22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defRPr>
                    </a:lvl1pPr>
                  </a:lstStyle>
                  <a:p>
                    <a:pPr marL="0" marR="0" lvl="0" indent="0" algn="ctr" defTabSz="2438338" rtl="0" eaLnBrk="1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cs typeface="Calibri"/>
                        <a:sym typeface="Calibri"/>
                      </a:rPr>
                      <a:t>Delete(D)</a:t>
                    </a:r>
                    <a:endParaRPr kumimoji="0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id="85" name="Picture 84">
                  <a:extLst>
                    <a:ext uri="{FF2B5EF4-FFF2-40B4-BE49-F238E27FC236}">
                      <a16:creationId xmlns:a16="http://schemas.microsoft.com/office/drawing/2014/main" id="{C0241D75-3AFA-449A-9CB8-0FA0C02C42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20611" t="6386" r="14939" b="10707"/>
                <a:stretch/>
              </p:blipFill>
              <p:spPr>
                <a:xfrm>
                  <a:off x="1471715" y="3337922"/>
                  <a:ext cx="224054" cy="22448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AEFC015-5313-4AA4-BC02-9FE236F540BB}"/>
                </a:ext>
              </a:extLst>
            </p:cNvPr>
            <p:cNvGrpSpPr/>
            <p:nvPr/>
          </p:nvGrpSpPr>
          <p:grpSpPr>
            <a:xfrm>
              <a:off x="-105931" y="3455229"/>
              <a:ext cx="3372520" cy="612113"/>
              <a:chOff x="-430117" y="3665583"/>
              <a:chExt cx="4999490" cy="873833"/>
            </a:xfrm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CD6F8FCB-A0F6-4209-918C-099C297352E3}"/>
                  </a:ext>
                </a:extLst>
              </p:cNvPr>
              <p:cNvGrpSpPr/>
              <p:nvPr/>
            </p:nvGrpSpPr>
            <p:grpSpPr>
              <a:xfrm>
                <a:off x="-430117" y="3665593"/>
                <a:ext cx="1802612" cy="873820"/>
                <a:chOff x="778821" y="4028339"/>
                <a:chExt cx="2032534" cy="977212"/>
              </a:xfrm>
            </p:grpSpPr>
            <p:pic>
              <p:nvPicPr>
                <p:cNvPr id="91" name="Picture 90">
                  <a:extLst>
                    <a:ext uri="{FF2B5EF4-FFF2-40B4-BE49-F238E27FC236}">
                      <a16:creationId xmlns:a16="http://schemas.microsoft.com/office/drawing/2014/main" id="{395F0FFE-0D26-4A92-B382-CA8223A065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8821" y="4028339"/>
                  <a:ext cx="2032534" cy="766110"/>
                </a:xfrm>
                <a:prstGeom prst="rect">
                  <a:avLst/>
                </a:prstGeom>
              </p:spPr>
            </p:pic>
            <p:sp>
              <p:nvSpPr>
                <p:cNvPr id="100" name="HDR  |  KV  |  KV  |  KV">
                  <a:extLst>
                    <a:ext uri="{FF2B5EF4-FFF2-40B4-BE49-F238E27FC236}">
                      <a16:creationId xmlns:a16="http://schemas.microsoft.com/office/drawing/2014/main" id="{483DE5C8-F13A-42FB-BA87-460C35E03417}"/>
                    </a:ext>
                  </a:extLst>
                </p:cNvPr>
                <p:cNvSpPr txBox="1"/>
                <p:nvPr/>
              </p:nvSpPr>
              <p:spPr>
                <a:xfrm>
                  <a:off x="846764" y="4718293"/>
                  <a:ext cx="798296" cy="28725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50800" tIns="50800" rIns="50800" bIns="50800" anchor="ctr">
                  <a:spAutoFit/>
                </a:bodyPr>
                <a:lstStyle>
                  <a:lvl1pPr>
                    <a:defRPr sz="22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pPr marL="0" marR="0" lvl="0" indent="0" algn="ctr" defTabSz="2438338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cs typeface="Calibri"/>
                      <a:sym typeface="Calibri"/>
                    </a:rPr>
                    <a:t>Insert(X, 3)</a:t>
                  </a:r>
                  <a:endParaRPr kumimoji="0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5DFEA6BF-EBED-47A2-BE1B-EBB5E50360B9}"/>
                  </a:ext>
                </a:extLst>
              </p:cNvPr>
              <p:cNvGrpSpPr/>
              <p:nvPr/>
            </p:nvGrpSpPr>
            <p:grpSpPr>
              <a:xfrm>
                <a:off x="1378953" y="3665583"/>
                <a:ext cx="1543761" cy="800250"/>
                <a:chOff x="3224461" y="4059805"/>
                <a:chExt cx="2032534" cy="991698"/>
              </a:xfrm>
            </p:grpSpPr>
            <p:pic>
              <p:nvPicPr>
                <p:cNvPr id="92" name="Picture 91">
                  <a:extLst>
                    <a:ext uri="{FF2B5EF4-FFF2-40B4-BE49-F238E27FC236}">
                      <a16:creationId xmlns:a16="http://schemas.microsoft.com/office/drawing/2014/main" id="{202AB49B-73B9-4039-8981-E8C4990088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24461" y="4059805"/>
                  <a:ext cx="2032534" cy="766108"/>
                </a:xfrm>
                <a:prstGeom prst="rect">
                  <a:avLst/>
                </a:prstGeom>
              </p:spPr>
            </p:pic>
            <p:sp>
              <p:nvSpPr>
                <p:cNvPr id="101" name="HDR  |  KV  |  KV  |  KV">
                  <a:extLst>
                    <a:ext uri="{FF2B5EF4-FFF2-40B4-BE49-F238E27FC236}">
                      <a16:creationId xmlns:a16="http://schemas.microsoft.com/office/drawing/2014/main" id="{7E2BD2AD-5949-4409-9344-A6984928D2D3}"/>
                    </a:ext>
                  </a:extLst>
                </p:cNvPr>
                <p:cNvSpPr txBox="1"/>
                <p:nvPr/>
              </p:nvSpPr>
              <p:spPr>
                <a:xfrm>
                  <a:off x="3362896" y="4764245"/>
                  <a:ext cx="503342" cy="28725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50800" tIns="50800" rIns="50800" bIns="50800" anchor="ctr">
                  <a:spAutoFit/>
                </a:bodyPr>
                <a:lstStyle>
                  <a:lvl1pPr>
                    <a:defRPr sz="22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pPr marL="0" marR="0" lvl="0" indent="0" algn="ctr" defTabSz="2438338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cs typeface="Calibri"/>
                      <a:sym typeface="Calibri"/>
                    </a:rPr>
                    <a:t>Get(C)</a:t>
                  </a:r>
                  <a:endParaRPr kumimoji="0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4B4BBD54-7580-4DBB-A8EA-5BCD84DA1955}"/>
                  </a:ext>
                </a:extLst>
              </p:cNvPr>
              <p:cNvGrpSpPr/>
              <p:nvPr/>
            </p:nvGrpSpPr>
            <p:grpSpPr>
              <a:xfrm>
                <a:off x="2940330" y="3673195"/>
                <a:ext cx="1629043" cy="866221"/>
                <a:chOff x="5856816" y="4032466"/>
                <a:chExt cx="2032534" cy="1027442"/>
              </a:xfrm>
            </p:grpSpPr>
            <p:pic>
              <p:nvPicPr>
                <p:cNvPr id="93" name="Picture 92">
                  <a:extLst>
                    <a:ext uri="{FF2B5EF4-FFF2-40B4-BE49-F238E27FC236}">
                      <a16:creationId xmlns:a16="http://schemas.microsoft.com/office/drawing/2014/main" id="{E7E5E503-C155-48B3-A73A-1121075B11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56816" y="4032466"/>
                  <a:ext cx="2032534" cy="766108"/>
                </a:xfrm>
                <a:prstGeom prst="rect">
                  <a:avLst/>
                </a:prstGeom>
              </p:spPr>
            </p:pic>
            <p:sp>
              <p:nvSpPr>
                <p:cNvPr id="102" name="HDR  |  KV  |  KV  |  KV">
                  <a:extLst>
                    <a:ext uri="{FF2B5EF4-FFF2-40B4-BE49-F238E27FC236}">
                      <a16:creationId xmlns:a16="http://schemas.microsoft.com/office/drawing/2014/main" id="{FED4653F-8B69-42BD-8D52-2929DEB892D2}"/>
                    </a:ext>
                  </a:extLst>
                </p:cNvPr>
                <p:cNvSpPr txBox="1"/>
                <p:nvPr/>
              </p:nvSpPr>
              <p:spPr>
                <a:xfrm>
                  <a:off x="5971435" y="4772650"/>
                  <a:ext cx="702115" cy="28725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50800" tIns="50800" rIns="50800" bIns="50800" anchor="ctr">
                  <a:spAutoFit/>
                </a:bodyPr>
                <a:lstStyle>
                  <a:lvl1pPr>
                    <a:defRPr sz="22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pPr marL="0" marR="0" lvl="0" indent="0" algn="ctr" defTabSz="2438338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cs typeface="Calibri"/>
                      <a:sym typeface="Calibri"/>
                    </a:rPr>
                    <a:t>Delete(D)</a:t>
                  </a:r>
                  <a:endParaRPr kumimoji="0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1" name="Bin array (N x 64B)">
            <a:extLst>
              <a:ext uri="{FF2B5EF4-FFF2-40B4-BE49-F238E27FC236}">
                <a16:creationId xmlns:a16="http://schemas.microsoft.com/office/drawing/2014/main" id="{6C34C1B4-E9BB-4E0F-B530-DDA327C540F3}"/>
              </a:ext>
            </a:extLst>
          </p:cNvPr>
          <p:cNvSpPr txBox="1"/>
          <p:nvPr/>
        </p:nvSpPr>
        <p:spPr>
          <a:xfrm>
            <a:off x="3887222" y="2881306"/>
            <a:ext cx="5295961" cy="11359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 algn="ctr"/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4.</a:t>
            </a:r>
            <a:r>
              <a:rPr kumimoji="0" lang="en-US" sz="1600" i="0" u="none" strike="noStrike" kern="0" cap="none" spc="0" normalizeH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Pipelined batched processing</a:t>
            </a:r>
          </a:p>
          <a:p>
            <a:r>
              <a:rPr lang="en-US" sz="1600" b="0" dirty="0"/>
              <a:t>In DLHT that minimizes memory accesses via a batched API, we </a:t>
            </a:r>
            <a:r>
              <a:rPr lang="en-GB" sz="1600" b="0" dirty="0"/>
              <a:t>can easily pipeline requests + exploit software prefetching</a:t>
            </a:r>
          </a:p>
          <a:p>
            <a:endParaRPr lang="en-GB" sz="1600" b="0" dirty="0"/>
          </a:p>
          <a:p>
            <a:r>
              <a:rPr lang="en-GB" sz="1600" b="0" dirty="0"/>
              <a:t> </a:t>
            </a:r>
            <a:r>
              <a:rPr lang="en-GB" sz="1600" b="0" dirty="0">
                <a:sym typeface="Wingdings" panose="05000000000000000000" pitchFamily="2" charset="2"/>
              </a:rPr>
              <a:t> 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</a:rPr>
              <a:t>overlap memory accesses </a:t>
            </a:r>
            <a:r>
              <a:rPr lang="en-GB" sz="1600" b="0" dirty="0"/>
              <a:t>to bins </a:t>
            </a:r>
          </a:p>
          <a:p>
            <a:r>
              <a:rPr lang="en-GB" sz="1600" b="0" dirty="0"/>
              <a:t>     – while ensuring 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</a:rPr>
              <a:t>in-order request completion</a:t>
            </a:r>
            <a:endParaRPr lang="en-GB" sz="1600" b="0" dirty="0"/>
          </a:p>
          <a:p>
            <a:pPr lvl="0" algn="ctr"/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Distributed Datastores">
            <a:extLst>
              <a:ext uri="{FF2B5EF4-FFF2-40B4-BE49-F238E27FC236}">
                <a16:creationId xmlns:a16="http://schemas.microsoft.com/office/drawing/2014/main" id="{2761A5E7-9F77-4E8D-93AD-DE0135508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9455" y="197295"/>
            <a:ext cx="9144000" cy="77725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 dirty="0"/>
              <a:t>Overlapping memory accesses</a:t>
            </a:r>
            <a:endParaRPr sz="3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F028DC-3C5A-4874-B010-19AEB1376465}"/>
              </a:ext>
            </a:extLst>
          </p:cNvPr>
          <p:cNvCxnSpPr>
            <a:cxnSpLocks/>
          </p:cNvCxnSpPr>
          <p:nvPr/>
        </p:nvCxnSpPr>
        <p:spPr>
          <a:xfrm>
            <a:off x="446102" y="1100941"/>
            <a:ext cx="2876647" cy="2929532"/>
          </a:xfrm>
          <a:prstGeom prst="line">
            <a:avLst/>
          </a:prstGeom>
          <a:noFill/>
          <a:ln w="152400" cap="flat">
            <a:solidFill>
              <a:srgbClr val="C0000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1C10C4B-D2C5-4840-953A-584D8FCA9E1E}"/>
              </a:ext>
            </a:extLst>
          </p:cNvPr>
          <p:cNvCxnSpPr>
            <a:cxnSpLocks/>
          </p:cNvCxnSpPr>
          <p:nvPr/>
        </p:nvCxnSpPr>
        <p:spPr>
          <a:xfrm flipH="1">
            <a:off x="203303" y="1145578"/>
            <a:ext cx="3063621" cy="2929531"/>
          </a:xfrm>
          <a:prstGeom prst="line">
            <a:avLst/>
          </a:prstGeom>
          <a:noFill/>
          <a:ln w="152400" cap="flat">
            <a:solidFill>
              <a:srgbClr val="C0000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838146-D06D-4DFC-8323-332CBC695BCE}"/>
              </a:ext>
            </a:extLst>
          </p:cNvPr>
          <p:cNvGrpSpPr/>
          <p:nvPr/>
        </p:nvGrpSpPr>
        <p:grpSpPr>
          <a:xfrm>
            <a:off x="4684181" y="859541"/>
            <a:ext cx="3200118" cy="2360429"/>
            <a:chOff x="4612751" y="1369658"/>
            <a:chExt cx="3200118" cy="2360429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D221E64-A215-4998-8C7F-51095E83A0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73439" t="10227"/>
            <a:stretch/>
          </p:blipFill>
          <p:spPr>
            <a:xfrm>
              <a:off x="6010257" y="1568970"/>
              <a:ext cx="1802612" cy="2161117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B238A98-2333-4E91-AEB7-DB3D55A4C3A3}"/>
                </a:ext>
              </a:extLst>
            </p:cNvPr>
            <p:cNvGrpSpPr/>
            <p:nvPr/>
          </p:nvGrpSpPr>
          <p:grpSpPr>
            <a:xfrm>
              <a:off x="4955739" y="2069904"/>
              <a:ext cx="1167402" cy="287258"/>
              <a:chOff x="626298" y="2576363"/>
              <a:chExt cx="1167402" cy="287258"/>
            </a:xfrm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81C64AB-16C4-4F33-B230-5A7FFB9B9C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73" y="2723138"/>
                <a:ext cx="389127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2" name="HDR  |  KV  |  KV  |  KV">
                <a:extLst>
                  <a:ext uri="{FF2B5EF4-FFF2-40B4-BE49-F238E27FC236}">
                    <a16:creationId xmlns:a16="http://schemas.microsoft.com/office/drawing/2014/main" id="{AF432CFA-6524-43B1-A1AA-73A9DA4E6857}"/>
                  </a:ext>
                </a:extLst>
              </p:cNvPr>
              <p:cNvSpPr txBox="1"/>
              <p:nvPr/>
            </p:nvSpPr>
            <p:spPr>
              <a:xfrm>
                <a:off x="626298" y="2576363"/>
                <a:ext cx="798295" cy="287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2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ctr" defTabSz="2438338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rPr>
                  <a:t>Insert(X, 3)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13DA82F-FC56-4A4F-8473-A12C98298074}"/>
                </a:ext>
              </a:extLst>
            </p:cNvPr>
            <p:cNvGrpSpPr/>
            <p:nvPr/>
          </p:nvGrpSpPr>
          <p:grpSpPr>
            <a:xfrm>
              <a:off x="5229870" y="2465568"/>
              <a:ext cx="893272" cy="287258"/>
              <a:chOff x="900429" y="2972027"/>
              <a:chExt cx="893272" cy="287258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75579519-51C6-4966-A9E4-59DB7FF580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74" y="3117275"/>
                <a:ext cx="389127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7" name="HDR  |  KV  |  KV  |  KV">
                <a:extLst>
                  <a:ext uri="{FF2B5EF4-FFF2-40B4-BE49-F238E27FC236}">
                    <a16:creationId xmlns:a16="http://schemas.microsoft.com/office/drawing/2014/main" id="{AA61B265-E21B-4DF6-8708-5E8EB2BF6B34}"/>
                  </a:ext>
                </a:extLst>
              </p:cNvPr>
              <p:cNvSpPr txBox="1"/>
              <p:nvPr/>
            </p:nvSpPr>
            <p:spPr>
              <a:xfrm>
                <a:off x="900429" y="2972027"/>
                <a:ext cx="503343" cy="287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2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ctr" defTabSz="2438338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rPr>
                  <a:t>Get(C)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449A4DC-5070-4774-864D-B082D5D99564}"/>
                </a:ext>
              </a:extLst>
            </p:cNvPr>
            <p:cNvGrpSpPr/>
            <p:nvPr/>
          </p:nvGrpSpPr>
          <p:grpSpPr>
            <a:xfrm>
              <a:off x="5050110" y="2922541"/>
              <a:ext cx="1073032" cy="287258"/>
              <a:chOff x="720669" y="3254516"/>
              <a:chExt cx="1073032" cy="287258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E3081B09-916D-405D-8C9E-EE95290EB3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574" y="3429000"/>
                <a:ext cx="389127" cy="0"/>
              </a:xfrm>
              <a:prstGeom prst="straightConnector1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2" name="HDR  |  KV  |  KV  |  KV">
                <a:extLst>
                  <a:ext uri="{FF2B5EF4-FFF2-40B4-BE49-F238E27FC236}">
                    <a16:creationId xmlns:a16="http://schemas.microsoft.com/office/drawing/2014/main" id="{0C4680C8-7AE6-445B-8A0A-531A9E784782}"/>
                  </a:ext>
                </a:extLst>
              </p:cNvPr>
              <p:cNvSpPr txBox="1"/>
              <p:nvPr/>
            </p:nvSpPr>
            <p:spPr>
              <a:xfrm>
                <a:off x="720669" y="3254516"/>
                <a:ext cx="702115" cy="287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2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 marL="0" marR="0" lvl="0" indent="0" algn="ctr" defTabSz="2438338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  <a:sym typeface="Calibri"/>
                  </a:rPr>
                  <a:t>Delete(D)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4887A5-5E7D-4418-A323-B6B99FEB0AA6}"/>
                </a:ext>
              </a:extLst>
            </p:cNvPr>
            <p:cNvSpPr/>
            <p:nvPr/>
          </p:nvSpPr>
          <p:spPr>
            <a:xfrm>
              <a:off x="4955738" y="1912115"/>
              <a:ext cx="798296" cy="1359096"/>
            </a:xfrm>
            <a:prstGeom prst="rect">
              <a:avLst/>
            </a:prstGeom>
            <a:noFill/>
            <a:ln w="25400" cap="flat">
              <a:solidFill>
                <a:schemeClr val="accent1">
                  <a:lumMod val="60000"/>
                  <a:lumOff val="40000"/>
                </a:schemeClr>
              </a:solidFill>
              <a:prstDash val="sysDash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105" name="Bin array (N x 64B)">
              <a:extLst>
                <a:ext uri="{FF2B5EF4-FFF2-40B4-BE49-F238E27FC236}">
                  <a16:creationId xmlns:a16="http://schemas.microsoft.com/office/drawing/2014/main" id="{AEE3D24C-A75E-4E4E-B044-C38705D3D075}"/>
                </a:ext>
              </a:extLst>
            </p:cNvPr>
            <p:cNvSpPr txBox="1"/>
            <p:nvPr/>
          </p:nvSpPr>
          <p:spPr>
            <a:xfrm>
              <a:off x="4612751" y="1369658"/>
              <a:ext cx="1505160" cy="7418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914400">
                <a:defRPr sz="23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lvl="0" algn="ctr"/>
              <a:r>
                <a:rPr kumimoji="0" lang="en-US" sz="1400" i="0" u="none" strike="noStrike" kern="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In-order </a:t>
              </a:r>
            </a:p>
            <a:p>
              <a:pPr lvl="0" algn="ctr"/>
              <a:r>
                <a:rPr kumimoji="0" lang="en-US" sz="1400" i="0" u="none" strike="noStrike" kern="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Calibri"/>
                  <a:cs typeface="Calibri"/>
                  <a:sym typeface="Calibri"/>
                </a:rPr>
                <a:t>batch</a:t>
              </a:r>
            </a:p>
            <a:p>
              <a:pPr lvl="0" algn="ctr"/>
              <a:endPara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9AFE5B3-8AD9-4229-8D55-6C6155F3C766}"/>
              </a:ext>
            </a:extLst>
          </p:cNvPr>
          <p:cNvGrpSpPr/>
          <p:nvPr/>
        </p:nvGrpSpPr>
        <p:grpSpPr>
          <a:xfrm>
            <a:off x="205112" y="4686936"/>
            <a:ext cx="3483709" cy="1046463"/>
            <a:chOff x="1397297" y="7072309"/>
            <a:chExt cx="4046857" cy="1193898"/>
          </a:xfrm>
        </p:grpSpPr>
        <p:grpSp>
          <p:nvGrpSpPr>
            <p:cNvPr id="108" name="Group">
              <a:extLst>
                <a:ext uri="{FF2B5EF4-FFF2-40B4-BE49-F238E27FC236}">
                  <a16:creationId xmlns:a16="http://schemas.microsoft.com/office/drawing/2014/main" id="{BC03D106-6E99-4E1B-9C15-4225D9E1F827}"/>
                </a:ext>
              </a:extLst>
            </p:cNvPr>
            <p:cNvGrpSpPr/>
            <p:nvPr/>
          </p:nvGrpSpPr>
          <p:grpSpPr>
            <a:xfrm>
              <a:off x="4402657" y="7072309"/>
              <a:ext cx="1041497" cy="1041498"/>
              <a:chOff x="0" y="0"/>
              <a:chExt cx="1041495" cy="1041495"/>
            </a:xfrm>
          </p:grpSpPr>
          <p:pic>
            <p:nvPicPr>
              <p:cNvPr id="111" name="film.png" descr="film.png">
                <a:extLst>
                  <a:ext uri="{FF2B5EF4-FFF2-40B4-BE49-F238E27FC236}">
                    <a16:creationId xmlns:a16="http://schemas.microsoft.com/office/drawing/2014/main" id="{8A5EB49B-9172-4A11-A91B-8B5857E76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0" y="0"/>
                <a:ext cx="939644" cy="9396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12" name="film.png" descr="film.png">
                <a:extLst>
                  <a:ext uri="{FF2B5EF4-FFF2-40B4-BE49-F238E27FC236}">
                    <a16:creationId xmlns:a16="http://schemas.microsoft.com/office/drawing/2014/main" id="{7FE297B9-E012-460E-AA22-6F14596C2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50925" y="50925"/>
                <a:ext cx="939645" cy="93964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13" name="film.png" descr="film.png">
                <a:extLst>
                  <a:ext uri="{FF2B5EF4-FFF2-40B4-BE49-F238E27FC236}">
                    <a16:creationId xmlns:a16="http://schemas.microsoft.com/office/drawing/2014/main" id="{4A633D33-E5D0-4279-89C9-F10F71A1D2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rcRect/>
              <a:stretch>
                <a:fillRect/>
              </a:stretch>
            </p:blipFill>
            <p:spPr>
              <a:xfrm>
                <a:off x="101851" y="101850"/>
                <a:ext cx="939644" cy="93964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109" name="Image" descr="Image">
              <a:extLst>
                <a:ext uri="{FF2B5EF4-FFF2-40B4-BE49-F238E27FC236}">
                  <a16:creationId xmlns:a16="http://schemas.microsoft.com/office/drawing/2014/main" id="{30838809-1CE1-44D1-81D2-1EDA3B8B2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397297" y="7274629"/>
              <a:ext cx="916237" cy="9162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0" name="Arrow">
              <a:extLst>
                <a:ext uri="{FF2B5EF4-FFF2-40B4-BE49-F238E27FC236}">
                  <a16:creationId xmlns:a16="http://schemas.microsoft.com/office/drawing/2014/main" id="{3AA1EE66-2C43-4DB6-B798-4934CAD332E4}"/>
                </a:ext>
              </a:extLst>
            </p:cNvPr>
            <p:cNvSpPr/>
            <p:nvPr/>
          </p:nvSpPr>
          <p:spPr>
            <a:xfrm>
              <a:off x="2328067" y="72131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19" name="Arrow">
              <a:extLst>
                <a:ext uri="{FF2B5EF4-FFF2-40B4-BE49-F238E27FC236}">
                  <a16:creationId xmlns:a16="http://schemas.microsoft.com/office/drawing/2014/main" id="{0E9E5D18-A0EB-4DA3-BD0E-A1A86E57CF0C}"/>
                </a:ext>
              </a:extLst>
            </p:cNvPr>
            <p:cNvSpPr/>
            <p:nvPr/>
          </p:nvSpPr>
          <p:spPr>
            <a:xfrm>
              <a:off x="2480467" y="73655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20" name="Arrow">
              <a:extLst>
                <a:ext uri="{FF2B5EF4-FFF2-40B4-BE49-F238E27FC236}">
                  <a16:creationId xmlns:a16="http://schemas.microsoft.com/office/drawing/2014/main" id="{EA91DB58-4DAA-4B53-BF8C-D1E2005E9258}"/>
                </a:ext>
              </a:extLst>
            </p:cNvPr>
            <p:cNvSpPr/>
            <p:nvPr/>
          </p:nvSpPr>
          <p:spPr>
            <a:xfrm>
              <a:off x="2632867" y="75179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21" name="Arrow">
              <a:extLst>
                <a:ext uri="{FF2B5EF4-FFF2-40B4-BE49-F238E27FC236}">
                  <a16:creationId xmlns:a16="http://schemas.microsoft.com/office/drawing/2014/main" id="{F53EAFB5-D7A9-400A-99AE-9FB3E01DDA58}"/>
                </a:ext>
              </a:extLst>
            </p:cNvPr>
            <p:cNvSpPr/>
            <p:nvPr/>
          </p:nvSpPr>
          <p:spPr>
            <a:xfrm>
              <a:off x="2785267" y="76703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22" name="Arrow">
              <a:extLst>
                <a:ext uri="{FF2B5EF4-FFF2-40B4-BE49-F238E27FC236}">
                  <a16:creationId xmlns:a16="http://schemas.microsoft.com/office/drawing/2014/main" id="{126A1F8A-199A-4DD0-819A-C4BDEBB35F61}"/>
                </a:ext>
              </a:extLst>
            </p:cNvPr>
            <p:cNvSpPr/>
            <p:nvPr/>
          </p:nvSpPr>
          <p:spPr>
            <a:xfrm>
              <a:off x="2937667" y="78227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/>
            </a:p>
          </p:txBody>
        </p:sp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A0CA6FA8-69C9-4B59-8302-ADF1FAAECC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8068" y="4422425"/>
            <a:ext cx="856310" cy="983030"/>
          </a:xfrm>
          <a:prstGeom prst="rect">
            <a:avLst/>
          </a:prstGeom>
        </p:spPr>
      </p:pic>
      <p:grpSp>
        <p:nvGrpSpPr>
          <p:cNvPr id="94" name="Alternate Process 5">
            <a:extLst>
              <a:ext uri="{FF2B5EF4-FFF2-40B4-BE49-F238E27FC236}">
                <a16:creationId xmlns:a16="http://schemas.microsoft.com/office/drawing/2014/main" id="{4ABEE3E9-0427-43AD-9426-D0F0C89DB85B}"/>
              </a:ext>
            </a:extLst>
          </p:cNvPr>
          <p:cNvGrpSpPr/>
          <p:nvPr/>
        </p:nvGrpSpPr>
        <p:grpSpPr>
          <a:xfrm>
            <a:off x="836852" y="5910183"/>
            <a:ext cx="7624567" cy="758826"/>
            <a:chOff x="357133" y="283508"/>
            <a:chExt cx="8036727" cy="581389"/>
          </a:xfrm>
        </p:grpSpPr>
        <p:sp>
          <p:nvSpPr>
            <p:cNvPr id="95" name="Shape">
              <a:extLst>
                <a:ext uri="{FF2B5EF4-FFF2-40B4-BE49-F238E27FC236}">
                  <a16:creationId xmlns:a16="http://schemas.microsoft.com/office/drawing/2014/main" id="{A73EF5F6-999E-45F3-8D19-CE13C8218FAC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96" name="Data replication is necessary!">
              <a:extLst>
                <a:ext uri="{FF2B5EF4-FFF2-40B4-BE49-F238E27FC236}">
                  <a16:creationId xmlns:a16="http://schemas.microsoft.com/office/drawing/2014/main" id="{8E03357B-E08B-441D-A0D0-2F73A4842ADC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GB" sz="2400" dirty="0"/>
                <a:t>Reality check: Do all these translate into performance?</a:t>
              </a:r>
              <a:endParaRPr sz="2400" dirty="0"/>
            </a:p>
          </p:txBody>
        </p:sp>
      </p:grpSp>
      <p:pic>
        <p:nvPicPr>
          <p:cNvPr id="106" name="Picture 2" descr="8,183 Skeptical Emoji Stock Photos, Pictures &amp; Royalty-Free ...">
            <a:extLst>
              <a:ext uri="{FF2B5EF4-FFF2-40B4-BE49-F238E27FC236}">
                <a16:creationId xmlns:a16="http://schemas.microsoft.com/office/drawing/2014/main" id="{4D98A222-AC4E-4425-B2DE-63AEBE6D5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8" y="5828949"/>
            <a:ext cx="817329" cy="81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1266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F7716CB-DDF2-4C1D-9364-7CD7B3D81B85}"/>
              </a:ext>
            </a:extLst>
          </p:cNvPr>
          <p:cNvGrpSpPr/>
          <p:nvPr/>
        </p:nvGrpSpPr>
        <p:grpSpPr>
          <a:xfrm>
            <a:off x="107760" y="665776"/>
            <a:ext cx="8701481" cy="4890050"/>
            <a:chOff x="107760" y="665776"/>
            <a:chExt cx="8701481" cy="489005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41317A7-29E2-4B65-9F09-6419437CB61C}"/>
                </a:ext>
              </a:extLst>
            </p:cNvPr>
            <p:cNvGrpSpPr/>
            <p:nvPr/>
          </p:nvGrpSpPr>
          <p:grpSpPr>
            <a:xfrm>
              <a:off x="107760" y="665776"/>
              <a:ext cx="8701481" cy="4890050"/>
              <a:chOff x="107760" y="665776"/>
              <a:chExt cx="8701481" cy="489005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F22F26B-2C8F-4C86-8069-A5C3CA306083}"/>
                  </a:ext>
                </a:extLst>
              </p:cNvPr>
              <p:cNvGrpSpPr/>
              <p:nvPr/>
            </p:nvGrpSpPr>
            <p:grpSpPr>
              <a:xfrm>
                <a:off x="107760" y="665776"/>
                <a:ext cx="8701481" cy="4890050"/>
                <a:chOff x="107760" y="665776"/>
                <a:chExt cx="8701481" cy="4890050"/>
              </a:xfrm>
            </p:grpSpPr>
            <p:pic>
              <p:nvPicPr>
                <p:cNvPr id="1026" name="Picture 2">
                  <a:extLst>
                    <a:ext uri="{FF2B5EF4-FFF2-40B4-BE49-F238E27FC236}">
                      <a16:creationId xmlns:a16="http://schemas.microsoft.com/office/drawing/2014/main" id="{BFE72295-2CA0-4B61-BA0E-A8181F4BCFD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7760" y="665776"/>
                  <a:ext cx="8701481" cy="48900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8" name="Picture 4" descr="Red X PNG Transparent Images - PNG All">
                  <a:extLst>
                    <a:ext uri="{FF2B5EF4-FFF2-40B4-BE49-F238E27FC236}">
                      <a16:creationId xmlns:a16="http://schemas.microsoft.com/office/drawing/2014/main" id="{C565899D-9030-4AF3-8412-C8163C89B1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90510" y="4770429"/>
                  <a:ext cx="254161" cy="25416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3" name="Picture 4" descr="Red X PNG Transparent Images - PNG All">
                  <a:extLst>
                    <a:ext uri="{FF2B5EF4-FFF2-40B4-BE49-F238E27FC236}">
                      <a16:creationId xmlns:a16="http://schemas.microsoft.com/office/drawing/2014/main" id="{F7E54263-6F04-46DE-9171-EBFE06D3FA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73282" y="4863429"/>
                  <a:ext cx="167465" cy="16746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4" name="Picture 4" descr="Red X PNG Transparent Images - PNG All">
                  <a:extLst>
                    <a:ext uri="{FF2B5EF4-FFF2-40B4-BE49-F238E27FC236}">
                      <a16:creationId xmlns:a16="http://schemas.microsoft.com/office/drawing/2014/main" id="{45166A09-F278-401A-86EB-6BC44F0BE22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789092" y="4863429"/>
                  <a:ext cx="167465" cy="16746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5" name="Picture 4" descr="Red X PNG Transparent Images - PNG All">
                  <a:extLst>
                    <a:ext uri="{FF2B5EF4-FFF2-40B4-BE49-F238E27FC236}">
                      <a16:creationId xmlns:a16="http://schemas.microsoft.com/office/drawing/2014/main" id="{AE95B932-CB3D-4E95-B9B9-F67F1719F2A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88745" y="1384068"/>
                  <a:ext cx="167465" cy="16746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6" name="Text Placeholder 2">
                  <a:extLst>
                    <a:ext uri="{FF2B5EF4-FFF2-40B4-BE49-F238E27FC236}">
                      <a16:creationId xmlns:a16="http://schemas.microsoft.com/office/drawing/2014/main" id="{13D4AAD5-005D-4994-84DC-0AAC91434091}"/>
                    </a:ext>
                  </a:extLst>
                </p:cNvPr>
                <p:cNvSpPr txBox="1"/>
                <p:nvPr/>
              </p:nvSpPr>
              <p:spPr>
                <a:xfrm>
                  <a:off x="5162266" y="1295310"/>
                  <a:ext cx="1616716" cy="430852"/>
                </a:xfrm>
                <a:prstGeom prst="rect">
                  <a:avLst/>
                </a:prstGeom>
              </p:spPr>
              <p:txBody>
                <a:bodyPr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FrutigerNext LT Medium"/>
                      <a:ea typeface="华文细黑"/>
                    </a:rPr>
                    <a:t>Not supported</a:t>
                  </a:r>
                </a:p>
              </p:txBody>
            </p: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E655C42-1BB4-40E6-A220-F46A0D6766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4316" y="874962"/>
                <a:ext cx="0" cy="4461497"/>
              </a:xfrm>
              <a:prstGeom prst="line">
                <a:avLst/>
              </a:prstGeom>
              <a:noFill/>
              <a:ln w="25400" cap="flat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51" name="Text Placeholder 2">
              <a:extLst>
                <a:ext uri="{FF2B5EF4-FFF2-40B4-BE49-F238E27FC236}">
                  <a16:creationId xmlns:a16="http://schemas.microsoft.com/office/drawing/2014/main" id="{DF955C18-5AD6-4FB9-941A-0CB39D68AF45}"/>
                </a:ext>
              </a:extLst>
            </p:cNvPr>
            <p:cNvSpPr txBox="1"/>
            <p:nvPr/>
          </p:nvSpPr>
          <p:spPr>
            <a:xfrm>
              <a:off x="4034819" y="1003937"/>
              <a:ext cx="875969" cy="380131"/>
            </a:xfrm>
            <a:prstGeom prst="rect">
              <a:avLst/>
            </a:prstGeom>
            <a:solidFill>
              <a:schemeClr val="bg1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FrutigerNext LT Medium"/>
                  <a:ea typeface="华文细黑"/>
                </a:rPr>
                <a:t>Ins/Del</a:t>
              </a:r>
            </a:p>
          </p:txBody>
        </p:sp>
      </p:grpSp>
      <p:sp>
        <p:nvSpPr>
          <p:cNvPr id="2275" name="Performance"/>
          <p:cNvSpPr txBox="1">
            <a:spLocks noGrp="1"/>
          </p:cNvSpPr>
          <p:nvPr>
            <p:ph type="title"/>
          </p:nvPr>
        </p:nvSpPr>
        <p:spPr>
          <a:xfrm>
            <a:off x="12170" y="97708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Performance across the board</a:t>
            </a:r>
            <a:endParaRPr dirty="0"/>
          </a:p>
        </p:txBody>
      </p:sp>
      <p:sp>
        <p:nvSpPr>
          <p:cNvPr id="2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92188" y="6542352"/>
            <a:ext cx="263982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4ABBEB-FDD9-488F-95C8-CF790F49855F}"/>
              </a:ext>
            </a:extLst>
          </p:cNvPr>
          <p:cNvGrpSpPr/>
          <p:nvPr/>
        </p:nvGrpSpPr>
        <p:grpSpPr>
          <a:xfrm>
            <a:off x="901027" y="1882362"/>
            <a:ext cx="1486734" cy="3753862"/>
            <a:chOff x="444310" y="1921847"/>
            <a:chExt cx="1486734" cy="375386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2AB3E2B-72E9-479C-90EC-BAE3CED23A5E}"/>
                </a:ext>
              </a:extLst>
            </p:cNvPr>
            <p:cNvGrpSpPr/>
            <p:nvPr/>
          </p:nvGrpSpPr>
          <p:grpSpPr>
            <a:xfrm>
              <a:off x="444310" y="5274209"/>
              <a:ext cx="1486734" cy="401500"/>
              <a:chOff x="444310" y="5274209"/>
              <a:chExt cx="1486734" cy="401500"/>
            </a:xfrm>
          </p:grpSpPr>
          <p:sp>
            <p:nvSpPr>
              <p:cNvPr id="53" name="Text Placeholder 2">
                <a:extLst>
                  <a:ext uri="{FF2B5EF4-FFF2-40B4-BE49-F238E27FC236}">
                    <a16:creationId xmlns:a16="http://schemas.microsoft.com/office/drawing/2014/main" id="{56A5DA00-34D5-475D-BF9F-C103002A8E85}"/>
                  </a:ext>
                </a:extLst>
              </p:cNvPr>
              <p:cNvSpPr txBox="1"/>
              <p:nvPr/>
            </p:nvSpPr>
            <p:spPr>
              <a:xfrm>
                <a:off x="444310" y="5274209"/>
                <a:ext cx="1486734" cy="401500"/>
              </a:xfrm>
              <a:prstGeom prst="rect">
                <a:avLst/>
              </a:prstGeom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c</a:t>
                </a: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  <a:t>lose addressing </a:t>
                </a:r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0BAE130C-A2E8-4F23-B6D7-BAEB75FD3E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44616" y="5320295"/>
                <a:ext cx="119163" cy="244424"/>
              </a:xfrm>
              <a:prstGeom prst="straightConnector1">
                <a:avLst/>
              </a:prstGeom>
              <a:ln w="28575" cap="flat" cmpd="sng" algn="ctr">
                <a:solidFill>
                  <a:srgbClr val="979797">
                    <a:alpha val="100000"/>
                  </a:srgbClr>
                </a:solidFill>
                <a:prstDash val="solid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38F0637-3A8B-4D2D-B404-2196FE158091}"/>
                </a:ext>
              </a:extLst>
            </p:cNvPr>
            <p:cNvGrpSpPr/>
            <p:nvPr/>
          </p:nvGrpSpPr>
          <p:grpSpPr>
            <a:xfrm>
              <a:off x="971123" y="1921847"/>
              <a:ext cx="693934" cy="2219004"/>
              <a:chOff x="1202071" y="2061869"/>
              <a:chExt cx="693934" cy="2219004"/>
            </a:xfrm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57D13B7-A512-4E42-B7E2-732A0948F1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2071" y="2061869"/>
                <a:ext cx="0" cy="2219004"/>
              </a:xfrm>
              <a:prstGeom prst="straightConnector1">
                <a:avLst/>
              </a:prstGeom>
              <a:ln w="38100" cap="flat" cmpd="sng" algn="ctr">
                <a:solidFill>
                  <a:srgbClr val="4285F4"/>
                </a:solidFill>
                <a:prstDash val="solid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 Placeholder 2">
                <a:extLst>
                  <a:ext uri="{FF2B5EF4-FFF2-40B4-BE49-F238E27FC236}">
                    <a16:creationId xmlns:a16="http://schemas.microsoft.com/office/drawing/2014/main" id="{BC276176-99EC-4EDB-A73F-4B87FF6F0A4F}"/>
                  </a:ext>
                </a:extLst>
              </p:cNvPr>
              <p:cNvSpPr txBox="1"/>
              <p:nvPr/>
            </p:nvSpPr>
            <p:spPr>
              <a:xfrm>
                <a:off x="1217558" y="2740519"/>
                <a:ext cx="678447" cy="430852"/>
              </a:xfrm>
              <a:prstGeom prst="rect">
                <a:avLst/>
              </a:prstGeom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  <a:t>3.5x</a:t>
                </a:r>
                <a:b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</a:b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FrutigerNext LT Medium"/>
                  <a:ea typeface="华文细黑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5579C60-B8B1-45A7-98FC-C90448C1635B}"/>
              </a:ext>
            </a:extLst>
          </p:cNvPr>
          <p:cNvGrpSpPr/>
          <p:nvPr/>
        </p:nvGrpSpPr>
        <p:grpSpPr>
          <a:xfrm>
            <a:off x="4771495" y="1894608"/>
            <a:ext cx="1486734" cy="3742669"/>
            <a:chOff x="4668480" y="2094533"/>
            <a:chExt cx="1486734" cy="374266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66E9CF-C206-4F8C-AD2F-02102EB5F9C2}"/>
                </a:ext>
              </a:extLst>
            </p:cNvPr>
            <p:cNvGrpSpPr/>
            <p:nvPr/>
          </p:nvGrpSpPr>
          <p:grpSpPr>
            <a:xfrm>
              <a:off x="4668480" y="5435702"/>
              <a:ext cx="1486734" cy="401500"/>
              <a:chOff x="4668480" y="5435702"/>
              <a:chExt cx="1486734" cy="401500"/>
            </a:xfrm>
          </p:grpSpPr>
          <p:sp>
            <p:nvSpPr>
              <p:cNvPr id="54" name="Text Placeholder 2">
                <a:extLst>
                  <a:ext uri="{FF2B5EF4-FFF2-40B4-BE49-F238E27FC236}">
                    <a16:creationId xmlns:a16="http://schemas.microsoft.com/office/drawing/2014/main" id="{D63DE76B-1A50-4E4D-BE81-F7BBE74503FB}"/>
                  </a:ext>
                </a:extLst>
              </p:cNvPr>
              <p:cNvSpPr txBox="1"/>
              <p:nvPr/>
            </p:nvSpPr>
            <p:spPr>
              <a:xfrm>
                <a:off x="4668480" y="5435702"/>
                <a:ext cx="1486734" cy="401500"/>
              </a:xfrm>
              <a:prstGeom prst="rect">
                <a:avLst/>
              </a:prstGeom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o</a:t>
                </a: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  <a:t>pen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addressing</a:t>
                </a:r>
                <a:endPara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Next LT Medium"/>
                  <a:ea typeface="华文细黑"/>
                </a:endParaRP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A399ACA-FAEE-4CE9-B404-CE87399BD1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56587" y="5536384"/>
                <a:ext cx="240980" cy="158125"/>
              </a:xfrm>
              <a:prstGeom prst="straightConnector1">
                <a:avLst/>
              </a:prstGeom>
              <a:ln w="28575" cap="flat" cmpd="sng" algn="ctr">
                <a:solidFill>
                  <a:srgbClr val="979797">
                    <a:alpha val="100000"/>
                  </a:srgbClr>
                </a:solidFill>
                <a:prstDash val="solid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F5D2B7A-7DE6-45FA-BEF3-93CB7F9E9FDC}"/>
                </a:ext>
              </a:extLst>
            </p:cNvPr>
            <p:cNvGrpSpPr/>
            <p:nvPr/>
          </p:nvGrpSpPr>
          <p:grpSpPr>
            <a:xfrm>
              <a:off x="4787495" y="2094533"/>
              <a:ext cx="678447" cy="1191953"/>
              <a:chOff x="1490863" y="2281006"/>
              <a:chExt cx="678447" cy="2219004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FF1DAECA-D232-4B69-983B-661F577715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1141" y="2281006"/>
                <a:ext cx="0" cy="2219004"/>
              </a:xfrm>
              <a:prstGeom prst="straightConnector1">
                <a:avLst/>
              </a:prstGeom>
              <a:ln w="38100" cap="flat" cmpd="sng" algn="ctr">
                <a:solidFill>
                  <a:srgbClr val="4285F4"/>
                </a:solidFill>
                <a:prstDash val="solid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 Placeholder 2">
                <a:extLst>
                  <a:ext uri="{FF2B5EF4-FFF2-40B4-BE49-F238E27FC236}">
                    <a16:creationId xmlns:a16="http://schemas.microsoft.com/office/drawing/2014/main" id="{A49B9F27-DB5C-4010-B047-5A2BB0FA5095}"/>
                  </a:ext>
                </a:extLst>
              </p:cNvPr>
              <p:cNvSpPr txBox="1"/>
              <p:nvPr/>
            </p:nvSpPr>
            <p:spPr>
              <a:xfrm>
                <a:off x="1490863" y="2955945"/>
                <a:ext cx="678447" cy="430852"/>
              </a:xfrm>
              <a:prstGeom prst="rect">
                <a:avLst/>
              </a:prstGeom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  <a:t>1.7x</a:t>
                </a:r>
                <a:b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</a:b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4285F4"/>
                  </a:solidFill>
                  <a:effectLst/>
                  <a:uLnTx/>
                  <a:uFillTx/>
                  <a:latin typeface="FrutigerNext LT Medium"/>
                  <a:ea typeface="华文细黑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1D8B99-4E29-4227-B534-B8BB42889723}"/>
              </a:ext>
            </a:extLst>
          </p:cNvPr>
          <p:cNvGrpSpPr/>
          <p:nvPr/>
        </p:nvGrpSpPr>
        <p:grpSpPr>
          <a:xfrm>
            <a:off x="2467257" y="2410615"/>
            <a:ext cx="2140594" cy="3444196"/>
            <a:chOff x="2218360" y="2369368"/>
            <a:chExt cx="2140594" cy="344419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595C89F-29BE-4D71-BB54-D735E706A2B4}"/>
                </a:ext>
              </a:extLst>
            </p:cNvPr>
            <p:cNvGrpSpPr/>
            <p:nvPr/>
          </p:nvGrpSpPr>
          <p:grpSpPr>
            <a:xfrm>
              <a:off x="2218360" y="5252587"/>
              <a:ext cx="2140594" cy="560977"/>
              <a:chOff x="2218360" y="5252587"/>
              <a:chExt cx="2140594" cy="560977"/>
            </a:xfrm>
          </p:grpSpPr>
          <p:sp>
            <p:nvSpPr>
              <p:cNvPr id="55" name="Text Placeholder 2">
                <a:extLst>
                  <a:ext uri="{FF2B5EF4-FFF2-40B4-BE49-F238E27FC236}">
                    <a16:creationId xmlns:a16="http://schemas.microsoft.com/office/drawing/2014/main" id="{A4E75C89-920E-474A-971D-E564838D18FE}"/>
                  </a:ext>
                </a:extLst>
              </p:cNvPr>
              <p:cNvSpPr txBox="1"/>
              <p:nvPr/>
            </p:nvSpPr>
            <p:spPr>
              <a:xfrm>
                <a:off x="2218360" y="5412064"/>
                <a:ext cx="2140594" cy="401500"/>
              </a:xfrm>
              <a:prstGeom prst="rect">
                <a:avLst/>
              </a:prstGeom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o</a:t>
                </a: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  <a:t>pen addressing </a:t>
                </a:r>
                <a:r>
                  <a:rPr lang="en-US" altLang="zh-CN" sz="14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with dels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4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&amp; fastest growing</a:t>
                </a:r>
                <a:endParaRPr kumimoji="0" lang="en-US" altLang="zh-CN" sz="1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Next LT Medium"/>
                  <a:ea typeface="华文细黑"/>
                </a:endParaRP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64F95E5F-1523-46AF-A2B0-95F62B591D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68762" y="5252587"/>
                <a:ext cx="216213" cy="231400"/>
              </a:xfrm>
              <a:prstGeom prst="straightConnector1">
                <a:avLst/>
              </a:prstGeom>
              <a:ln w="28575" cap="flat" cmpd="sng" algn="ctr">
                <a:solidFill>
                  <a:srgbClr val="979797">
                    <a:alpha val="100000"/>
                  </a:srgbClr>
                </a:solidFill>
                <a:prstDash val="solid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79E90AC-CEB1-46AB-B51F-849075600401}"/>
                </a:ext>
              </a:extLst>
            </p:cNvPr>
            <p:cNvGrpSpPr/>
            <p:nvPr/>
          </p:nvGrpSpPr>
          <p:grpSpPr>
            <a:xfrm>
              <a:off x="3446699" y="2369368"/>
              <a:ext cx="678447" cy="2293813"/>
              <a:chOff x="890174" y="887924"/>
              <a:chExt cx="678447" cy="4270287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D619AE1E-B0C2-4B3E-8CED-FE0D7FAED5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32795" y="887924"/>
                <a:ext cx="1" cy="4270287"/>
              </a:xfrm>
              <a:prstGeom prst="straightConnector1">
                <a:avLst/>
              </a:prstGeom>
              <a:ln w="38100" cap="flat" cmpd="sng" algn="ctr">
                <a:solidFill>
                  <a:srgbClr val="EA4335"/>
                </a:solidFill>
                <a:prstDash val="solid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 Placeholder 2">
                <a:extLst>
                  <a:ext uri="{FF2B5EF4-FFF2-40B4-BE49-F238E27FC236}">
                    <a16:creationId xmlns:a16="http://schemas.microsoft.com/office/drawing/2014/main" id="{846BD4DE-D718-49FC-A8A6-C4492B39BF1D}"/>
                  </a:ext>
                </a:extLst>
              </p:cNvPr>
              <p:cNvSpPr txBox="1"/>
              <p:nvPr/>
            </p:nvSpPr>
            <p:spPr>
              <a:xfrm>
                <a:off x="890174" y="2455517"/>
                <a:ext cx="678447" cy="430852"/>
              </a:xfrm>
              <a:prstGeom prst="rect">
                <a:avLst/>
              </a:prstGeom>
            </p:spPr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A4335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  <a:t>12x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A4335"/>
                    </a:solidFill>
                    <a:effectLst/>
                    <a:uLnTx/>
                    <a:uFillTx/>
                    <a:latin typeface="FrutigerNext LT Medium"/>
                    <a:ea typeface="华文细黑"/>
                  </a:rPr>
                </a:b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EA4335"/>
                  </a:solidFill>
                  <a:effectLst/>
                  <a:uLnTx/>
                  <a:uFillTx/>
                  <a:latin typeface="FrutigerNext LT Medium"/>
                  <a:ea typeface="华文细黑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B7CFFC-1F17-4925-BEF5-822604CDDA21}"/>
              </a:ext>
            </a:extLst>
          </p:cNvPr>
          <p:cNvGrpSpPr/>
          <p:nvPr/>
        </p:nvGrpSpPr>
        <p:grpSpPr>
          <a:xfrm>
            <a:off x="4133872" y="3820259"/>
            <a:ext cx="793251" cy="1126903"/>
            <a:chOff x="4131202" y="4018967"/>
            <a:chExt cx="793251" cy="112690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3607904-8D42-4982-BF48-FE86A8A461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52600" y="4378625"/>
              <a:ext cx="1" cy="767245"/>
            </a:xfrm>
            <a:prstGeom prst="straightConnector1">
              <a:avLst/>
            </a:prstGeom>
            <a:ln w="38100" cap="flat" cmpd="sng" algn="ctr">
              <a:solidFill>
                <a:srgbClr val="19A002"/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Placeholder 2">
              <a:extLst>
                <a:ext uri="{FF2B5EF4-FFF2-40B4-BE49-F238E27FC236}">
                  <a16:creationId xmlns:a16="http://schemas.microsoft.com/office/drawing/2014/main" id="{F6C332D6-FC55-4613-9BCE-6F6E1C897E39}"/>
                </a:ext>
              </a:extLst>
            </p:cNvPr>
            <p:cNvSpPr txBox="1"/>
            <p:nvPr/>
          </p:nvSpPr>
          <p:spPr>
            <a:xfrm>
              <a:off x="4131202" y="4018967"/>
              <a:ext cx="793251" cy="231435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9A002"/>
                  </a:solidFill>
                  <a:effectLst/>
                  <a:uLnTx/>
                  <a:uFillTx/>
                  <a:latin typeface="FrutigerNext LT Medium"/>
                  <a:ea typeface="华文细黑"/>
                </a:rPr>
                <a:t>3.9x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A4335"/>
                  </a:solidFill>
                  <a:effectLst/>
                  <a:uLnTx/>
                  <a:uFillTx/>
                  <a:latin typeface="FrutigerNext LT Medium"/>
                  <a:ea typeface="华文细黑"/>
                </a:rPr>
              </a:b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EA4335"/>
                </a:solidFill>
                <a:effectLst/>
                <a:uLnTx/>
                <a:uFillTx/>
                <a:latin typeface="FrutigerNext LT Medium"/>
                <a:ea typeface="华文细黑"/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E51886D7-6A85-4BA7-9E5E-FD99B39C9348}"/>
              </a:ext>
            </a:extLst>
          </p:cNvPr>
          <p:cNvSpPr/>
          <p:nvPr/>
        </p:nvSpPr>
        <p:spPr>
          <a:xfrm>
            <a:off x="29450" y="6265930"/>
            <a:ext cx="91999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500" i="1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sng" dirty="0"/>
              <a:t>Commodity server</a:t>
            </a:r>
            <a:r>
              <a:rPr lang="en-US" sz="1400" dirty="0"/>
              <a:t>: 18-core Intel Xeon Gold 6254 (2 sockets), 8x 32GB DDR4-2933</a:t>
            </a:r>
          </a:p>
          <a:p>
            <a:pPr>
              <a:defRPr sz="2500" i="1"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sng" dirty="0"/>
              <a:t>Workload</a:t>
            </a:r>
            <a:r>
              <a:rPr lang="en-US" sz="1400" dirty="0"/>
              <a:t>: 4GB memory-resident, random access</a:t>
            </a:r>
          </a:p>
        </p:txBody>
      </p:sp>
      <p:grpSp>
        <p:nvGrpSpPr>
          <p:cNvPr id="68" name="Alternate Process 5">
            <a:extLst>
              <a:ext uri="{FF2B5EF4-FFF2-40B4-BE49-F238E27FC236}">
                <a16:creationId xmlns:a16="http://schemas.microsoft.com/office/drawing/2014/main" id="{A5D69147-286C-4982-A53D-3C6FF22DBFFA}"/>
              </a:ext>
            </a:extLst>
          </p:cNvPr>
          <p:cNvGrpSpPr/>
          <p:nvPr/>
        </p:nvGrpSpPr>
        <p:grpSpPr>
          <a:xfrm>
            <a:off x="837421" y="6197355"/>
            <a:ext cx="7624567" cy="506402"/>
            <a:chOff x="357133" y="283508"/>
            <a:chExt cx="8036727" cy="581389"/>
          </a:xfrm>
        </p:grpSpPr>
        <p:sp>
          <p:nvSpPr>
            <p:cNvPr id="69" name="Shape">
              <a:extLst>
                <a:ext uri="{FF2B5EF4-FFF2-40B4-BE49-F238E27FC236}">
                  <a16:creationId xmlns:a16="http://schemas.microsoft.com/office/drawing/2014/main" id="{2D525DA0-0175-403A-A2CD-047754C25F07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70" name="Data replication is necessary!">
              <a:extLst>
                <a:ext uri="{FF2B5EF4-FFF2-40B4-BE49-F238E27FC236}">
                  <a16:creationId xmlns:a16="http://schemas.microsoft.com/office/drawing/2014/main" id="{74E71A7D-BC76-4C76-870A-375B86328CBA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sz="2400" dirty="0"/>
                <a:t>See paper for many more results!</a:t>
              </a:r>
              <a:endParaRPr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506878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563713" y="1296665"/>
            <a:ext cx="6057006" cy="292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452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78" name="Distributed Datastores">
            <a:extLst>
              <a:ext uri="{FF2B5EF4-FFF2-40B4-BE49-F238E27FC236}">
                <a16:creationId xmlns:a16="http://schemas.microsoft.com/office/drawing/2014/main" id="{2761A5E7-9F77-4E8D-93AD-DE0135508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26" y="18313"/>
            <a:ext cx="9144000" cy="77725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 dirty="0"/>
              <a:t>To conclude</a:t>
            </a:r>
            <a:endParaRPr sz="3600" dirty="0"/>
          </a:p>
        </p:txBody>
      </p:sp>
      <p:sp>
        <p:nvSpPr>
          <p:cNvPr id="64" name="Bin array (N x 64B)">
            <a:extLst>
              <a:ext uri="{FF2B5EF4-FFF2-40B4-BE49-F238E27FC236}">
                <a16:creationId xmlns:a16="http://schemas.microsoft.com/office/drawing/2014/main" id="{BFCB6288-5E08-4B99-A60A-ACB442AEBD66}"/>
              </a:ext>
            </a:extLst>
          </p:cNvPr>
          <p:cNvSpPr txBox="1"/>
          <p:nvPr/>
        </p:nvSpPr>
        <p:spPr>
          <a:xfrm>
            <a:off x="71459" y="717303"/>
            <a:ext cx="5003880" cy="4634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/>
            <a: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Calibri"/>
              </a:rPr>
              <a:t>State-of-the-art</a:t>
            </a:r>
            <a:r>
              <a:rPr kumimoji="0" lang="en-US" sz="15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Calibri"/>
              </a:rPr>
              <a:t> concurrent in-memory hashtables</a:t>
            </a:r>
            <a:br>
              <a:rPr kumimoji="0" lang="en-US" sz="15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Calibri"/>
              </a:rPr>
            </a:br>
            <a:r>
              <a:rPr kumimoji="0" lang="en-US" sz="15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Calibri"/>
              </a:rPr>
              <a:t>      </a:t>
            </a:r>
            <a:r>
              <a:rPr kumimoji="0" lang="en-US" sz="1500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Calibri"/>
              </a:rPr>
              <a:t>Sacrifice core functionality</a:t>
            </a:r>
            <a:r>
              <a:rPr lang="en-US" sz="1500" dirty="0"/>
              <a:t> </a:t>
            </a:r>
            <a:r>
              <a:rPr kumimoji="0" lang="en-US" sz="15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Calibri"/>
              </a:rPr>
              <a:t>for performance</a:t>
            </a:r>
          </a:p>
          <a:p>
            <a:pPr lvl="0"/>
            <a:r>
              <a:rPr lang="en-US" sz="1500" dirty="0">
                <a:sym typeface="Wingdings" panose="05000000000000000000" pitchFamily="2" charset="2"/>
              </a:rPr>
              <a:t>        </a:t>
            </a:r>
            <a:r>
              <a:rPr lang="en-US" sz="1500" b="0" dirty="0">
                <a:sym typeface="Wingdings" panose="05000000000000000000" pitchFamily="2" charset="2"/>
              </a:rPr>
              <a:t>still</a:t>
            </a:r>
            <a:r>
              <a:rPr lang="en-US" sz="1500" dirty="0">
                <a:sym typeface="Wingdings" panose="05000000000000000000" pitchFamily="2" charset="2"/>
              </a:rPr>
              <a:t> </a:t>
            </a:r>
            <a:r>
              <a:rPr kumimoji="0" lang="en-US" sz="1500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Wingdings" panose="05000000000000000000" pitchFamily="2" charset="2"/>
              </a:rPr>
              <a:t>practically blocking </a:t>
            </a:r>
            <a:r>
              <a:rPr kumimoji="0" lang="en-US" sz="15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Wingdings" panose="05000000000000000000" pitchFamily="2" charset="2"/>
              </a:rPr>
              <a:t>+ </a:t>
            </a:r>
            <a:r>
              <a:rPr kumimoji="0" lang="en-US" sz="1500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Wingdings" panose="05000000000000000000" pitchFamily="2" charset="2"/>
              </a:rPr>
              <a:t>not memory-aware</a:t>
            </a: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Calibri"/>
            </a:endParaRPr>
          </a:p>
          <a:p>
            <a:pPr marL="342900" lvl="0" indent="-342900">
              <a:buFont typeface="+mj-lt"/>
              <a:buAutoNum type="arabicPeriod"/>
            </a:pP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Calibri"/>
            </a:endParaRPr>
          </a:p>
          <a:p>
            <a:pPr marL="342900" lvl="0" indent="-342900">
              <a:buFont typeface="+mj-lt"/>
              <a:buAutoNum type="arabicPeriod"/>
            </a:pP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Calibri"/>
            </a:endParaRPr>
          </a:p>
          <a:p>
            <a:pPr lvl="0"/>
            <a:r>
              <a:rPr kumimoji="0" lang="en-US" sz="15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Calibri"/>
              </a:rPr>
              <a:t>DLHT</a:t>
            </a:r>
            <a:endParaRPr kumimoji="0" lang="en-US" sz="150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sym typeface="Calibri"/>
            </a:endParaRPr>
          </a:p>
          <a:p>
            <a:pPr marL="342900" lvl="0" indent="-342900">
              <a:buFont typeface="+mj-lt"/>
              <a:buAutoNum type="arabicPeriod"/>
            </a:pPr>
            <a: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Calibri"/>
              </a:rPr>
              <a:t>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Calibri"/>
              </a:rPr>
              <a:t>No open addressing 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Wingdings" panose="05000000000000000000" pitchFamily="2" charset="2"/>
              </a:rPr>
              <a:t>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Calibri"/>
              </a:rPr>
              <a:t> </a:t>
            </a:r>
            <a: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sym typeface="Calibri"/>
              </a:rPr>
              <a:t>no severe blocking on deletes</a:t>
            </a:r>
            <a:br>
              <a:rPr kumimoji="0" lang="en-US" sz="1500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sym typeface="Calibri"/>
              </a:rPr>
            </a:b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Calibri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500" dirty="0"/>
              <a:t> </a:t>
            </a:r>
            <a:r>
              <a:rPr lang="en-US" sz="1500" b="0" dirty="0"/>
              <a:t>Closed addressing via </a:t>
            </a:r>
            <a:r>
              <a:rPr lang="en-US" sz="1500" dirty="0"/>
              <a:t>bounded cacheline chaining </a:t>
            </a:r>
            <a:endParaRPr lang="en-US" sz="1500" dirty="0">
              <a:sym typeface="Wingdings" panose="05000000000000000000" pitchFamily="2" charset="2"/>
            </a:endParaRPr>
          </a:p>
          <a:p>
            <a:pPr lvl="0"/>
            <a:r>
              <a:rPr lang="en-US" sz="1500" b="0" dirty="0">
                <a:sym typeface="Wingdings" panose="05000000000000000000" pitchFamily="2" charset="2"/>
              </a:rPr>
              <a:t>            </a:t>
            </a:r>
            <a:r>
              <a:rPr lang="en-US" sz="15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High occupancy </a:t>
            </a:r>
            <a:r>
              <a:rPr lang="en-US" sz="1500" dirty="0">
                <a:sym typeface="Wingdings" panose="05000000000000000000" pitchFamily="2" charset="2"/>
              </a:rPr>
              <a:t>+</a:t>
            </a:r>
            <a:r>
              <a:rPr lang="en-US" sz="1500" b="0" dirty="0">
                <a:sym typeface="Wingdings" panose="05000000000000000000" pitchFamily="2" charset="2"/>
              </a:rPr>
              <a:t> </a:t>
            </a:r>
            <a:r>
              <a:rPr lang="en-US" sz="15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Most requests: 1 memory access</a:t>
            </a:r>
          </a:p>
          <a:p>
            <a:r>
              <a:rPr lang="en-US" sz="1500" b="0" dirty="0">
                <a:sym typeface="Wingdings" panose="05000000000000000000" pitchFamily="2" charset="2"/>
              </a:rPr>
              <a:t>        </a:t>
            </a:r>
          </a:p>
          <a:p>
            <a:pPr marL="342900" lvl="0" indent="-342900">
              <a:buFont typeface="+mj-lt"/>
              <a:buAutoNum type="arabicPeriod" startAt="3"/>
            </a:pPr>
            <a:r>
              <a:rPr lang="en-US" sz="1500" dirty="0">
                <a:sym typeface="Wingdings" panose="05000000000000000000" pitchFamily="2" charset="2"/>
              </a:rPr>
              <a:t> Memory compact bin header</a:t>
            </a:r>
            <a:r>
              <a:rPr lang="en-US" sz="1500" b="0" dirty="0">
                <a:sym typeface="Wingdings" panose="05000000000000000000" pitchFamily="2" charset="2"/>
              </a:rPr>
              <a:t> </a:t>
            </a:r>
          </a:p>
          <a:p>
            <a:pPr lvl="0"/>
            <a:r>
              <a:rPr lang="en-US" sz="1500" b="0" dirty="0">
                <a:sym typeface="Wingdings" panose="05000000000000000000" pitchFamily="2" charset="2"/>
              </a:rPr>
              <a:t>            </a:t>
            </a:r>
            <a:r>
              <a:rPr lang="en-US" sz="15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Lock-free operations</a:t>
            </a:r>
            <a:r>
              <a:rPr lang="en-US" sz="1500" b="0" dirty="0">
                <a:sym typeface="Wingdings" panose="05000000000000000000" pitchFamily="2" charset="2"/>
              </a:rPr>
              <a:t> </a:t>
            </a:r>
            <a:r>
              <a:rPr lang="en-US" sz="1500" dirty="0">
                <a:sym typeface="Wingdings" panose="05000000000000000000" pitchFamily="2" charset="2"/>
              </a:rPr>
              <a:t>+</a:t>
            </a:r>
            <a:r>
              <a:rPr lang="en-US" sz="1500" b="0" dirty="0">
                <a:sym typeface="Wingdings" panose="05000000000000000000" pitchFamily="2" charset="2"/>
              </a:rPr>
              <a:t> </a:t>
            </a:r>
            <a:r>
              <a:rPr lang="en-US" sz="15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parallel non-blocking resizes</a:t>
            </a:r>
          </a:p>
          <a:p>
            <a:pPr lvl="0"/>
            <a:endParaRPr lang="en-US" sz="1500" b="0" dirty="0">
              <a:sym typeface="Wingdings" panose="05000000000000000000" pitchFamily="2" charset="2"/>
            </a:endParaRPr>
          </a:p>
          <a:p>
            <a:pPr marL="342900" lvl="0" indent="-342900">
              <a:buFont typeface="+mj-lt"/>
              <a:buAutoNum type="arabicPeriod" startAt="4"/>
            </a:pPr>
            <a:r>
              <a:rPr lang="en-US" sz="1500" dirty="0">
                <a:sym typeface="Wingdings" panose="05000000000000000000" pitchFamily="2" charset="2"/>
              </a:rPr>
              <a:t> Pipelined batched</a:t>
            </a:r>
            <a:r>
              <a:rPr lang="en-US" sz="1500" b="0" dirty="0">
                <a:sym typeface="Wingdings" panose="05000000000000000000" pitchFamily="2" charset="2"/>
              </a:rPr>
              <a:t> </a:t>
            </a:r>
            <a:r>
              <a:rPr lang="en-US" sz="1500" dirty="0">
                <a:sym typeface="Wingdings" panose="05000000000000000000" pitchFamily="2" charset="2"/>
              </a:rPr>
              <a:t>request processing</a:t>
            </a:r>
          </a:p>
          <a:p>
            <a:pPr lvl="0"/>
            <a:r>
              <a:rPr lang="en-US" sz="1500" b="0" dirty="0">
                <a:sym typeface="Wingdings" panose="05000000000000000000" pitchFamily="2" charset="2"/>
              </a:rPr>
              <a:t>             </a:t>
            </a:r>
            <a:r>
              <a:rPr lang="en-US" sz="15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overlap memory access </a:t>
            </a:r>
            <a:r>
              <a:rPr lang="en-US" sz="1500" dirty="0">
                <a:sym typeface="Wingdings" panose="05000000000000000000" pitchFamily="2" charset="2"/>
              </a:rPr>
              <a:t>+</a:t>
            </a:r>
            <a:r>
              <a:rPr lang="en-US" sz="1500" b="0" dirty="0">
                <a:sym typeface="Wingdings" panose="05000000000000000000" pitchFamily="2" charset="2"/>
              </a:rPr>
              <a:t> </a:t>
            </a:r>
            <a:r>
              <a:rPr lang="en-US" sz="15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in-order completion</a:t>
            </a:r>
          </a:p>
          <a:p>
            <a:pPr marL="342900" lvl="0" indent="-342900">
              <a:buAutoNum type="arabicPeriod" startAt="5"/>
            </a:pPr>
            <a:endParaRPr lang="en-US" sz="14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342900" lvl="0" indent="-342900">
              <a:buAutoNum type="arabicPeriod" startAt="5"/>
            </a:pPr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1500" dirty="0">
                <a:solidFill>
                  <a:srgbClr val="4F6228"/>
                </a:solidFill>
                <a:sym typeface="Wingdings" panose="05000000000000000000" pitchFamily="2" charset="2"/>
              </a:rPr>
              <a:t>Beyond fully-featured </a:t>
            </a:r>
            <a:r>
              <a:rPr lang="en-US" sz="1500" b="0" dirty="0">
                <a:sym typeface="Wingdings" panose="05000000000000000000" pitchFamily="2" charset="2"/>
              </a:rPr>
              <a:t>(see paper): hashset, transactions, </a:t>
            </a:r>
            <a:br>
              <a:rPr lang="en-US" sz="1500" b="0" dirty="0">
                <a:sym typeface="Wingdings" panose="05000000000000000000" pitchFamily="2" charset="2"/>
              </a:rPr>
            </a:br>
            <a:r>
              <a:rPr lang="en-US" sz="1500" b="0" dirty="0">
                <a:sym typeface="Wingdings" panose="05000000000000000000" pitchFamily="2" charset="2"/>
              </a:rPr>
              <a:t> namespaces, GC, variable sizes, iterators, snapshots, etc..</a:t>
            </a:r>
          </a:p>
          <a:p>
            <a:pPr lvl="0"/>
            <a:endParaRPr lang="en-US" sz="1500" b="0" dirty="0">
              <a:sym typeface="Wingdings" panose="05000000000000000000" pitchFamily="2" charset="2"/>
            </a:endParaRPr>
          </a:p>
          <a:p>
            <a:pPr lvl="0"/>
            <a:endParaRPr lang="en-US" sz="1500" b="0" dirty="0">
              <a:sym typeface="Wingdings" panose="05000000000000000000" pitchFamily="2" charset="2"/>
            </a:endParaRPr>
          </a:p>
          <a:p>
            <a:r>
              <a:rPr lang="en-US" sz="1500" b="0" dirty="0">
                <a:sym typeface="Wingdings" panose="05000000000000000000" pitchFamily="2" charset="2"/>
              </a:rPr>
              <a:t>Memory-resident workload performance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500" b="0" dirty="0">
                <a:sym typeface="Wingdings" panose="05000000000000000000" pitchFamily="2" charset="2"/>
              </a:rPr>
              <a:t>Surpassing</a:t>
            </a:r>
            <a:r>
              <a:rPr lang="en-US" sz="1500" dirty="0">
                <a:sym typeface="Wingdings" panose="05000000000000000000" pitchFamily="2" charset="2"/>
              </a:rPr>
              <a:t> 1.6 Billion in-memory rps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500" dirty="0">
                <a:sym typeface="Wingdings" panose="05000000000000000000" pitchFamily="2" charset="2"/>
              </a:rPr>
              <a:t>3.5x Gets (12x Dels) </a:t>
            </a:r>
            <a:r>
              <a:rPr lang="en-US" sz="1500" b="0" dirty="0">
                <a:sym typeface="Wingdings" panose="05000000000000000000" pitchFamily="2" charset="2"/>
              </a:rPr>
              <a:t>vs. fastest </a:t>
            </a:r>
            <a:r>
              <a:rPr lang="en-US" sz="1500" dirty="0">
                <a:sym typeface="Wingdings" panose="05000000000000000000" pitchFamily="2" charset="2"/>
              </a:rPr>
              <a:t>closed (open) addressing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500" dirty="0">
                <a:sym typeface="Wingdings" panose="05000000000000000000" pitchFamily="2" charset="2"/>
              </a:rPr>
              <a:t>3.9x faster resizes </a:t>
            </a:r>
            <a:r>
              <a:rPr lang="en-US" sz="1500" b="0" dirty="0">
                <a:sym typeface="Wingdings" panose="05000000000000000000" pitchFamily="2" charset="2"/>
              </a:rPr>
              <a:t>vs. fastest growing hashtable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488149B-6B66-4BA2-A53F-B6D6F9D51A96}"/>
              </a:ext>
            </a:extLst>
          </p:cNvPr>
          <p:cNvGrpSpPr/>
          <p:nvPr/>
        </p:nvGrpSpPr>
        <p:grpSpPr>
          <a:xfrm>
            <a:off x="6262162" y="975497"/>
            <a:ext cx="1899915" cy="451755"/>
            <a:chOff x="714495" y="885077"/>
            <a:chExt cx="2449943" cy="621544"/>
          </a:xfrm>
        </p:grpSpPr>
        <p:sp>
          <p:nvSpPr>
            <p:cNvPr id="66" name="Bin array (N x 64B)">
              <a:extLst>
                <a:ext uri="{FF2B5EF4-FFF2-40B4-BE49-F238E27FC236}">
                  <a16:creationId xmlns:a16="http://schemas.microsoft.com/office/drawing/2014/main" id="{B5634D68-B764-4A8D-BAC0-31BF701B9DD2}"/>
                </a:ext>
              </a:extLst>
            </p:cNvPr>
            <p:cNvSpPr txBox="1"/>
            <p:nvPr/>
          </p:nvSpPr>
          <p:spPr>
            <a:xfrm>
              <a:off x="714495" y="885077"/>
              <a:ext cx="2449943" cy="6215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914400">
                <a:defRPr sz="23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algn="ctr"/>
              <a:r>
                <a:rPr lang="en-US" sz="1600" dirty="0"/>
                <a:t>Open addressing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0051F42-1FC7-4F07-AA6A-B545A0616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6056" y="914984"/>
              <a:ext cx="1006818" cy="561728"/>
            </a:xfrm>
            <a:prstGeom prst="line">
              <a:avLst/>
            </a:prstGeom>
            <a:noFill/>
            <a:ln w="57150" cap="flat">
              <a:solidFill>
                <a:srgbClr val="C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CE00E219-29E7-4967-8CAE-8FE9E452F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80" y="1758386"/>
            <a:ext cx="2887638" cy="1299543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E90DE32-4F61-4C38-9C1A-3550E4E48265}"/>
              </a:ext>
            </a:extLst>
          </p:cNvPr>
          <p:cNvGrpSpPr/>
          <p:nvPr/>
        </p:nvGrpSpPr>
        <p:grpSpPr>
          <a:xfrm>
            <a:off x="7085490" y="3251905"/>
            <a:ext cx="1520912" cy="472029"/>
            <a:chOff x="1397297" y="7072309"/>
            <a:chExt cx="4046857" cy="1193898"/>
          </a:xfrm>
        </p:grpSpPr>
        <p:grpSp>
          <p:nvGrpSpPr>
            <p:cNvPr id="29" name="Group">
              <a:extLst>
                <a:ext uri="{FF2B5EF4-FFF2-40B4-BE49-F238E27FC236}">
                  <a16:creationId xmlns:a16="http://schemas.microsoft.com/office/drawing/2014/main" id="{F7367E4C-1D5E-45F4-B0D4-E73C58835723}"/>
                </a:ext>
              </a:extLst>
            </p:cNvPr>
            <p:cNvGrpSpPr/>
            <p:nvPr/>
          </p:nvGrpSpPr>
          <p:grpSpPr>
            <a:xfrm>
              <a:off x="4402657" y="7072309"/>
              <a:ext cx="1041497" cy="1041498"/>
              <a:chOff x="0" y="0"/>
              <a:chExt cx="1041495" cy="1041495"/>
            </a:xfrm>
          </p:grpSpPr>
          <p:pic>
            <p:nvPicPr>
              <p:cNvPr id="36" name="film.png" descr="film.png">
                <a:extLst>
                  <a:ext uri="{FF2B5EF4-FFF2-40B4-BE49-F238E27FC236}">
                    <a16:creationId xmlns:a16="http://schemas.microsoft.com/office/drawing/2014/main" id="{D2DF44CE-5D8B-4A03-B4E4-C485D18979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0"/>
                <a:ext cx="939644" cy="9396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7" name="film.png" descr="film.png">
                <a:extLst>
                  <a:ext uri="{FF2B5EF4-FFF2-40B4-BE49-F238E27FC236}">
                    <a16:creationId xmlns:a16="http://schemas.microsoft.com/office/drawing/2014/main" id="{D502F3B7-B453-43E0-B128-866CB05C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50925" y="50925"/>
                <a:ext cx="939645" cy="93964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8" name="film.png" descr="film.png">
                <a:extLst>
                  <a:ext uri="{FF2B5EF4-FFF2-40B4-BE49-F238E27FC236}">
                    <a16:creationId xmlns:a16="http://schemas.microsoft.com/office/drawing/2014/main" id="{D88225F3-01FC-4EB5-A17A-1DC4FCBB5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rcRect/>
              <a:stretch>
                <a:fillRect/>
              </a:stretch>
            </p:blipFill>
            <p:spPr>
              <a:xfrm>
                <a:off x="101851" y="101850"/>
                <a:ext cx="939644" cy="93964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30" name="Image" descr="Image">
              <a:extLst>
                <a:ext uri="{FF2B5EF4-FFF2-40B4-BE49-F238E27FC236}">
                  <a16:creationId xmlns:a16="http://schemas.microsoft.com/office/drawing/2014/main" id="{12ABEDF1-2537-41EB-8B53-ADDE8A785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397297" y="7274629"/>
              <a:ext cx="916237" cy="9162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" name="Arrow">
              <a:extLst>
                <a:ext uri="{FF2B5EF4-FFF2-40B4-BE49-F238E27FC236}">
                  <a16:creationId xmlns:a16="http://schemas.microsoft.com/office/drawing/2014/main" id="{984BB08B-FC07-40DA-BB5A-E9F937F82FF4}"/>
                </a:ext>
              </a:extLst>
            </p:cNvPr>
            <p:cNvSpPr/>
            <p:nvPr/>
          </p:nvSpPr>
          <p:spPr>
            <a:xfrm>
              <a:off x="2328067" y="72131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2" name="Arrow">
              <a:extLst>
                <a:ext uri="{FF2B5EF4-FFF2-40B4-BE49-F238E27FC236}">
                  <a16:creationId xmlns:a16="http://schemas.microsoft.com/office/drawing/2014/main" id="{20EB5857-D9A5-43B9-9B66-EA5E6B36F3E1}"/>
                </a:ext>
              </a:extLst>
            </p:cNvPr>
            <p:cNvSpPr/>
            <p:nvPr/>
          </p:nvSpPr>
          <p:spPr>
            <a:xfrm>
              <a:off x="2480467" y="73655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3" name="Arrow">
              <a:extLst>
                <a:ext uri="{FF2B5EF4-FFF2-40B4-BE49-F238E27FC236}">
                  <a16:creationId xmlns:a16="http://schemas.microsoft.com/office/drawing/2014/main" id="{1A9B3B73-34EA-4304-BD53-C4C288C98492}"/>
                </a:ext>
              </a:extLst>
            </p:cNvPr>
            <p:cNvSpPr/>
            <p:nvPr/>
          </p:nvSpPr>
          <p:spPr>
            <a:xfrm>
              <a:off x="2632867" y="75179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4" name="Arrow">
              <a:extLst>
                <a:ext uri="{FF2B5EF4-FFF2-40B4-BE49-F238E27FC236}">
                  <a16:creationId xmlns:a16="http://schemas.microsoft.com/office/drawing/2014/main" id="{FE776390-3536-43FE-BAC4-534C14FABB48}"/>
                </a:ext>
              </a:extLst>
            </p:cNvPr>
            <p:cNvSpPr/>
            <p:nvPr/>
          </p:nvSpPr>
          <p:spPr>
            <a:xfrm>
              <a:off x="2785267" y="76703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35" name="Arrow">
              <a:extLst>
                <a:ext uri="{FF2B5EF4-FFF2-40B4-BE49-F238E27FC236}">
                  <a16:creationId xmlns:a16="http://schemas.microsoft.com/office/drawing/2014/main" id="{20868535-DC55-4E29-A14E-95B63829162C}"/>
                </a:ext>
              </a:extLst>
            </p:cNvPr>
            <p:cNvSpPr/>
            <p:nvPr/>
          </p:nvSpPr>
          <p:spPr>
            <a:xfrm>
              <a:off x="2937667" y="78227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F3AE39E-7406-454B-AEA0-9A1282B35584}"/>
              </a:ext>
            </a:extLst>
          </p:cNvPr>
          <p:cNvGrpSpPr/>
          <p:nvPr/>
        </p:nvGrpSpPr>
        <p:grpSpPr>
          <a:xfrm>
            <a:off x="5953780" y="3292521"/>
            <a:ext cx="900001" cy="455825"/>
            <a:chOff x="7029606" y="3180026"/>
            <a:chExt cx="1392058" cy="712454"/>
          </a:xfrm>
        </p:grpSpPr>
        <p:pic>
          <p:nvPicPr>
            <p:cNvPr id="25" name="Picture 2" descr="Fast - Free business icons">
              <a:extLst>
                <a:ext uri="{FF2B5EF4-FFF2-40B4-BE49-F238E27FC236}">
                  <a16:creationId xmlns:a16="http://schemas.microsoft.com/office/drawing/2014/main" id="{BA9DF05C-68C1-4D3A-BC54-C29752DE43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9606" y="3180026"/>
              <a:ext cx="712454" cy="712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8" descr="Resize - Free art and design icons">
              <a:extLst>
                <a:ext uri="{FF2B5EF4-FFF2-40B4-BE49-F238E27FC236}">
                  <a16:creationId xmlns:a16="http://schemas.microsoft.com/office/drawing/2014/main" id="{04812AE3-3196-4B5F-B239-0EF0A0CF49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5600" y="3274806"/>
              <a:ext cx="576064" cy="5760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EA382E5-CA77-46CF-9EBD-E9E26C0135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5867" y="3968114"/>
            <a:ext cx="4084282" cy="2295441"/>
          </a:xfrm>
          <a:prstGeom prst="rect">
            <a:avLst/>
          </a:prstGeom>
        </p:spPr>
      </p:pic>
      <p:grpSp>
        <p:nvGrpSpPr>
          <p:cNvPr id="59" name="Alternate Process 5">
            <a:extLst>
              <a:ext uri="{FF2B5EF4-FFF2-40B4-BE49-F238E27FC236}">
                <a16:creationId xmlns:a16="http://schemas.microsoft.com/office/drawing/2014/main" id="{ACC3EDE2-9652-4222-984C-26086D2208E6}"/>
              </a:ext>
            </a:extLst>
          </p:cNvPr>
          <p:cNvGrpSpPr/>
          <p:nvPr/>
        </p:nvGrpSpPr>
        <p:grpSpPr>
          <a:xfrm>
            <a:off x="628692" y="6314995"/>
            <a:ext cx="7624567" cy="506402"/>
            <a:chOff x="357133" y="283508"/>
            <a:chExt cx="8036727" cy="581389"/>
          </a:xfrm>
        </p:grpSpPr>
        <p:sp>
          <p:nvSpPr>
            <p:cNvPr id="60" name="Shape">
              <a:extLst>
                <a:ext uri="{FF2B5EF4-FFF2-40B4-BE49-F238E27FC236}">
                  <a16:creationId xmlns:a16="http://schemas.microsoft.com/office/drawing/2014/main" id="{140890D3-34A3-4E2E-A908-7E61D22F8261}"/>
                </a:ext>
              </a:extLst>
            </p:cNvPr>
            <p:cNvSpPr/>
            <p:nvPr/>
          </p:nvSpPr>
          <p:spPr>
            <a:xfrm>
              <a:off x="2508011" y="283508"/>
              <a:ext cx="3728175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61" name="Data replication is necessary!">
              <a:extLst>
                <a:ext uri="{FF2B5EF4-FFF2-40B4-BE49-F238E27FC236}">
                  <a16:creationId xmlns:a16="http://schemas.microsoft.com/office/drawing/2014/main" id="{74FC1D3B-46EB-4724-818C-35E15E000E55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US" sz="2400" dirty="0"/>
                <a:t>Thank you!!  Questions?</a:t>
              </a:r>
              <a:endParaRPr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445837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Backup Slides"/>
          <p:cNvSpPr txBox="1">
            <a:spLocks noGrp="1"/>
          </p:cNvSpPr>
          <p:nvPr>
            <p:ph type="title"/>
          </p:nvPr>
        </p:nvSpPr>
        <p:spPr>
          <a:xfrm>
            <a:off x="685800" y="2693987"/>
            <a:ext cx="7772400" cy="1470026"/>
          </a:xfrm>
          <a:prstGeom prst="rect">
            <a:avLst/>
          </a:prstGeom>
        </p:spPr>
        <p:txBody>
          <a:bodyPr/>
          <a:lstStyle/>
          <a:p>
            <a:r>
              <a:t>Backup Slides</a:t>
            </a:r>
          </a:p>
        </p:txBody>
      </p:sp>
      <p:sp>
        <p:nvSpPr>
          <p:cNvPr id="24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92188" y="6542352"/>
            <a:ext cx="263982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938064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erformance"/>
          <p:cNvSpPr txBox="1">
            <a:spLocks noGrp="1"/>
          </p:cNvSpPr>
          <p:nvPr>
            <p:ph type="title"/>
          </p:nvPr>
        </p:nvSpPr>
        <p:spPr>
          <a:xfrm>
            <a:off x="12170" y="184651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Get performance</a:t>
            </a:r>
            <a:endParaRPr dirty="0"/>
          </a:p>
        </p:txBody>
      </p:sp>
      <p:sp>
        <p:nvSpPr>
          <p:cNvPr id="2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81605" y="6542352"/>
            <a:ext cx="38588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 dirty="0"/>
          </a:p>
        </p:txBody>
      </p:sp>
      <p:pic>
        <p:nvPicPr>
          <p:cNvPr id="9" name="chart.svg" descr="chart.svg">
            <a:extLst>
              <a:ext uri="{FF2B5EF4-FFF2-40B4-BE49-F238E27FC236}">
                <a16:creationId xmlns:a16="http://schemas.microsoft.com/office/drawing/2014/main" id="{1DFE3A41-936A-4B96-B8B2-D841FD4AA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rcRect l="2767" t="5440" b="7696"/>
          <a:stretch>
            <a:fillRect/>
          </a:stretch>
        </p:blipFill>
        <p:spPr>
          <a:xfrm>
            <a:off x="438590" y="1031735"/>
            <a:ext cx="7958436" cy="4874069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781EEE9-DF44-41AD-AF3E-E70E9137C22E}"/>
              </a:ext>
            </a:extLst>
          </p:cNvPr>
          <p:cNvSpPr/>
          <p:nvPr/>
        </p:nvSpPr>
        <p:spPr>
          <a:xfrm>
            <a:off x="68124" y="5914058"/>
            <a:ext cx="9199954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500" i="1">
                <a:latin typeface="Arial"/>
                <a:ea typeface="Arial"/>
                <a:cs typeface="Arial"/>
                <a:sym typeface="Arial"/>
              </a:defRPr>
            </a:pPr>
            <a:r>
              <a:rPr lang="en-US" sz="1900" u="sng" dirty="0"/>
              <a:t>Commodity server</a:t>
            </a:r>
            <a:r>
              <a:rPr lang="en-US" sz="1900" dirty="0"/>
              <a:t>: 18-core Intel Xeon Gold 6254 (2 sockets), 8x 32GB DDR4-2933</a:t>
            </a:r>
          </a:p>
          <a:p>
            <a:pPr>
              <a:defRPr sz="2500" i="1">
                <a:latin typeface="Arial"/>
                <a:ea typeface="Arial"/>
                <a:cs typeface="Arial"/>
                <a:sym typeface="Arial"/>
              </a:defRPr>
            </a:pPr>
            <a:r>
              <a:rPr lang="en-US" sz="1900" u="sng" dirty="0"/>
              <a:t>Workload</a:t>
            </a:r>
            <a:r>
              <a:rPr lang="en-US" sz="1900" dirty="0"/>
              <a:t>: &gt;4GB random memory-resident</a:t>
            </a:r>
          </a:p>
        </p:txBody>
      </p:sp>
      <p:grpSp>
        <p:nvGrpSpPr>
          <p:cNvPr id="8" name="Group">
            <a:extLst>
              <a:ext uri="{FF2B5EF4-FFF2-40B4-BE49-F238E27FC236}">
                <a16:creationId xmlns:a16="http://schemas.microsoft.com/office/drawing/2014/main" id="{011DD5FA-1F99-4E5E-B4E8-F1481F3C7C9F}"/>
              </a:ext>
            </a:extLst>
          </p:cNvPr>
          <p:cNvGrpSpPr/>
          <p:nvPr/>
        </p:nvGrpSpPr>
        <p:grpSpPr>
          <a:xfrm>
            <a:off x="7344748" y="1989668"/>
            <a:ext cx="1028816" cy="1214187"/>
            <a:chOff x="172281" y="-531655"/>
            <a:chExt cx="1028815" cy="1214184"/>
          </a:xfrm>
        </p:grpSpPr>
        <p:sp>
          <p:nvSpPr>
            <p:cNvPr id="10" name="1.7x">
              <a:extLst>
                <a:ext uri="{FF2B5EF4-FFF2-40B4-BE49-F238E27FC236}">
                  <a16:creationId xmlns:a16="http://schemas.microsoft.com/office/drawing/2014/main" id="{8F62387D-9092-49D0-9DA5-F38B8A5232B5}"/>
                </a:ext>
              </a:extLst>
            </p:cNvPr>
            <p:cNvSpPr txBox="1"/>
            <p:nvPr/>
          </p:nvSpPr>
          <p:spPr>
            <a:xfrm>
              <a:off x="484988" y="-155220"/>
              <a:ext cx="716108" cy="461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2329" tIns="32329" rIns="32329" bIns="32329" numCol="1" anchor="t">
              <a:noAutofit/>
            </a:bodyPr>
            <a:lstStyle>
              <a:lvl1pPr defTabSz="3039498">
                <a:defRPr sz="2500">
                  <a:solidFill>
                    <a:srgbClr val="F9CB9C"/>
                  </a:solidFill>
                </a:defRPr>
              </a:lvl1pPr>
            </a:lstStyle>
            <a:p>
              <a:r>
                <a:rPr dirty="0"/>
                <a:t>1.7x</a:t>
              </a:r>
            </a:p>
          </p:txBody>
        </p:sp>
        <p:sp>
          <p:nvSpPr>
            <p:cNvPr id="11" name="Double Arrow">
              <a:extLst>
                <a:ext uri="{FF2B5EF4-FFF2-40B4-BE49-F238E27FC236}">
                  <a16:creationId xmlns:a16="http://schemas.microsoft.com/office/drawing/2014/main" id="{39BFC5D1-4D0C-4D53-918F-E1B4908369A5}"/>
                </a:ext>
              </a:extLst>
            </p:cNvPr>
            <p:cNvSpPr/>
            <p:nvPr/>
          </p:nvSpPr>
          <p:spPr>
            <a:xfrm rot="16200000">
              <a:off x="-278458" y="-80916"/>
              <a:ext cx="1214184" cy="312706"/>
            </a:xfrm>
            <a:prstGeom prst="leftRightArrow">
              <a:avLst>
                <a:gd name="adj1" fmla="val 21005"/>
                <a:gd name="adj2" fmla="val 66935"/>
              </a:avLst>
            </a:prstGeom>
            <a:solidFill>
              <a:srgbClr val="F9CB9C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32329" tIns="32329" rIns="32329" bIns="32329" numCol="1" anchor="ctr">
              <a:noAutofit/>
            </a:bodyPr>
            <a:lstStyle/>
            <a:p>
              <a:pPr defTabSz="3039498">
                <a:defRPr sz="6000">
                  <a:solidFill>
                    <a:srgbClr val="F9CB9C"/>
                  </a:solidFill>
                </a:defRPr>
              </a:pPr>
              <a:endParaRPr dirty="0"/>
            </a:p>
          </p:txBody>
        </p:sp>
      </p:grpSp>
      <p:grpSp>
        <p:nvGrpSpPr>
          <p:cNvPr id="12" name="Group">
            <a:extLst>
              <a:ext uri="{FF2B5EF4-FFF2-40B4-BE49-F238E27FC236}">
                <a16:creationId xmlns:a16="http://schemas.microsoft.com/office/drawing/2014/main" id="{03E246C1-F790-45F2-BD1B-70FDDB497FC7}"/>
              </a:ext>
            </a:extLst>
          </p:cNvPr>
          <p:cNvGrpSpPr/>
          <p:nvPr/>
        </p:nvGrpSpPr>
        <p:grpSpPr>
          <a:xfrm>
            <a:off x="6382445" y="2044885"/>
            <a:ext cx="872462" cy="2110020"/>
            <a:chOff x="-453919" y="-999890"/>
            <a:chExt cx="872461" cy="1837158"/>
          </a:xfrm>
          <a:solidFill>
            <a:srgbClr val="E9392A"/>
          </a:solidFill>
        </p:grpSpPr>
        <p:sp>
          <p:nvSpPr>
            <p:cNvPr id="13" name="3.9x">
              <a:extLst>
                <a:ext uri="{FF2B5EF4-FFF2-40B4-BE49-F238E27FC236}">
                  <a16:creationId xmlns:a16="http://schemas.microsoft.com/office/drawing/2014/main" id="{C04B3706-E25D-49F3-B18D-8C987E4BB2F3}"/>
                </a:ext>
              </a:extLst>
            </p:cNvPr>
            <p:cNvSpPr txBox="1"/>
            <p:nvPr/>
          </p:nvSpPr>
          <p:spPr>
            <a:xfrm>
              <a:off x="-453919" y="9205"/>
              <a:ext cx="716108" cy="461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2329" tIns="32329" rIns="32329" bIns="32329" numCol="1" anchor="t">
              <a:noAutofit/>
            </a:bodyPr>
            <a:lstStyle>
              <a:lvl1pPr defTabSz="3039498">
                <a:defRPr sz="2500">
                  <a:solidFill>
                    <a:srgbClr val="34A853"/>
                  </a:solidFill>
                </a:defRPr>
              </a:lvl1pPr>
            </a:lstStyle>
            <a:p>
              <a:r>
                <a:rPr lang="en-US" dirty="0">
                  <a:solidFill>
                    <a:srgbClr val="E8392B"/>
                  </a:solidFill>
                </a:rPr>
                <a:t>3.5</a:t>
              </a:r>
              <a:r>
                <a:rPr dirty="0">
                  <a:solidFill>
                    <a:srgbClr val="E8392B"/>
                  </a:solidFill>
                </a:rPr>
                <a:t>x</a:t>
              </a:r>
            </a:p>
          </p:txBody>
        </p:sp>
        <p:sp>
          <p:nvSpPr>
            <p:cNvPr id="14" name="Double Arrow">
              <a:extLst>
                <a:ext uri="{FF2B5EF4-FFF2-40B4-BE49-F238E27FC236}">
                  <a16:creationId xmlns:a16="http://schemas.microsoft.com/office/drawing/2014/main" id="{AC97ABD9-84A4-4B35-A9EF-C19127D3266E}"/>
                </a:ext>
              </a:extLst>
            </p:cNvPr>
            <p:cNvSpPr/>
            <p:nvPr/>
          </p:nvSpPr>
          <p:spPr>
            <a:xfrm rot="16200000">
              <a:off x="-656390" y="-237665"/>
              <a:ext cx="1837158" cy="312707"/>
            </a:xfrm>
            <a:prstGeom prst="leftRightArrow">
              <a:avLst>
                <a:gd name="adj1" fmla="val 21005"/>
                <a:gd name="adj2" fmla="val 66935"/>
              </a:avLst>
            </a:prstGeom>
            <a:grpFill/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32329" tIns="32329" rIns="32329" bIns="32329" numCol="1" anchor="ctr">
              <a:noAutofit/>
            </a:bodyPr>
            <a:lstStyle/>
            <a:p>
              <a:pPr defTabSz="3039498">
                <a:defRPr sz="6000">
                  <a:solidFill>
                    <a:srgbClr val="F9CB9C"/>
                  </a:solidFill>
                </a:defRPr>
              </a:pPr>
              <a:endParaRPr dirty="0"/>
            </a:p>
          </p:txBody>
        </p:sp>
      </p:grpSp>
      <p:sp>
        <p:nvSpPr>
          <p:cNvPr id="16" name="1.7x">
            <a:extLst>
              <a:ext uri="{FF2B5EF4-FFF2-40B4-BE49-F238E27FC236}">
                <a16:creationId xmlns:a16="http://schemas.microsoft.com/office/drawing/2014/main" id="{CDD0369F-A97B-4947-BA08-25DD2CC9CAC7}"/>
              </a:ext>
            </a:extLst>
          </p:cNvPr>
          <p:cNvSpPr txBox="1"/>
          <p:nvPr/>
        </p:nvSpPr>
        <p:spPr>
          <a:xfrm>
            <a:off x="2739609" y="848283"/>
            <a:ext cx="6854472" cy="2970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25400" dist="127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2329" tIns="32329" rIns="32329" bIns="32329" numCol="1" anchor="t">
            <a:noAutofit/>
          </a:bodyPr>
          <a:lstStyle>
            <a:lvl1pPr defTabSz="3039498">
              <a:defRPr sz="2500">
                <a:solidFill>
                  <a:srgbClr val="F9CB9C"/>
                </a:solidFill>
              </a:defRPr>
            </a:lvl1pPr>
          </a:lstStyle>
          <a:p>
            <a:r>
              <a:rPr lang="en-US" sz="1800" dirty="0">
                <a:solidFill>
                  <a:srgbClr val="4285F4"/>
                </a:solidFill>
              </a:rPr>
              <a:t>Memory b/w bound </a:t>
            </a:r>
            <a:r>
              <a:rPr lang="en-US" sz="1800" dirty="0">
                <a:solidFill>
                  <a:srgbClr val="4285F4"/>
                </a:solidFill>
                <a:sym typeface="Wingdings" panose="05000000000000000000" pitchFamily="2" charset="2"/>
              </a:rPr>
              <a:t></a:t>
            </a:r>
            <a:r>
              <a:rPr lang="en-US" sz="1800" dirty="0">
                <a:solidFill>
                  <a:srgbClr val="4285F4"/>
                </a:solidFill>
              </a:rPr>
              <a:t> more dimms = higher throughput</a:t>
            </a:r>
            <a:endParaRPr sz="1800" dirty="0">
              <a:solidFill>
                <a:srgbClr val="4285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9480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erformance"/>
          <p:cNvSpPr txBox="1">
            <a:spLocks noGrp="1"/>
          </p:cNvSpPr>
          <p:nvPr>
            <p:ph type="title"/>
          </p:nvPr>
        </p:nvSpPr>
        <p:spPr>
          <a:xfrm>
            <a:off x="12170" y="184651"/>
            <a:ext cx="9144000" cy="77725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Insert-delete performance</a:t>
            </a:r>
            <a:endParaRPr dirty="0"/>
          </a:p>
        </p:txBody>
      </p:sp>
      <p:sp>
        <p:nvSpPr>
          <p:cNvPr id="2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89555" y="6534401"/>
            <a:ext cx="346125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1A51EE-CE74-41E9-92EB-0B8C181F0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51" y="1532585"/>
            <a:ext cx="7571898" cy="4340181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D91E10B-3E6F-4117-A3D2-B74530EBA2F6}"/>
              </a:ext>
            </a:extLst>
          </p:cNvPr>
          <p:cNvGrpSpPr/>
          <p:nvPr/>
        </p:nvGrpSpPr>
        <p:grpSpPr>
          <a:xfrm>
            <a:off x="7499044" y="2109396"/>
            <a:ext cx="945983" cy="1837160"/>
            <a:chOff x="105835" y="-999890"/>
            <a:chExt cx="945982" cy="1837158"/>
          </a:xfrm>
          <a:solidFill>
            <a:srgbClr val="E9392A"/>
          </a:solidFill>
        </p:grpSpPr>
        <p:sp>
          <p:nvSpPr>
            <p:cNvPr id="9" name="3.9x">
              <a:extLst>
                <a:ext uri="{FF2B5EF4-FFF2-40B4-BE49-F238E27FC236}">
                  <a16:creationId xmlns:a16="http://schemas.microsoft.com/office/drawing/2014/main" id="{26ED813A-B142-483A-9E55-C8DBCDAB6164}"/>
                </a:ext>
              </a:extLst>
            </p:cNvPr>
            <p:cNvSpPr txBox="1"/>
            <p:nvPr/>
          </p:nvSpPr>
          <p:spPr>
            <a:xfrm>
              <a:off x="335709" y="-234907"/>
              <a:ext cx="716108" cy="461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2329" tIns="32329" rIns="32329" bIns="32329" numCol="1" anchor="t">
              <a:noAutofit/>
            </a:bodyPr>
            <a:lstStyle>
              <a:lvl1pPr defTabSz="3039498">
                <a:defRPr sz="2500">
                  <a:solidFill>
                    <a:srgbClr val="34A853"/>
                  </a:solidFill>
                </a:defRPr>
              </a:lvl1pPr>
            </a:lstStyle>
            <a:p>
              <a:r>
                <a:rPr lang="en-US" dirty="0">
                  <a:solidFill>
                    <a:srgbClr val="E8392B"/>
                  </a:solidFill>
                </a:rPr>
                <a:t>2.9</a:t>
              </a:r>
              <a:r>
                <a:rPr dirty="0">
                  <a:solidFill>
                    <a:srgbClr val="E8392B"/>
                  </a:solidFill>
                </a:rPr>
                <a:t>x</a:t>
              </a:r>
            </a:p>
          </p:txBody>
        </p:sp>
        <p:sp>
          <p:nvSpPr>
            <p:cNvPr id="11" name="Double Arrow">
              <a:extLst>
                <a:ext uri="{FF2B5EF4-FFF2-40B4-BE49-F238E27FC236}">
                  <a16:creationId xmlns:a16="http://schemas.microsoft.com/office/drawing/2014/main" id="{ECA4F274-70C8-43B3-992A-B8AB8AEC3A58}"/>
                </a:ext>
              </a:extLst>
            </p:cNvPr>
            <p:cNvSpPr/>
            <p:nvPr/>
          </p:nvSpPr>
          <p:spPr>
            <a:xfrm rot="16200000">
              <a:off x="-656390" y="-237665"/>
              <a:ext cx="1837158" cy="312707"/>
            </a:xfrm>
            <a:prstGeom prst="leftRightArrow">
              <a:avLst>
                <a:gd name="adj1" fmla="val 21005"/>
                <a:gd name="adj2" fmla="val 66935"/>
              </a:avLst>
            </a:prstGeom>
            <a:grpFill/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32329" tIns="32329" rIns="32329" bIns="32329" numCol="1" anchor="ctr">
              <a:noAutofit/>
            </a:bodyPr>
            <a:lstStyle/>
            <a:p>
              <a:pPr defTabSz="3039498">
                <a:defRPr sz="6000">
                  <a:solidFill>
                    <a:srgbClr val="F9CB9C"/>
                  </a:solidFill>
                </a:defRPr>
              </a:pPr>
              <a:endParaRPr dirty="0"/>
            </a:p>
          </p:txBody>
        </p:sp>
      </p:grpSp>
      <p:grpSp>
        <p:nvGrpSpPr>
          <p:cNvPr id="12" name="Group">
            <a:extLst>
              <a:ext uri="{FF2B5EF4-FFF2-40B4-BE49-F238E27FC236}">
                <a16:creationId xmlns:a16="http://schemas.microsoft.com/office/drawing/2014/main" id="{B25DFAB9-41BC-4F47-95E3-09BE89E54803}"/>
              </a:ext>
            </a:extLst>
          </p:cNvPr>
          <p:cNvGrpSpPr/>
          <p:nvPr/>
        </p:nvGrpSpPr>
        <p:grpSpPr>
          <a:xfrm>
            <a:off x="6230945" y="1882648"/>
            <a:ext cx="1006865" cy="2860052"/>
            <a:chOff x="-588320" y="-816545"/>
            <a:chExt cx="1006863" cy="2860049"/>
          </a:xfrm>
        </p:grpSpPr>
        <p:sp>
          <p:nvSpPr>
            <p:cNvPr id="13" name="3.9x">
              <a:extLst>
                <a:ext uri="{FF2B5EF4-FFF2-40B4-BE49-F238E27FC236}">
                  <a16:creationId xmlns:a16="http://schemas.microsoft.com/office/drawing/2014/main" id="{96A30305-CB2C-4891-BDCA-D074ABC3490D}"/>
                </a:ext>
              </a:extLst>
            </p:cNvPr>
            <p:cNvSpPr txBox="1"/>
            <p:nvPr/>
          </p:nvSpPr>
          <p:spPr>
            <a:xfrm>
              <a:off x="-588320" y="-279541"/>
              <a:ext cx="716108" cy="461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2329" tIns="32329" rIns="32329" bIns="32329" numCol="1" anchor="t">
              <a:noAutofit/>
            </a:bodyPr>
            <a:lstStyle>
              <a:lvl1pPr defTabSz="3039498">
                <a:defRPr sz="2500">
                  <a:solidFill>
                    <a:srgbClr val="34A853"/>
                  </a:solidFill>
                </a:defRPr>
              </a:lvl1pPr>
            </a:lstStyle>
            <a:p>
              <a:r>
                <a:rPr lang="en-US" dirty="0"/>
                <a:t>12</a:t>
              </a:r>
              <a:r>
                <a:rPr dirty="0"/>
                <a:t>x</a:t>
              </a:r>
            </a:p>
          </p:txBody>
        </p:sp>
        <p:sp>
          <p:nvSpPr>
            <p:cNvPr id="14" name="Double Arrow">
              <a:extLst>
                <a:ext uri="{FF2B5EF4-FFF2-40B4-BE49-F238E27FC236}">
                  <a16:creationId xmlns:a16="http://schemas.microsoft.com/office/drawing/2014/main" id="{821D0E57-F628-4318-9398-2B8D425DA8C9}"/>
                </a:ext>
              </a:extLst>
            </p:cNvPr>
            <p:cNvSpPr/>
            <p:nvPr/>
          </p:nvSpPr>
          <p:spPr>
            <a:xfrm rot="16200000">
              <a:off x="-1167835" y="457126"/>
              <a:ext cx="2860049" cy="312707"/>
            </a:xfrm>
            <a:prstGeom prst="leftRightArrow">
              <a:avLst>
                <a:gd name="adj1" fmla="val 21005"/>
                <a:gd name="adj2" fmla="val 66935"/>
              </a:avLst>
            </a:prstGeom>
            <a:solidFill>
              <a:srgbClr val="34A853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32329" tIns="32329" rIns="32329" bIns="32329" numCol="1" anchor="ctr">
              <a:noAutofit/>
            </a:bodyPr>
            <a:lstStyle/>
            <a:p>
              <a:pPr defTabSz="3039498">
                <a:defRPr sz="6000">
                  <a:solidFill>
                    <a:srgbClr val="F9CB9C"/>
                  </a:solidFill>
                </a:defRPr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7201831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erformance"/>
          <p:cNvSpPr txBox="1">
            <a:spLocks noGrp="1"/>
          </p:cNvSpPr>
          <p:nvPr>
            <p:ph type="title"/>
          </p:nvPr>
        </p:nvSpPr>
        <p:spPr>
          <a:xfrm>
            <a:off x="12170" y="184651"/>
            <a:ext cx="9144000" cy="77725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/>
              <a:t>Inserting 800M keys (growing index)</a:t>
            </a:r>
            <a:endParaRPr sz="4000" dirty="0"/>
          </a:p>
        </p:txBody>
      </p:sp>
      <p:sp>
        <p:nvSpPr>
          <p:cNvPr id="2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81604" y="6542352"/>
            <a:ext cx="362027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 dirty="0"/>
          </a:p>
        </p:txBody>
      </p:sp>
      <p:pic>
        <p:nvPicPr>
          <p:cNvPr id="10" name="chart (2).svg" descr="chart (2).svg">
            <a:extLst>
              <a:ext uri="{FF2B5EF4-FFF2-40B4-BE49-F238E27FC236}">
                <a16:creationId xmlns:a16="http://schemas.microsoft.com/office/drawing/2014/main" id="{3899933F-1C04-4E0A-B4E3-B1684EE34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rcRect l="6092" t="4861" b="9597"/>
          <a:stretch>
            <a:fillRect/>
          </a:stretch>
        </p:blipFill>
        <p:spPr>
          <a:xfrm>
            <a:off x="819089" y="1493002"/>
            <a:ext cx="7530162" cy="4258857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grpSp>
        <p:nvGrpSpPr>
          <p:cNvPr id="12" name="Group">
            <a:extLst>
              <a:ext uri="{FF2B5EF4-FFF2-40B4-BE49-F238E27FC236}">
                <a16:creationId xmlns:a16="http://schemas.microsoft.com/office/drawing/2014/main" id="{9DD63B6D-FD6F-4CD5-855D-BB2B4908EE27}"/>
              </a:ext>
            </a:extLst>
          </p:cNvPr>
          <p:cNvGrpSpPr/>
          <p:nvPr/>
        </p:nvGrpSpPr>
        <p:grpSpPr>
          <a:xfrm>
            <a:off x="6765400" y="2269724"/>
            <a:ext cx="1006862" cy="1653814"/>
            <a:chOff x="-588319" y="-816544"/>
            <a:chExt cx="1006860" cy="1653812"/>
          </a:xfrm>
        </p:grpSpPr>
        <p:sp>
          <p:nvSpPr>
            <p:cNvPr id="13" name="3.9x">
              <a:extLst>
                <a:ext uri="{FF2B5EF4-FFF2-40B4-BE49-F238E27FC236}">
                  <a16:creationId xmlns:a16="http://schemas.microsoft.com/office/drawing/2014/main" id="{47D7BC2A-C7CD-4B50-9EA3-4FE9971EBCBC}"/>
                </a:ext>
              </a:extLst>
            </p:cNvPr>
            <p:cNvSpPr txBox="1"/>
            <p:nvPr/>
          </p:nvSpPr>
          <p:spPr>
            <a:xfrm>
              <a:off x="-588320" y="-279541"/>
              <a:ext cx="716108" cy="461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2329" tIns="32329" rIns="32329" bIns="32329" numCol="1" anchor="t">
              <a:noAutofit/>
            </a:bodyPr>
            <a:lstStyle>
              <a:lvl1pPr defTabSz="3039498">
                <a:defRPr sz="2500">
                  <a:solidFill>
                    <a:srgbClr val="34A853"/>
                  </a:solidFill>
                </a:defRPr>
              </a:lvl1pPr>
            </a:lstStyle>
            <a:p>
              <a:r>
                <a:t>3.9x</a:t>
              </a:r>
            </a:p>
          </p:txBody>
        </p:sp>
        <p:sp>
          <p:nvSpPr>
            <p:cNvPr id="14" name="Double Arrow">
              <a:extLst>
                <a:ext uri="{FF2B5EF4-FFF2-40B4-BE49-F238E27FC236}">
                  <a16:creationId xmlns:a16="http://schemas.microsoft.com/office/drawing/2014/main" id="{927DDDD8-C9B0-4ACB-A00B-B58C54B4B84A}"/>
                </a:ext>
              </a:extLst>
            </p:cNvPr>
            <p:cNvSpPr/>
            <p:nvPr/>
          </p:nvSpPr>
          <p:spPr>
            <a:xfrm rot="16200000">
              <a:off x="-564718" y="-145992"/>
              <a:ext cx="1653813" cy="312707"/>
            </a:xfrm>
            <a:prstGeom prst="leftRightArrow">
              <a:avLst>
                <a:gd name="adj1" fmla="val 21005"/>
                <a:gd name="adj2" fmla="val 66935"/>
              </a:avLst>
            </a:prstGeom>
            <a:solidFill>
              <a:srgbClr val="34A853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32329" tIns="32329" rIns="32329" bIns="32329" numCol="1" anchor="ctr">
              <a:noAutofit/>
            </a:bodyPr>
            <a:lstStyle/>
            <a:p>
              <a:pPr defTabSz="3039498">
                <a:defRPr sz="6000">
                  <a:solidFill>
                    <a:srgbClr val="F9CB9C"/>
                  </a:solidFill>
                </a:defRPr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6870033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29">
            <a:extLst>
              <a:ext uri="{FF2B5EF4-FFF2-40B4-BE49-F238E27FC236}">
                <a16:creationId xmlns:a16="http://schemas.microsoft.com/office/drawing/2014/main" id="{E4C4CAFB-D100-4C3A-AC94-7783B06D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878" y="5267727"/>
            <a:ext cx="762266" cy="929421"/>
          </a:xfrm>
          <a:prstGeom prst="rect">
            <a:avLst/>
          </a:prstGeom>
        </p:spPr>
      </p:pic>
      <p:sp>
        <p:nvSpPr>
          <p:cNvPr id="76" name="Why your datastore may be slowing down your application?">
            <a:extLst>
              <a:ext uri="{FF2B5EF4-FFF2-40B4-BE49-F238E27FC236}">
                <a16:creationId xmlns:a16="http://schemas.microsoft.com/office/drawing/2014/main" id="{88A669E0-96EA-6241-880D-E87549C80E00}"/>
              </a:ext>
            </a:extLst>
          </p:cNvPr>
          <p:cNvSpPr txBox="1">
            <a:spLocks/>
          </p:cNvSpPr>
          <p:nvPr/>
        </p:nvSpPr>
        <p:spPr>
          <a:xfrm>
            <a:off x="563713" y="1296665"/>
            <a:ext cx="6057006" cy="292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262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6" b="0" i="0" u="none" strike="noStrike" cap="none" spc="0" baseline="0">
                <a:solidFill>
                  <a:srgbClr val="CF103A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CF103A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marR="0" lvl="0" indent="0" algn="l" defTabSz="4526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78593" y="6542352"/>
            <a:ext cx="380944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Distributed Datastores">
            <a:extLst>
              <a:ext uri="{FF2B5EF4-FFF2-40B4-BE49-F238E27FC236}">
                <a16:creationId xmlns:a16="http://schemas.microsoft.com/office/drawing/2014/main" id="{2761A5E7-9F77-4E8D-93AD-DE0135508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26" y="68649"/>
            <a:ext cx="9144000" cy="77725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 dirty="0"/>
              <a:t>DLHT recap</a:t>
            </a:r>
            <a:endParaRPr sz="3600" dirty="0"/>
          </a:p>
        </p:txBody>
      </p:sp>
      <p:grpSp>
        <p:nvGrpSpPr>
          <p:cNvPr id="59" name="Alternate Process 5">
            <a:extLst>
              <a:ext uri="{FF2B5EF4-FFF2-40B4-BE49-F238E27FC236}">
                <a16:creationId xmlns:a16="http://schemas.microsoft.com/office/drawing/2014/main" id="{ACC3EDE2-9652-4222-984C-26086D2208E6}"/>
              </a:ext>
            </a:extLst>
          </p:cNvPr>
          <p:cNvGrpSpPr/>
          <p:nvPr/>
        </p:nvGrpSpPr>
        <p:grpSpPr>
          <a:xfrm>
            <a:off x="836852" y="5910183"/>
            <a:ext cx="7624567" cy="758826"/>
            <a:chOff x="357133" y="283508"/>
            <a:chExt cx="8036727" cy="581389"/>
          </a:xfrm>
        </p:grpSpPr>
        <p:sp>
          <p:nvSpPr>
            <p:cNvPr id="60" name="Shape">
              <a:extLst>
                <a:ext uri="{FF2B5EF4-FFF2-40B4-BE49-F238E27FC236}">
                  <a16:creationId xmlns:a16="http://schemas.microsoft.com/office/drawing/2014/main" id="{140890D3-34A3-4E2E-A908-7E61D22F8261}"/>
                </a:ext>
              </a:extLst>
            </p:cNvPr>
            <p:cNvSpPr/>
            <p:nvPr/>
          </p:nvSpPr>
          <p:spPr>
            <a:xfrm>
              <a:off x="440047" y="283508"/>
              <a:ext cx="7861159" cy="581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600"/>
                  </a:moveTo>
                  <a:cubicBezTo>
                    <a:pt x="0" y="1612"/>
                    <a:pt x="141" y="0"/>
                    <a:pt x="315" y="0"/>
                  </a:cubicBezTo>
                  <a:lnTo>
                    <a:pt x="21285" y="0"/>
                  </a:lnTo>
                  <a:cubicBezTo>
                    <a:pt x="21459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459" y="21600"/>
                    <a:pt x="21285" y="21600"/>
                  </a:cubicBezTo>
                  <a:lnTo>
                    <a:pt x="315" y="21600"/>
                  </a:lnTo>
                  <a:cubicBezTo>
                    <a:pt x="141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9050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200">
                  <a:solidFill>
                    <a:srgbClr val="CF103A"/>
                  </a:solidFill>
                </a:defRPr>
              </a:pPr>
              <a:endParaRPr dirty="0"/>
            </a:p>
          </p:txBody>
        </p:sp>
        <p:sp>
          <p:nvSpPr>
            <p:cNvPr id="61" name="Data replication is necessary!">
              <a:extLst>
                <a:ext uri="{FF2B5EF4-FFF2-40B4-BE49-F238E27FC236}">
                  <a16:creationId xmlns:a16="http://schemas.microsoft.com/office/drawing/2014/main" id="{74FC1D3B-46EB-4724-818C-35E15E000E55}"/>
                </a:ext>
              </a:extLst>
            </p:cNvPr>
            <p:cNvSpPr txBox="1"/>
            <p:nvPr/>
          </p:nvSpPr>
          <p:spPr>
            <a:xfrm>
              <a:off x="357133" y="358941"/>
              <a:ext cx="8036727" cy="435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3000">
                  <a:solidFill>
                    <a:srgbClr val="CF103A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lang="en-GB" sz="2400" dirty="0"/>
                <a:t>Reality check: Do all these translate into performance?</a:t>
              </a:r>
              <a:endParaRPr sz="2400" dirty="0"/>
            </a:p>
          </p:txBody>
        </p:sp>
      </p:grpSp>
      <p:pic>
        <p:nvPicPr>
          <p:cNvPr id="62" name="Picture 2" descr="8,183 Skeptical Emoji Stock Photos, Pictures &amp; Royalty-Free ...">
            <a:extLst>
              <a:ext uri="{FF2B5EF4-FFF2-40B4-BE49-F238E27FC236}">
                <a16:creationId xmlns:a16="http://schemas.microsoft.com/office/drawing/2014/main" id="{B3AEF42F-0860-4C10-A7E2-9A348B9C2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8" y="5828949"/>
            <a:ext cx="817329" cy="81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Bin array (N x 64B)">
            <a:extLst>
              <a:ext uri="{FF2B5EF4-FFF2-40B4-BE49-F238E27FC236}">
                <a16:creationId xmlns:a16="http://schemas.microsoft.com/office/drawing/2014/main" id="{BFCB6288-5E08-4B99-A60A-ACB442AEBD66}"/>
              </a:ext>
            </a:extLst>
          </p:cNvPr>
          <p:cNvSpPr txBox="1"/>
          <p:nvPr/>
        </p:nvSpPr>
        <p:spPr>
          <a:xfrm>
            <a:off x="347730" y="964221"/>
            <a:ext cx="8113689" cy="40480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39" tIns="91439" rIns="91439" bIns="91439" numCol="1" anchor="t">
            <a:noAutofit/>
          </a:bodyPr>
          <a:lstStyle>
            <a:lvl1pPr algn="l" defTabSz="914400">
              <a:defRPr sz="23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342900" lvl="0" indent="-342900">
              <a:buFont typeface="+mj-lt"/>
              <a:buAutoNum type="arabicPeriod"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Eschews open addressing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Wingdings" panose="05000000000000000000" pitchFamily="2" charset="2"/>
              </a:rPr>
              <a:t>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 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no severe blocking on deletes</a:t>
            </a:r>
          </a:p>
          <a:p>
            <a:pPr marL="342900" lvl="0" indent="-342900">
              <a:buFont typeface="+mj-lt"/>
              <a:buAutoNum type="arabicPeriod"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342900" lvl="0" indent="-342900">
              <a:buFont typeface="+mj-lt"/>
              <a:buAutoNum type="arabicPeriod"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0" dirty="0"/>
              <a:t>Improved closed addressing via </a:t>
            </a:r>
            <a:r>
              <a:rPr lang="en-US" sz="1600" dirty="0"/>
              <a:t>bounded cacheline chaining </a:t>
            </a:r>
            <a:endParaRPr lang="en-US" sz="1600" dirty="0">
              <a:sym typeface="Wingdings" panose="05000000000000000000" pitchFamily="2" charset="2"/>
            </a:endParaRPr>
          </a:p>
          <a:p>
            <a:pPr lvl="0"/>
            <a:r>
              <a:rPr lang="en-US" sz="1600" b="0" dirty="0">
                <a:sym typeface="Wingdings" panose="05000000000000000000" pitchFamily="2" charset="2"/>
              </a:rPr>
              <a:t>            Most bins: 1 bucket =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Most requests: 1 memory access</a:t>
            </a:r>
          </a:p>
          <a:p>
            <a:r>
              <a:rPr lang="en-US" sz="1600" b="0" dirty="0">
                <a:sym typeface="Wingdings" panose="05000000000000000000" pitchFamily="2" charset="2"/>
              </a:rPr>
              <a:t>            Can link up to 3 extra buckets (15 slots) for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high occupancy</a:t>
            </a:r>
          </a:p>
          <a:p>
            <a:endParaRPr lang="en-US" sz="1600" b="0" dirty="0">
              <a:sym typeface="Wingdings" panose="05000000000000000000" pitchFamily="2" charset="2"/>
            </a:endParaRPr>
          </a:p>
          <a:p>
            <a:endParaRPr lang="en-US" sz="1600" b="0" dirty="0">
              <a:sym typeface="Wingdings" panose="05000000000000000000" pitchFamily="2" charset="2"/>
            </a:endParaRPr>
          </a:p>
          <a:p>
            <a:pPr marL="342900" lvl="0" indent="-342900">
              <a:buFont typeface="+mj-lt"/>
              <a:buAutoNum type="arabicPeriod" startAt="3"/>
            </a:pPr>
            <a:r>
              <a:rPr lang="en-US" sz="1600" dirty="0">
                <a:sym typeface="Wingdings" panose="05000000000000000000" pitchFamily="2" charset="2"/>
              </a:rPr>
              <a:t>Memory compact bin header</a:t>
            </a:r>
            <a:r>
              <a:rPr lang="en-US" sz="1600" b="0" dirty="0">
                <a:sym typeface="Wingdings" panose="05000000000000000000" pitchFamily="2" charset="2"/>
              </a:rPr>
              <a:t> </a:t>
            </a:r>
          </a:p>
          <a:p>
            <a:pPr lvl="0"/>
            <a:r>
              <a:rPr lang="en-US" sz="1600" b="0" dirty="0">
                <a:sym typeface="Wingdings" panose="05000000000000000000" pitchFamily="2" charset="2"/>
              </a:rPr>
              <a:t>           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Lock-free operations</a:t>
            </a:r>
            <a:r>
              <a:rPr lang="en-US" sz="1600" b="0" dirty="0">
                <a:sym typeface="Wingdings" panose="05000000000000000000" pitchFamily="2" charset="2"/>
              </a:rPr>
              <a:t>: 8B sync header fits all needed state</a:t>
            </a:r>
            <a:endParaRPr lang="en-US" sz="1600" b="0" i="1" dirty="0">
              <a:sym typeface="Wingdings" panose="05000000000000000000" pitchFamily="2" charset="2"/>
            </a:endParaRPr>
          </a:p>
          <a:p>
            <a:pPr lvl="0"/>
            <a:r>
              <a:rPr lang="en-US" sz="1600" b="0" dirty="0">
                <a:sym typeface="Wingdings" panose="05000000000000000000" pitchFamily="2" charset="2"/>
              </a:rPr>
              <a:t>            </a:t>
            </a:r>
            <a:r>
              <a:rPr lang="en-US" sz="1600" b="0" i="1" dirty="0">
                <a:sym typeface="Wingdings" panose="05000000000000000000" pitchFamily="2" charset="2"/>
              </a:rPr>
              <a:t>Sync header </a:t>
            </a:r>
            <a:r>
              <a:rPr lang="en-US" sz="1600" b="0" dirty="0">
                <a:sym typeface="Wingdings" panose="05000000000000000000" pitchFamily="2" charset="2"/>
              </a:rPr>
              <a:t>incl. bin state to enable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parallel non-blocking resizes</a:t>
            </a:r>
          </a:p>
          <a:p>
            <a:pPr lvl="0"/>
            <a:endParaRPr lang="en-US" sz="1600" b="0" dirty="0">
              <a:sym typeface="Wingdings" panose="05000000000000000000" pitchFamily="2" charset="2"/>
            </a:endParaRPr>
          </a:p>
          <a:p>
            <a:pPr lvl="0"/>
            <a:endParaRPr lang="en-US" sz="1600" b="0" dirty="0">
              <a:sym typeface="Wingdings" panose="05000000000000000000" pitchFamily="2" charset="2"/>
            </a:endParaRPr>
          </a:p>
          <a:p>
            <a:pPr marL="342900" lvl="0" indent="-342900">
              <a:buFont typeface="+mj-lt"/>
              <a:buAutoNum type="arabicPeriod" startAt="4"/>
            </a:pPr>
            <a:r>
              <a:rPr lang="en-US" sz="1600" dirty="0">
                <a:sym typeface="Wingdings" panose="05000000000000000000" pitchFamily="2" charset="2"/>
              </a:rPr>
              <a:t>Pipelined batched</a:t>
            </a:r>
            <a:r>
              <a:rPr lang="en-US" sz="1600" b="0" dirty="0">
                <a:sym typeface="Wingdings" panose="05000000000000000000" pitchFamily="2" charset="2"/>
              </a:rPr>
              <a:t> </a:t>
            </a:r>
            <a:r>
              <a:rPr lang="en-US" sz="1600" dirty="0">
                <a:sym typeface="Wingdings" panose="05000000000000000000" pitchFamily="2" charset="2"/>
              </a:rPr>
              <a:t>request processing</a:t>
            </a:r>
          </a:p>
          <a:p>
            <a:pPr lvl="0"/>
            <a:r>
              <a:rPr lang="en-US" sz="1600" b="0" dirty="0">
                <a:sym typeface="Wingdings" panose="05000000000000000000" pitchFamily="2" charset="2"/>
              </a:rPr>
              <a:t>            Exploits software prefetching to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overlap memory accesses</a:t>
            </a:r>
          </a:p>
          <a:p>
            <a:pPr lvl="0"/>
            <a:r>
              <a:rPr lang="en-US" sz="1600" b="0" dirty="0">
                <a:sym typeface="Wingdings" panose="05000000000000000000" pitchFamily="2" charset="2"/>
              </a:rPr>
              <a:t>            Guarantee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in-order request completion</a:t>
            </a:r>
          </a:p>
          <a:p>
            <a:pPr lvl="0"/>
            <a:endParaRPr lang="en-US" sz="1600" b="0" dirty="0">
              <a:sym typeface="Wingdings" panose="05000000000000000000" pitchFamily="2" charset="2"/>
            </a:endParaRPr>
          </a:p>
          <a:p>
            <a:pPr lvl="0"/>
            <a:endParaRPr lang="en-US" sz="1600" b="0" dirty="0">
              <a:sym typeface="Wingdings" panose="05000000000000000000" pitchFamily="2" charset="2"/>
            </a:endParaRPr>
          </a:p>
          <a:p>
            <a:pPr marL="342900" lvl="0" indent="-342900">
              <a:buAutoNum type="arabicPeriod" startAt="5"/>
            </a:pP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Many extra features </a:t>
            </a:r>
            <a:r>
              <a:rPr lang="en-US" sz="1600" b="0" dirty="0">
                <a:sym typeface="Wingdings" panose="05000000000000000000" pitchFamily="2" charset="2"/>
              </a:rPr>
              <a:t>(see paper): hashset, transactions, namespaces, GC, </a:t>
            </a:r>
          </a:p>
          <a:p>
            <a:pPr lvl="0"/>
            <a:r>
              <a:rPr lang="en-US" sz="1600" b="0" dirty="0">
                <a:sym typeface="Wingdings" panose="05000000000000000000" pitchFamily="2" charset="2"/>
              </a:rPr>
              <a:t>       variable-sized keys, single-threaded optimizations, iterators, snapshots, etc..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488149B-6B66-4BA2-A53F-B6D6F9D51A96}"/>
              </a:ext>
            </a:extLst>
          </p:cNvPr>
          <p:cNvGrpSpPr/>
          <p:nvPr/>
        </p:nvGrpSpPr>
        <p:grpSpPr>
          <a:xfrm>
            <a:off x="6680372" y="935669"/>
            <a:ext cx="1899915" cy="451755"/>
            <a:chOff x="714495" y="885077"/>
            <a:chExt cx="2449943" cy="621544"/>
          </a:xfrm>
        </p:grpSpPr>
        <p:sp>
          <p:nvSpPr>
            <p:cNvPr id="66" name="Bin array (N x 64B)">
              <a:extLst>
                <a:ext uri="{FF2B5EF4-FFF2-40B4-BE49-F238E27FC236}">
                  <a16:creationId xmlns:a16="http://schemas.microsoft.com/office/drawing/2014/main" id="{B5634D68-B764-4A8D-BAC0-31BF701B9DD2}"/>
                </a:ext>
              </a:extLst>
            </p:cNvPr>
            <p:cNvSpPr txBox="1"/>
            <p:nvPr/>
          </p:nvSpPr>
          <p:spPr>
            <a:xfrm>
              <a:off x="714495" y="885077"/>
              <a:ext cx="2449943" cy="6215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noAutofit/>
            </a:bodyPr>
            <a:lstStyle>
              <a:lvl1pPr algn="l" defTabSz="914400">
                <a:defRPr sz="23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algn="ctr"/>
              <a:r>
                <a:rPr lang="en-US" sz="1600" dirty="0"/>
                <a:t>Open addressing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0051F42-1FC7-4F07-AA6A-B545A0616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6056" y="914984"/>
              <a:ext cx="1006818" cy="561728"/>
            </a:xfrm>
            <a:prstGeom prst="line">
              <a:avLst/>
            </a:prstGeom>
            <a:noFill/>
            <a:ln w="57150" cap="flat">
              <a:solidFill>
                <a:srgbClr val="C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CE00E219-29E7-4967-8CAE-8FE9E452F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658" y="1719868"/>
            <a:ext cx="2887638" cy="1299543"/>
          </a:xfrm>
          <a:prstGeom prst="rect">
            <a:avLst/>
          </a:prstGeom>
        </p:spPr>
      </p:pic>
      <p:pic>
        <p:nvPicPr>
          <p:cNvPr id="7170" name="Picture 2" descr="Fast - Free business icons">
            <a:extLst>
              <a:ext uri="{FF2B5EF4-FFF2-40B4-BE49-F238E27FC236}">
                <a16:creationId xmlns:a16="http://schemas.microsoft.com/office/drawing/2014/main" id="{E28160AA-151C-40C9-8DDC-60E513F81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606" y="3180026"/>
            <a:ext cx="712454" cy="712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53E95E8-2F68-439C-90BB-2B92C6407428}"/>
              </a:ext>
            </a:extLst>
          </p:cNvPr>
          <p:cNvGrpSpPr/>
          <p:nvPr/>
        </p:nvGrpSpPr>
        <p:grpSpPr>
          <a:xfrm>
            <a:off x="6700229" y="4279874"/>
            <a:ext cx="2128569" cy="712454"/>
            <a:chOff x="1397297" y="7072309"/>
            <a:chExt cx="4046857" cy="1193898"/>
          </a:xfrm>
        </p:grpSpPr>
        <p:grpSp>
          <p:nvGrpSpPr>
            <p:cNvPr id="133" name="Group">
              <a:extLst>
                <a:ext uri="{FF2B5EF4-FFF2-40B4-BE49-F238E27FC236}">
                  <a16:creationId xmlns:a16="http://schemas.microsoft.com/office/drawing/2014/main" id="{F06CEE27-BCBC-4AE0-AAD2-649F58096094}"/>
                </a:ext>
              </a:extLst>
            </p:cNvPr>
            <p:cNvGrpSpPr/>
            <p:nvPr/>
          </p:nvGrpSpPr>
          <p:grpSpPr>
            <a:xfrm>
              <a:off x="4402657" y="7072309"/>
              <a:ext cx="1041497" cy="1041498"/>
              <a:chOff x="0" y="0"/>
              <a:chExt cx="1041495" cy="1041495"/>
            </a:xfrm>
          </p:grpSpPr>
          <p:pic>
            <p:nvPicPr>
              <p:cNvPr id="140" name="film.png" descr="film.png">
                <a:extLst>
                  <a:ext uri="{FF2B5EF4-FFF2-40B4-BE49-F238E27FC236}">
                    <a16:creationId xmlns:a16="http://schemas.microsoft.com/office/drawing/2014/main" id="{5834ED6F-7B66-4DC7-B0A5-F9BB8B8355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0" y="0"/>
                <a:ext cx="939644" cy="9396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1" name="film.png" descr="film.png">
                <a:extLst>
                  <a:ext uri="{FF2B5EF4-FFF2-40B4-BE49-F238E27FC236}">
                    <a16:creationId xmlns:a16="http://schemas.microsoft.com/office/drawing/2014/main" id="{8E694221-05FD-4E3D-AF1C-169BB5878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50925" y="50925"/>
                <a:ext cx="939645" cy="93964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42" name="film.png" descr="film.png">
                <a:extLst>
                  <a:ext uri="{FF2B5EF4-FFF2-40B4-BE49-F238E27FC236}">
                    <a16:creationId xmlns:a16="http://schemas.microsoft.com/office/drawing/2014/main" id="{145CA069-33BC-4427-94DB-B25483D03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/>
              <a:stretch>
                <a:fillRect/>
              </a:stretch>
            </p:blipFill>
            <p:spPr>
              <a:xfrm>
                <a:off x="101851" y="101850"/>
                <a:ext cx="939644" cy="93964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134" name="Image" descr="Image">
              <a:extLst>
                <a:ext uri="{FF2B5EF4-FFF2-40B4-BE49-F238E27FC236}">
                  <a16:creationId xmlns:a16="http://schemas.microsoft.com/office/drawing/2014/main" id="{C8996AD2-D5A6-4B94-9A55-61F617C86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1397297" y="7274629"/>
              <a:ext cx="916237" cy="9162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5" name="Arrow">
              <a:extLst>
                <a:ext uri="{FF2B5EF4-FFF2-40B4-BE49-F238E27FC236}">
                  <a16:creationId xmlns:a16="http://schemas.microsoft.com/office/drawing/2014/main" id="{C6BDEFC4-0299-4BC0-815A-B50CEBAE0CED}"/>
                </a:ext>
              </a:extLst>
            </p:cNvPr>
            <p:cNvSpPr/>
            <p:nvPr/>
          </p:nvSpPr>
          <p:spPr>
            <a:xfrm>
              <a:off x="2328067" y="72131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36" name="Arrow">
              <a:extLst>
                <a:ext uri="{FF2B5EF4-FFF2-40B4-BE49-F238E27FC236}">
                  <a16:creationId xmlns:a16="http://schemas.microsoft.com/office/drawing/2014/main" id="{9C54F819-3B58-4D57-AD72-48FC8EE7F7F3}"/>
                </a:ext>
              </a:extLst>
            </p:cNvPr>
            <p:cNvSpPr/>
            <p:nvPr/>
          </p:nvSpPr>
          <p:spPr>
            <a:xfrm>
              <a:off x="2480467" y="73655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37" name="Arrow">
              <a:extLst>
                <a:ext uri="{FF2B5EF4-FFF2-40B4-BE49-F238E27FC236}">
                  <a16:creationId xmlns:a16="http://schemas.microsoft.com/office/drawing/2014/main" id="{CD33BB2E-D89B-402A-A605-33FE219C5A26}"/>
                </a:ext>
              </a:extLst>
            </p:cNvPr>
            <p:cNvSpPr/>
            <p:nvPr/>
          </p:nvSpPr>
          <p:spPr>
            <a:xfrm>
              <a:off x="2632867" y="75179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38" name="Arrow">
              <a:extLst>
                <a:ext uri="{FF2B5EF4-FFF2-40B4-BE49-F238E27FC236}">
                  <a16:creationId xmlns:a16="http://schemas.microsoft.com/office/drawing/2014/main" id="{9F4F88C2-B069-4EAA-B89A-23ECB9E9348C}"/>
                </a:ext>
              </a:extLst>
            </p:cNvPr>
            <p:cNvSpPr/>
            <p:nvPr/>
          </p:nvSpPr>
          <p:spPr>
            <a:xfrm>
              <a:off x="2785267" y="76703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39" name="Arrow">
              <a:extLst>
                <a:ext uri="{FF2B5EF4-FFF2-40B4-BE49-F238E27FC236}">
                  <a16:creationId xmlns:a16="http://schemas.microsoft.com/office/drawing/2014/main" id="{0C33E367-EFDB-4B34-96E3-81A6B1692052}"/>
                </a:ext>
              </a:extLst>
            </p:cNvPr>
            <p:cNvSpPr/>
            <p:nvPr/>
          </p:nvSpPr>
          <p:spPr>
            <a:xfrm>
              <a:off x="2937667" y="7822713"/>
              <a:ext cx="1629023" cy="443494"/>
            </a:xfrm>
            <a:prstGeom prst="rightArrow">
              <a:avLst>
                <a:gd name="adj1" fmla="val 31148"/>
                <a:gd name="adj2" fmla="val 101917"/>
              </a:avLst>
            </a:prstGeom>
            <a:solidFill>
              <a:schemeClr val="accent5">
                <a:lumOff val="1205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pic>
        <p:nvPicPr>
          <p:cNvPr id="27" name="Picture 8" descr="Resize - Free art and design icons">
            <a:extLst>
              <a:ext uri="{FF2B5EF4-FFF2-40B4-BE49-F238E27FC236}">
                <a16:creationId xmlns:a16="http://schemas.microsoft.com/office/drawing/2014/main" id="{6D55A5A2-554B-4DE6-8081-BDE42CE4C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600" y="3274806"/>
            <a:ext cx="576064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8899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erformance"/>
          <p:cNvSpPr txBox="1">
            <a:spLocks noGrp="1"/>
          </p:cNvSpPr>
          <p:nvPr>
            <p:ph type="title"/>
          </p:nvPr>
        </p:nvSpPr>
        <p:spPr>
          <a:xfrm>
            <a:off x="12170" y="184651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Hash Joins</a:t>
            </a:r>
            <a:endParaRPr dirty="0"/>
          </a:p>
        </p:txBody>
      </p:sp>
      <p:sp>
        <p:nvSpPr>
          <p:cNvPr id="2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92188" y="6542352"/>
            <a:ext cx="263982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sp>
        <p:nvSpPr>
          <p:cNvPr id="38" name="@ 5% write ratio">
            <a:extLst>
              <a:ext uri="{FF2B5EF4-FFF2-40B4-BE49-F238E27FC236}">
                <a16:creationId xmlns:a16="http://schemas.microsoft.com/office/drawing/2014/main" id="{EF45FC90-0D04-B949-928F-20FFED7B2AF9}"/>
              </a:ext>
            </a:extLst>
          </p:cNvPr>
          <p:cNvSpPr txBox="1"/>
          <p:nvPr/>
        </p:nvSpPr>
        <p:spPr>
          <a:xfrm rot="16200000">
            <a:off x="-833613" y="3195817"/>
            <a:ext cx="2597561" cy="337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1300"/>
            </a:lvl1pPr>
          </a:lstStyle>
          <a:p>
            <a:pPr algn="ctr"/>
            <a:r>
              <a:rPr lang="en-GB" sz="2000" dirty="0"/>
              <a:t>Million requests / sec</a:t>
            </a:r>
            <a:endParaRPr sz="2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656503-7161-E644-B7FD-F663BBA1EC07}"/>
              </a:ext>
            </a:extLst>
          </p:cNvPr>
          <p:cNvSpPr txBox="1"/>
          <p:nvPr/>
        </p:nvSpPr>
        <p:spPr>
          <a:xfrm>
            <a:off x="5797835" y="5756120"/>
            <a:ext cx="2381419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See paper for more results!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chart (3).svg" descr="chart (3).svg">
            <a:extLst>
              <a:ext uri="{FF2B5EF4-FFF2-40B4-BE49-F238E27FC236}">
                <a16:creationId xmlns:a16="http://schemas.microsoft.com/office/drawing/2014/main" id="{AEAD0A29-443C-453A-A011-F1E438B95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rcRect l="5028" t="4184" r="1828" b="10354"/>
          <a:stretch>
            <a:fillRect/>
          </a:stretch>
        </p:blipFill>
        <p:spPr>
          <a:xfrm>
            <a:off x="151879" y="1059875"/>
            <a:ext cx="8840241" cy="499139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30918103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erformance"/>
          <p:cNvSpPr txBox="1">
            <a:spLocks noGrp="1"/>
          </p:cNvSpPr>
          <p:nvPr>
            <p:ph type="title"/>
          </p:nvPr>
        </p:nvSpPr>
        <p:spPr>
          <a:xfrm>
            <a:off x="12170" y="184651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YCSB – Workload Mix</a:t>
            </a:r>
            <a:endParaRPr dirty="0"/>
          </a:p>
        </p:txBody>
      </p:sp>
      <p:sp>
        <p:nvSpPr>
          <p:cNvPr id="2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92188" y="6542352"/>
            <a:ext cx="263982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7" name="chart (5).svg" descr="chart (5).svg">
            <a:extLst>
              <a:ext uri="{FF2B5EF4-FFF2-40B4-BE49-F238E27FC236}">
                <a16:creationId xmlns:a16="http://schemas.microsoft.com/office/drawing/2014/main" id="{229B001B-0DA8-4E0E-8F31-DB2AFF16F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rcRect l="5322" t="3215" r="510" b="7521"/>
          <a:stretch>
            <a:fillRect/>
          </a:stretch>
        </p:blipFill>
        <p:spPr>
          <a:xfrm>
            <a:off x="445423" y="1397137"/>
            <a:ext cx="8253154" cy="470998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70320253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erformance"/>
          <p:cNvSpPr txBox="1">
            <a:spLocks noGrp="1"/>
          </p:cNvSpPr>
          <p:nvPr>
            <p:ph type="title"/>
          </p:nvPr>
        </p:nvSpPr>
        <p:spPr>
          <a:xfrm>
            <a:off x="12170" y="184651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Multi-key Transactions</a:t>
            </a:r>
            <a:endParaRPr dirty="0"/>
          </a:p>
        </p:txBody>
      </p:sp>
      <p:sp>
        <p:nvSpPr>
          <p:cNvPr id="2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92188" y="6542352"/>
            <a:ext cx="263982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5" name="chart (4).svg" descr="chart (4).svg">
            <a:extLst>
              <a:ext uri="{FF2B5EF4-FFF2-40B4-BE49-F238E27FC236}">
                <a16:creationId xmlns:a16="http://schemas.microsoft.com/office/drawing/2014/main" id="{D05B3376-A38F-412A-A909-80C311BD4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rcRect l="4988" t="4949" r="2011" b="10464"/>
          <a:stretch>
            <a:fillRect/>
          </a:stretch>
        </p:blipFill>
        <p:spPr>
          <a:xfrm>
            <a:off x="623694" y="1266092"/>
            <a:ext cx="7896611" cy="497813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232603115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erformance"/>
          <p:cNvSpPr txBox="1">
            <a:spLocks noGrp="1"/>
          </p:cNvSpPr>
          <p:nvPr>
            <p:ph type="title"/>
          </p:nvPr>
        </p:nvSpPr>
        <p:spPr>
          <a:xfrm>
            <a:off x="12170" y="184651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Fault-tolerant Dist. Transactions</a:t>
            </a:r>
            <a:endParaRPr dirty="0"/>
          </a:p>
        </p:txBody>
      </p:sp>
      <p:sp>
        <p:nvSpPr>
          <p:cNvPr id="2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92188" y="6542352"/>
            <a:ext cx="263982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6" name="chart (7).svg" descr="chart (7).svg">
            <a:extLst>
              <a:ext uri="{FF2B5EF4-FFF2-40B4-BE49-F238E27FC236}">
                <a16:creationId xmlns:a16="http://schemas.microsoft.com/office/drawing/2014/main" id="{DF35590A-6D1D-4127-BCD1-DF73064BA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879" t="10847" r="1816" b="6859"/>
          <a:stretch>
            <a:fillRect/>
          </a:stretch>
        </p:blipFill>
        <p:spPr>
          <a:xfrm>
            <a:off x="177129" y="1347528"/>
            <a:ext cx="8814082" cy="48092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93A126-5F0D-4EE2-9D2D-406B11168C3C}"/>
              </a:ext>
            </a:extLst>
          </p:cNvPr>
          <p:cNvSpPr/>
          <p:nvPr/>
        </p:nvSpPr>
        <p:spPr>
          <a:xfrm>
            <a:off x="2893038" y="6027012"/>
            <a:ext cx="42723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2000" i="1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(TATP, 5 servers, 3-way replication)</a:t>
            </a:r>
          </a:p>
        </p:txBody>
      </p:sp>
    </p:spTree>
    <p:extLst>
      <p:ext uri="{BB962C8B-B14F-4D97-AF65-F5344CB8AC3E}">
        <p14:creationId xmlns:p14="http://schemas.microsoft.com/office/powerpoint/2010/main" val="239085467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6D0A5286-F29D-4CC7-9F6A-C0F78EDE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02" y="86062"/>
            <a:ext cx="7744795" cy="652888"/>
          </a:xfrm>
        </p:spPr>
        <p:txBody>
          <a:bodyPr/>
          <a:lstStyle/>
          <a:p>
            <a:pPr algn="ctr"/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Lighting fast use-cases (single-node and distributed)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1A9332-B80A-4247-B122-3DDBED980B06}"/>
              </a:ext>
            </a:extLst>
          </p:cNvPr>
          <p:cNvGrpSpPr/>
          <p:nvPr/>
        </p:nvGrpSpPr>
        <p:grpSpPr>
          <a:xfrm>
            <a:off x="404639" y="707845"/>
            <a:ext cx="2598881" cy="1469542"/>
            <a:chOff x="131891" y="545311"/>
            <a:chExt cx="4877964" cy="23140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0267FF6-0BD0-42AF-ADE7-E17A810FBB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8592"/>
            <a:stretch/>
          </p:blipFill>
          <p:spPr>
            <a:xfrm>
              <a:off x="676218" y="907961"/>
              <a:ext cx="3097194" cy="195136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BC7CB1B-6065-4237-AE05-6BE31C197089}"/>
                </a:ext>
              </a:extLst>
            </p:cNvPr>
            <p:cNvSpPr txBox="1"/>
            <p:nvPr/>
          </p:nvSpPr>
          <p:spPr>
            <a:xfrm>
              <a:off x="131891" y="545311"/>
              <a:ext cx="4877964" cy="472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hangingPunct="1"/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Fast map for Single-threaded app </a:t>
              </a:r>
              <a:endParaRPr lang="en-GB" sz="1350" kern="1200" dirty="0">
                <a:solidFill>
                  <a:prstClr val="black"/>
                </a:solidFill>
                <a:latin typeface="FrutigerNext LT Medium"/>
                <a:ea typeface="华文细黑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C656E2D-3DC4-42D9-8313-2C888958E08E}"/>
              </a:ext>
            </a:extLst>
          </p:cNvPr>
          <p:cNvGrpSpPr/>
          <p:nvPr/>
        </p:nvGrpSpPr>
        <p:grpSpPr>
          <a:xfrm>
            <a:off x="6092903" y="680342"/>
            <a:ext cx="2763300" cy="1528703"/>
            <a:chOff x="8169211" y="545543"/>
            <a:chExt cx="3684400" cy="203827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34CB71A-CFC1-4437-8278-4D4189DFD5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16" b="8248"/>
            <a:stretch/>
          </p:blipFill>
          <p:spPr>
            <a:xfrm>
              <a:off x="8169211" y="903480"/>
              <a:ext cx="2794579" cy="168033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F99F26-3744-463C-BDD9-CF0DA7510B7B}"/>
                </a:ext>
              </a:extLst>
            </p:cNvPr>
            <p:cNvSpPr txBox="1"/>
            <p:nvPr/>
          </p:nvSpPr>
          <p:spPr>
            <a:xfrm>
              <a:off x="8169211" y="545543"/>
              <a:ext cx="36844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hangingPunct="1"/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Single node in-memory storage</a:t>
              </a:r>
              <a:endParaRPr lang="en-GB" sz="1350" kern="1200" dirty="0">
                <a:solidFill>
                  <a:prstClr val="black"/>
                </a:solidFill>
                <a:latin typeface="FrutigerNext LT Medium"/>
                <a:ea typeface="华文细黑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D45B10-310D-49CB-93AC-52FACB5174E6}"/>
              </a:ext>
            </a:extLst>
          </p:cNvPr>
          <p:cNvGrpSpPr/>
          <p:nvPr/>
        </p:nvGrpSpPr>
        <p:grpSpPr>
          <a:xfrm>
            <a:off x="3483884" y="2603574"/>
            <a:ext cx="3071996" cy="1551039"/>
            <a:chOff x="5028618" y="3209420"/>
            <a:chExt cx="4095995" cy="206805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F6408FF-C834-472D-92F7-E8369E54B5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7983"/>
            <a:stretch/>
          </p:blipFill>
          <p:spPr>
            <a:xfrm>
              <a:off x="5028618" y="3694414"/>
              <a:ext cx="2565768" cy="158305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25ED44-A83D-4D14-B353-18E3B385AD77}"/>
                </a:ext>
              </a:extLst>
            </p:cNvPr>
            <p:cNvSpPr txBox="1"/>
            <p:nvPr/>
          </p:nvSpPr>
          <p:spPr>
            <a:xfrm>
              <a:off x="5440213" y="3209420"/>
              <a:ext cx="36844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hangingPunct="1"/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DB Lock manager</a:t>
              </a:r>
              <a:endParaRPr lang="en-GB" sz="1350" kern="1200" dirty="0">
                <a:solidFill>
                  <a:prstClr val="black"/>
                </a:solidFill>
                <a:latin typeface="FrutigerNext LT Medium"/>
                <a:ea typeface="华文细黑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AEF4A7-95BA-478E-B1BE-01DBE485C3CF}"/>
              </a:ext>
            </a:extLst>
          </p:cNvPr>
          <p:cNvGrpSpPr/>
          <p:nvPr/>
        </p:nvGrpSpPr>
        <p:grpSpPr>
          <a:xfrm>
            <a:off x="6239700" y="2603573"/>
            <a:ext cx="2763300" cy="1633811"/>
            <a:chOff x="8926204" y="3157657"/>
            <a:chExt cx="3684400" cy="217841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87BFF9-AA60-402D-8161-43CF4F2B33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8581"/>
            <a:stretch/>
          </p:blipFill>
          <p:spPr>
            <a:xfrm>
              <a:off x="8926204" y="3618885"/>
              <a:ext cx="2565768" cy="171718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C75099-0090-4ACA-9EE1-C277D3DEA266}"/>
                </a:ext>
              </a:extLst>
            </p:cNvPr>
            <p:cNvSpPr txBox="1"/>
            <p:nvPr/>
          </p:nvSpPr>
          <p:spPr>
            <a:xfrm>
              <a:off x="8926204" y="3157657"/>
              <a:ext cx="36844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hangingPunct="1"/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Single-node OLTP Transactions</a:t>
              </a:r>
              <a:endParaRPr lang="en-GB" sz="1350" kern="1200" dirty="0">
                <a:solidFill>
                  <a:prstClr val="black"/>
                </a:solidFill>
                <a:latin typeface="FrutigerNext LT Medium"/>
                <a:ea typeface="华文细黑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F1EF3F-D25B-4558-A054-1375DD61DD02}"/>
              </a:ext>
            </a:extLst>
          </p:cNvPr>
          <p:cNvGrpSpPr/>
          <p:nvPr/>
        </p:nvGrpSpPr>
        <p:grpSpPr>
          <a:xfrm>
            <a:off x="3124151" y="643596"/>
            <a:ext cx="2691261" cy="1671893"/>
            <a:chOff x="3844019" y="663797"/>
            <a:chExt cx="2844759" cy="190977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ABE2D6-02E6-4F57-A0B8-1A7F73C00EC0}"/>
                </a:ext>
              </a:extLst>
            </p:cNvPr>
            <p:cNvSpPr txBox="1"/>
            <p:nvPr/>
          </p:nvSpPr>
          <p:spPr>
            <a:xfrm>
              <a:off x="4488614" y="663797"/>
              <a:ext cx="2200164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hangingPunct="1"/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In-memory caching</a:t>
              </a:r>
              <a:endParaRPr lang="en-GB" sz="1350" kern="1200" dirty="0">
                <a:solidFill>
                  <a:prstClr val="black"/>
                </a:solidFill>
                <a:latin typeface="FrutigerNext LT Medium"/>
                <a:ea typeface="华文细黑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B48EBDC-213D-4414-9943-8BDE0BB4A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44019" y="916437"/>
              <a:ext cx="2794579" cy="165713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1CA66A-4276-48DC-A54F-FE7AC2FDBCCA}"/>
              </a:ext>
            </a:extLst>
          </p:cNvPr>
          <p:cNvGrpSpPr/>
          <p:nvPr/>
        </p:nvGrpSpPr>
        <p:grpSpPr>
          <a:xfrm>
            <a:off x="183605" y="2606785"/>
            <a:ext cx="3141437" cy="1319971"/>
            <a:chOff x="161288" y="3349974"/>
            <a:chExt cx="4702682" cy="23215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8F25402-F496-40CA-83F7-5818B7DCB151}"/>
                </a:ext>
              </a:extLst>
            </p:cNvPr>
            <p:cNvGrpSpPr/>
            <p:nvPr/>
          </p:nvGrpSpPr>
          <p:grpSpPr>
            <a:xfrm>
              <a:off x="161288" y="3349974"/>
              <a:ext cx="4702659" cy="2321580"/>
              <a:chOff x="161288" y="3349974"/>
              <a:chExt cx="4702659" cy="232158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BA6F57F8-0CFA-4270-A799-1FC06C528E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1288" y="3803872"/>
                <a:ext cx="2490472" cy="1867682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8C0D71-4243-4BF9-8A2B-499BEB10A86C}"/>
                  </a:ext>
                </a:extLst>
              </p:cNvPr>
              <p:cNvSpPr txBox="1"/>
              <p:nvPr/>
            </p:nvSpPr>
            <p:spPr>
              <a:xfrm>
                <a:off x="1179547" y="3349974"/>
                <a:ext cx="3684400" cy="527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hangingPunct="1"/>
                <a:r>
                  <a:rPr lang="en-US" sz="1350" b="1" kern="12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OLAP (Joins</a:t>
                </a:r>
                <a:r>
                  <a:rPr lang="en-US" sz="1350" kern="12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, </a:t>
                </a:r>
                <a:r>
                  <a:rPr lang="en-US" sz="1350" b="1" kern="12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Aggregation</a:t>
                </a:r>
                <a:r>
                  <a:rPr lang="en-US" sz="1350" kern="12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, etc</a:t>
                </a:r>
                <a:r>
                  <a:rPr lang="en-US" sz="1350" b="1" kern="1200" dirty="0">
                    <a:solidFill>
                      <a:prstClr val="black"/>
                    </a:solidFill>
                    <a:latin typeface="FrutigerNext LT Medium"/>
                    <a:ea typeface="华文细黑"/>
                  </a:rPr>
                  <a:t>.)</a:t>
                </a:r>
                <a:endParaRPr lang="en-GB" sz="1350" kern="1200" dirty="0">
                  <a:solidFill>
                    <a:prstClr val="black"/>
                  </a:solidFill>
                  <a:latin typeface="FrutigerNext LT Medium"/>
                  <a:ea typeface="华文细黑"/>
                </a:endParaRPr>
              </a:p>
            </p:txBody>
          </p:sp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D06420-5AC6-40F2-BFA9-3FA98FAD4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37502" y="4086948"/>
              <a:ext cx="2226468" cy="1205513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33126C8-E60F-465A-B15D-C4C64252F758}"/>
              </a:ext>
            </a:extLst>
          </p:cNvPr>
          <p:cNvGrpSpPr/>
          <p:nvPr/>
        </p:nvGrpSpPr>
        <p:grpSpPr>
          <a:xfrm>
            <a:off x="404639" y="4478198"/>
            <a:ext cx="3844877" cy="1474529"/>
            <a:chOff x="1602920" y="3180267"/>
            <a:chExt cx="5126502" cy="196603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FF7A083-35C6-4C68-989A-550DBDD21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02920" y="3676310"/>
              <a:ext cx="2496382" cy="146999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594388-D8FF-4E93-BBB0-84EDAD87DA78}"/>
                </a:ext>
              </a:extLst>
            </p:cNvPr>
            <p:cNvSpPr txBox="1"/>
            <p:nvPr/>
          </p:nvSpPr>
          <p:spPr>
            <a:xfrm>
              <a:off x="1772115" y="3180267"/>
              <a:ext cx="495730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hangingPunct="1"/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Large slower memory:</a:t>
              </a:r>
              <a:b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</a:br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 CXL</a:t>
              </a:r>
              <a:r>
                <a:rPr lang="en-US" sz="1350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/NVM/Far memory</a:t>
              </a:r>
              <a:endParaRPr lang="en-GB" sz="1350" kern="1200" dirty="0">
                <a:solidFill>
                  <a:prstClr val="black"/>
                </a:solidFill>
                <a:latin typeface="FrutigerNext LT Medium"/>
                <a:ea typeface="华文细黑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B748BA-48D3-45CC-82DB-ADA56E3D3E2F}"/>
              </a:ext>
            </a:extLst>
          </p:cNvPr>
          <p:cNvGrpSpPr/>
          <p:nvPr/>
        </p:nvGrpSpPr>
        <p:grpSpPr>
          <a:xfrm>
            <a:off x="2579198" y="4530431"/>
            <a:ext cx="1647070" cy="1400502"/>
            <a:chOff x="7480700" y="798590"/>
            <a:chExt cx="2196093" cy="1867336"/>
          </a:xfrm>
        </p:grpSpPr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3E9BC44F-A3F6-4750-8F82-67FF7B1EEB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0700" y="1024272"/>
              <a:ext cx="2196093" cy="1641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C771286-5CE6-4141-BBAB-A310C0D8F23B}"/>
                </a:ext>
              </a:extLst>
            </p:cNvPr>
            <p:cNvSpPr txBox="1"/>
            <p:nvPr/>
          </p:nvSpPr>
          <p:spPr>
            <a:xfrm>
              <a:off x="8014751" y="798590"/>
              <a:ext cx="146784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hangingPunct="1"/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Remote KVS</a:t>
              </a:r>
              <a:endParaRPr lang="en-GB" sz="1350" kern="1200" dirty="0">
                <a:solidFill>
                  <a:prstClr val="black"/>
                </a:solidFill>
                <a:latin typeface="FrutigerNext LT Medium"/>
                <a:ea typeface="华文细黑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CF2645-2C2A-47CC-8050-43941EABCCE4}"/>
              </a:ext>
            </a:extLst>
          </p:cNvPr>
          <p:cNvGrpSpPr/>
          <p:nvPr/>
        </p:nvGrpSpPr>
        <p:grpSpPr>
          <a:xfrm>
            <a:off x="6705905" y="4560236"/>
            <a:ext cx="2664597" cy="1348969"/>
            <a:chOff x="8129892" y="3074852"/>
            <a:chExt cx="3552796" cy="179862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E8E96E4-3D58-4325-8F2D-34A7FFE57DEC}"/>
                </a:ext>
              </a:extLst>
            </p:cNvPr>
            <p:cNvSpPr txBox="1"/>
            <p:nvPr/>
          </p:nvSpPr>
          <p:spPr>
            <a:xfrm>
              <a:off x="8129892" y="3074852"/>
              <a:ext cx="355279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hangingPunct="1"/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Distributed reliable Transactions</a:t>
              </a:r>
              <a:endParaRPr lang="en-GB" sz="1350" kern="1200" dirty="0">
                <a:solidFill>
                  <a:prstClr val="black"/>
                </a:solidFill>
                <a:latin typeface="FrutigerNext LT Medium"/>
                <a:ea typeface="华文细黑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A519499-AE63-4061-8189-BE2F636AA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666579" y="3432781"/>
              <a:ext cx="1885253" cy="144069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B12B641-C9D4-411C-A270-C94913A3FFB4}"/>
              </a:ext>
            </a:extLst>
          </p:cNvPr>
          <p:cNvGrpSpPr/>
          <p:nvPr/>
        </p:nvGrpSpPr>
        <p:grpSpPr>
          <a:xfrm>
            <a:off x="4394102" y="4559298"/>
            <a:ext cx="2392591" cy="1290861"/>
            <a:chOff x="5813054" y="4409461"/>
            <a:chExt cx="3190121" cy="172114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C5AFC08-C29B-4C8A-B99A-5E571173F66B}"/>
                </a:ext>
              </a:extLst>
            </p:cNvPr>
            <p:cNvSpPr txBox="1"/>
            <p:nvPr/>
          </p:nvSpPr>
          <p:spPr>
            <a:xfrm>
              <a:off x="5813054" y="4409461"/>
              <a:ext cx="3190121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 hangingPunct="1"/>
              <a:r>
                <a:rPr lang="en-US" sz="1350" b="1" kern="1200" dirty="0">
                  <a:solidFill>
                    <a:prstClr val="black"/>
                  </a:solidFill>
                  <a:latin typeface="FrutigerNext LT Medium"/>
                  <a:ea typeface="华文细黑"/>
                </a:rPr>
                <a:t>Replicated in-memory storage</a:t>
              </a:r>
              <a:endParaRPr lang="en-GB" sz="1350" kern="1200" dirty="0">
                <a:solidFill>
                  <a:prstClr val="black"/>
                </a:solidFill>
                <a:latin typeface="FrutigerNext LT Medium"/>
                <a:ea typeface="华文细黑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3BD1350-B910-4831-AB1D-9F76E3CD3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119344" y="4770803"/>
              <a:ext cx="2358239" cy="13598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316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Performance"/>
          <p:cNvSpPr txBox="1">
            <a:spLocks noGrp="1"/>
          </p:cNvSpPr>
          <p:nvPr>
            <p:ph type="title"/>
          </p:nvPr>
        </p:nvSpPr>
        <p:spPr>
          <a:xfrm>
            <a:off x="12170" y="184651"/>
            <a:ext cx="9144000" cy="777254"/>
          </a:xfrm>
          <a:prstGeom prst="rect">
            <a:avLst/>
          </a:prstGeom>
        </p:spPr>
        <p:txBody>
          <a:bodyPr/>
          <a:lstStyle/>
          <a:p>
            <a:r>
              <a:rPr dirty="0"/>
              <a:t>Performance</a:t>
            </a:r>
          </a:p>
        </p:txBody>
      </p:sp>
      <p:sp>
        <p:nvSpPr>
          <p:cNvPr id="22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92188" y="6542352"/>
            <a:ext cx="263982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  <p:sp>
        <p:nvSpPr>
          <p:cNvPr id="38" name="@ 5% write ratio">
            <a:extLst>
              <a:ext uri="{FF2B5EF4-FFF2-40B4-BE49-F238E27FC236}">
                <a16:creationId xmlns:a16="http://schemas.microsoft.com/office/drawing/2014/main" id="{EF45FC90-0D04-B949-928F-20FFED7B2AF9}"/>
              </a:ext>
            </a:extLst>
          </p:cNvPr>
          <p:cNvSpPr txBox="1"/>
          <p:nvPr/>
        </p:nvSpPr>
        <p:spPr>
          <a:xfrm rot="16200000">
            <a:off x="-833613" y="3195817"/>
            <a:ext cx="2597561" cy="337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1300"/>
            </a:lvl1pPr>
          </a:lstStyle>
          <a:p>
            <a:pPr algn="ctr"/>
            <a:r>
              <a:rPr lang="en-GB" sz="2000" dirty="0"/>
              <a:t>Million requests / sec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2ADA62-9D85-AA4E-9F8D-0CF9564B69F1}"/>
              </a:ext>
            </a:extLst>
          </p:cNvPr>
          <p:cNvSpPr txBox="1"/>
          <p:nvPr/>
        </p:nvSpPr>
        <p:spPr>
          <a:xfrm>
            <a:off x="607814" y="5747169"/>
            <a:ext cx="4563920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kumimoji="0" lang="en-US" sz="16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Takeaway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: </a:t>
            </a:r>
            <a:r>
              <a:rPr lang="en-US" sz="1600" dirty="0">
                <a:sym typeface="Wingdings" pitchFamily="2" charset="2"/>
              </a:rPr>
              <a:t>w</a:t>
            </a:r>
            <a:r>
              <a:rPr lang="en-US" sz="1600" dirty="0"/>
              <a:t>rites can block reads </a:t>
            </a:r>
            <a:r>
              <a:rPr lang="en-US" sz="1600" dirty="0">
                <a:sym typeface="Wingdings" pitchFamily="2" charset="2"/>
              </a:rPr>
              <a:t> good write performance of is crucial</a:t>
            </a:r>
            <a:r>
              <a:rPr lang="en-US" sz="1600" dirty="0"/>
              <a:t> </a:t>
            </a:r>
            <a:r>
              <a:rPr lang="en-US" sz="1600" dirty="0">
                <a:sym typeface="Wingdings" pitchFamily="2" charset="2"/>
              </a:rPr>
              <a:t>even at low-write ratio !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656503-7161-E644-B7FD-F663BBA1EC07}"/>
              </a:ext>
            </a:extLst>
          </p:cNvPr>
          <p:cNvSpPr txBox="1"/>
          <p:nvPr/>
        </p:nvSpPr>
        <p:spPr>
          <a:xfrm>
            <a:off x="5797835" y="5756120"/>
            <a:ext cx="2381419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/>
              <a:t>See paper for more results!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1" name="Group" descr="Group">
            <a:extLst>
              <a:ext uri="{FF2B5EF4-FFF2-40B4-BE49-F238E27FC236}">
                <a16:creationId xmlns:a16="http://schemas.microsoft.com/office/drawing/2014/main" id="{0FD3BE9B-5CC8-4375-91AC-9A7D18D29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rcRect l="5518" r="4156" b="7749"/>
          <a:stretch>
            <a:fillRect/>
          </a:stretch>
        </p:blipFill>
        <p:spPr>
          <a:xfrm>
            <a:off x="349402" y="961905"/>
            <a:ext cx="8445195" cy="5351959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32395133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8" grpId="0"/>
    </p:bld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FrutigerNext LT Medium"/>
        <a:ea typeface="华文细黑"/>
        <a:cs typeface="SimSun"/>
      </a:majorFont>
      <a:minorFont>
        <a:latin typeface="FrutigerNext LT Medium"/>
        <a:ea typeface="华文细黑"/>
        <a:cs typeface="SimS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SimSun" pitchFamily="2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15383</TotalTime>
  <Words>2738</Words>
  <Application>Microsoft Office PowerPoint</Application>
  <PresentationFormat>On-screen Show (4:3)</PresentationFormat>
  <Paragraphs>422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5" baseType="lpstr">
      <vt:lpstr>FrutigerNext LT Bold</vt:lpstr>
      <vt:lpstr>FrutigerNext LT Medium</vt:lpstr>
      <vt:lpstr>FrutigerNext LT Regular</vt:lpstr>
      <vt:lpstr>Helvetica Light</vt:lpstr>
      <vt:lpstr>Microsoft YaHei</vt:lpstr>
      <vt:lpstr>Microsoft YaHei</vt:lpstr>
      <vt:lpstr>ＭＳ Ｐゴシック</vt:lpstr>
      <vt:lpstr>ＭＳ Ｐゴシック</vt:lpstr>
      <vt:lpstr>宋体</vt:lpstr>
      <vt:lpstr>宋体</vt:lpstr>
      <vt:lpstr>华文细黑</vt:lpstr>
      <vt:lpstr>Arial</vt:lpstr>
      <vt:lpstr>Calibri</vt:lpstr>
      <vt:lpstr>Courier New</vt:lpstr>
      <vt:lpstr>Helvetica</vt:lpstr>
      <vt:lpstr>Wingdings</vt:lpstr>
      <vt:lpstr>1_Office Theme</vt:lpstr>
      <vt:lpstr>default</vt:lpstr>
      <vt:lpstr>Dandelion Hashtable  A non-blocking resizable hashtable with fast deletes &amp; memory-awareness</vt:lpstr>
      <vt:lpstr>Concurrent growing hashtables </vt:lpstr>
      <vt:lpstr>Modern hashtables </vt:lpstr>
      <vt:lpstr>State-of-the-art performance</vt:lpstr>
      <vt:lpstr> Deficiencies of state-of-the-art</vt:lpstr>
      <vt:lpstr>Closer look on state-of-the-art designs</vt:lpstr>
      <vt:lpstr>Issue: CPU stalls on each request</vt:lpstr>
      <vt:lpstr>Another issue: resize is also blocking</vt:lpstr>
      <vt:lpstr>Fastest concurrent in-memory hashtables</vt:lpstr>
      <vt:lpstr>Dandelion Hashtable (DLHT)</vt:lpstr>
      <vt:lpstr>DLHT’s bounded cacheline chaining</vt:lpstr>
      <vt:lpstr>Compact bin header</vt:lpstr>
      <vt:lpstr>Practically non-blocking resize</vt:lpstr>
      <vt:lpstr>Overlapping memory accesses</vt:lpstr>
      <vt:lpstr>Performance across the board</vt:lpstr>
      <vt:lpstr>To conclude</vt:lpstr>
      <vt:lpstr>Backup Slides</vt:lpstr>
      <vt:lpstr>Get performance</vt:lpstr>
      <vt:lpstr>Insert-delete performance</vt:lpstr>
      <vt:lpstr>Inserting 800M keys (growing index)</vt:lpstr>
      <vt:lpstr>DLHT recap</vt:lpstr>
      <vt:lpstr>Hash Joins</vt:lpstr>
      <vt:lpstr>YCSB – Workload Mix</vt:lpstr>
      <vt:lpstr>Multi-key Transactions</vt:lpstr>
      <vt:lpstr>Fault-tolerant Dist. Transactions</vt:lpstr>
      <vt:lpstr>Lighting fast use-cases (single-node and distributed)</vt:lpstr>
      <vt:lpstr>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 Fast, Fault-tolerant and Linearizable Replication Protocol</dc:title>
  <cp:lastModifiedBy>Antonis Katsarakis (A)</cp:lastModifiedBy>
  <cp:revision>371</cp:revision>
  <cp:lastPrinted>2020-03-07T13:36:23Z</cp:lastPrinted>
  <dcterms:modified xsi:type="dcterms:W3CDTF">2024-06-17T09:05:50Z</dcterms:modified>
</cp:coreProperties>
</file>